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Introduction deck. If someone sits through no other presentation, this one should give them a full picture. The individual bill decks go deeper on each bill's Findings and operative provisions.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program's starting point: the binary of private ownership versus state control has failed. The commons is a third option, not a compromise between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argument. The program is not left or right. It names a third institutional form that addresses the failure modes of both dominant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that makes the program legible across the political spectrum. Governance as systems engineering is the claim that interests conservatives, libertarians, engineers, and military logistics thinkers just as much as progressives and commoners.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II introduces Ostrom. The program encodes her eight design principles in federal law as operative legal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Ostrom is the intellectual foundation of the entire program. The eight design principles are not a philosophy. They are a specification derived from empirical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eight Standards in plain language. Standard 2 Local Congruence is the most important for a skeptical audience: the program does not impose a single model. It sets design criteria and lets communities build institutions that fit their specific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bills are not designed to be introduced simultaneously. Each creates the legal, material, and political infrastructure the next depends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dependency map in plain language. The most important sentence: all four bills are drafted and ready now. Someone can introduce Vol. I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IV gives a plain-language two-slide summary of each bill. The individual bill decks cover each Findings section and operative provision in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bill builds the constituency for the next. The program is designed to be self-reinforcing once it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answer to 'how do you actually pass this?' You do not pass all four at once. You build the constituency one Act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institution this program proposes to scale already exists and already functions. The program builds roads between cities that already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persuasive slide in the deck for a skeptical audience. The answer to 'has this been tried?' is empirical: yes, at scale, for decades, in multiple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bill's Findings section states its constitutional anchors explicitly, doing the evidentiary work that a Committee Report would ordinarily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Multi-perspectival constitutional grounding by design. The same provisions that appeal to an originalist audience (limited times for copyright, Tenth Amendment subsidiarity) appeal to a progressive audience (Eighth Amendment human dignity, Fourteenth Amendment equal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'but what about bad local actors?' objection directly. The peer audit immune system, resource portability, and the evolutionary advantage of inclusive communities together make rights violations structurally self-defeating without requiring a federal enforcement bureaucracy. Place this after the constitutional architecture slide and before the CC0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CC0 means in practice. This is the most important single slide for anyone wondering what they are allowed to do with this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CC0 is the operative expression of the program's philosophy. The most powerful thing a citizen legislative drafter can do is give the work away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The GitHub URL is the call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organizations directly named in this Act or primary institutional homes for the program's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Further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57200" y="502920"/>
            <a:ext cx="8229600" cy="411480"/>
          </a:xfrm>
          <a:prstGeom prst="rect">
            <a:avLst/>
          </a:prstGeom>
          <a:noFill/>
          <a:ln/>
        </p:spPr>
        <p:txBody>
          <a:bodyPr wrap="square" rtlCol="0" anchor="ctr"/>
          <a:lstStyle/>
          <a:p>
            <a:pPr algn="ctr" indent="0" marL="0">
              <a:buNone/>
            </a:pPr>
            <a:r>
              <a:rPr lang="en-US" sz="1400" b="1" spc="500" kern="0" dirty="0">
                <a:solidFill>
                  <a:srgbClr val="97BC62"/>
                </a:solidFill>
                <a:latin typeface="Calibri" pitchFamily="34" charset="0"/>
                <a:ea typeface="Calibri" pitchFamily="34" charset="-122"/>
                <a:cs typeface="Calibri" pitchFamily="34" charset="-120"/>
              </a:rPr>
              <a:t>Introduction to the Program</a:t>
            </a:r>
            <a:endParaRPr lang="en-US" sz="1400" dirty="0"/>
          </a:p>
        </p:txBody>
      </p:sp>
      <p:sp>
        <p:nvSpPr>
          <p:cNvPr id="8" name="Text 6"/>
          <p:cNvSpPr/>
          <p:nvPr/>
        </p:nvSpPr>
        <p:spPr>
          <a:xfrm>
            <a:off x="457200" y="1005840"/>
            <a:ext cx="8229600" cy="1463040"/>
          </a:xfrm>
          <a:prstGeom prst="rect">
            <a:avLst/>
          </a:prstGeom>
          <a:noFill/>
          <a:ln/>
        </p:spPr>
        <p:txBody>
          <a:bodyPr wrap="square"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A Commons Legislative Program</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for the United States</a:t>
            </a:r>
            <a:endParaRPr lang="en-US" sz="3800" dirty="0"/>
          </a:p>
        </p:txBody>
      </p:sp>
      <p:sp>
        <p:nvSpPr>
          <p:cNvPr id="9" name="Shape 7"/>
          <p:cNvSpPr/>
          <p:nvPr/>
        </p:nvSpPr>
        <p:spPr>
          <a:xfrm>
            <a:off x="2286000" y="2606040"/>
            <a:ext cx="4572000" cy="0"/>
          </a:xfrm>
          <a:prstGeom prst="line">
            <a:avLst/>
          </a:prstGeom>
          <a:noFill/>
          <a:ln w="25400">
            <a:solidFill>
              <a:srgbClr val="97BC62"/>
            </a:solidFill>
            <a:prstDash val="solid"/>
          </a:ln>
        </p:spPr>
      </p:sp>
      <p:sp>
        <p:nvSpPr>
          <p:cNvPr id="10" name="Text 8"/>
          <p:cNvSpPr/>
          <p:nvPr/>
        </p:nvSpPr>
        <p:spPr>
          <a:xfrm>
            <a:off x="457200" y="2788920"/>
            <a:ext cx="8229600" cy="411480"/>
          </a:xfrm>
          <a:prstGeom prst="rect">
            <a:avLst/>
          </a:prstGeom>
          <a:noFill/>
          <a:ln/>
        </p:spPr>
        <p:txBody>
          <a:bodyPr wrap="square" rtlCol="0" anchor="ctr"/>
          <a:lstStyle/>
          <a:p>
            <a:pPr algn="ctr" indent="0" marL="0">
              <a:buNone/>
            </a:pPr>
            <a:r>
              <a:rPr lang="en-US" sz="1600" i="1" dirty="0">
                <a:solidFill>
                  <a:srgbClr val="97BC62"/>
                </a:solidFill>
                <a:latin typeface="Calibri" pitchFamily="34" charset="0"/>
                <a:ea typeface="Calibri" pitchFamily="34" charset="-122"/>
                <a:cs typeface="Calibri" pitchFamily="34" charset="-120"/>
              </a:rPr>
              <a:t>A Polycentric Commons Legislative Program</a:t>
            </a:r>
            <a:endParaRPr lang="en-US" sz="1600" dirty="0"/>
          </a:p>
        </p:txBody>
      </p:sp>
      <p:sp>
        <p:nvSpPr>
          <p:cNvPr id="11" name="Text 9"/>
          <p:cNvSpPr/>
          <p:nvPr/>
        </p:nvSpPr>
        <p:spPr>
          <a:xfrm>
            <a:off x="914400" y="3291840"/>
            <a:ext cx="7315200" cy="365760"/>
          </a:xfrm>
          <a:prstGeom prst="rect">
            <a:avLst/>
          </a:prstGeom>
          <a:noFill/>
          <a:ln/>
        </p:spPr>
        <p:txBody>
          <a:bodyPr wrap="square" rtlCol="0" anchor="ctr"/>
          <a:lstStyle/>
          <a:p>
            <a:pPr algn="ctr" indent="0" marL="0">
              <a:buNone/>
            </a:pPr>
            <a:r>
              <a:rPr lang="en-US" sz="1300" dirty="0">
                <a:solidFill>
                  <a:srgbClr val="F8F6F0"/>
                </a:solidFill>
                <a:latin typeface="Calibri" pitchFamily="34" charset="0"/>
                <a:ea typeface="Calibri" pitchFamily="34" charset="-122"/>
                <a:cs typeface="Calibri" pitchFamily="34" charset="-120"/>
              </a:rPr>
              <a:t>Four-Bill Series | Citizen-Drafted Federal Legislation</a:t>
            </a:r>
            <a:endParaRPr lang="en-US" sz="1300" dirty="0"/>
          </a:p>
        </p:txBody>
      </p:sp>
      <p:sp>
        <p:nvSpPr>
          <p:cNvPr id="12" name="Text 10"/>
          <p:cNvSpPr/>
          <p:nvPr/>
        </p:nvSpPr>
        <p:spPr>
          <a:xfrm>
            <a:off x="914400" y="3749040"/>
            <a:ext cx="7315200" cy="594360"/>
          </a:xfrm>
          <a:prstGeom prst="rect">
            <a:avLst/>
          </a:prstGeom>
          <a:noFill/>
          <a:ln/>
        </p:spPr>
        <p:txBody>
          <a:bodyPr wrap="square" rtlCol="0" anchor="ctr"/>
          <a:lstStyle/>
          <a:p>
            <a:pPr algn="ctr" indent="0" marL="0">
              <a:buNone/>
            </a:pPr>
            <a:r>
              <a:rPr lang="en-US" sz="1200" dirty="0">
                <a:solidFill>
                  <a:srgbClr val="BBBBBB"/>
                </a:solidFill>
                <a:latin typeface="Calibri" pitchFamily="34" charset="0"/>
                <a:ea typeface="Calibri" pitchFamily="34" charset="-122"/>
                <a:cs typeface="Calibri" pitchFamily="34" charset="-120"/>
              </a:rPr>
              <a:t>Built on the Governance Design Principles of Elinor Ostrom</a:t>
            </a:r>
            <a:endParaRPr lang="en-US" sz="1200" dirty="0"/>
          </a:p>
          <a:p>
            <a:pPr algn="ctr" indent="0" marL="0">
              <a:buNone/>
            </a:pPr>
            <a:r>
              <a:rPr lang="en-US" sz="1200" dirty="0">
                <a:solidFill>
                  <a:srgbClr val="BBBBBB"/>
                </a:solidFill>
                <a:latin typeface="Calibri" pitchFamily="34" charset="0"/>
                <a:ea typeface="Calibri" pitchFamily="34" charset="-122"/>
                <a:cs typeface="Calibri" pitchFamily="34" charset="-120"/>
              </a:rPr>
              <a:t>Nobel Laureate in Economics, 2009</a:t>
            </a:r>
            <a:endParaRPr lang="en-US" sz="1200" dirty="0"/>
          </a:p>
        </p:txBody>
      </p:sp>
      <p:sp>
        <p:nvSpPr>
          <p:cNvPr id="13" name="Text 11"/>
          <p:cNvSpPr/>
          <p:nvPr/>
        </p:nvSpPr>
        <p:spPr>
          <a:xfrm>
            <a:off x="457200" y="4663440"/>
            <a:ext cx="8229600" cy="320040"/>
          </a:xfrm>
          <a:prstGeom prst="rect">
            <a:avLst/>
          </a:prstGeom>
          <a:noFill/>
          <a:ln/>
        </p:spPr>
        <p:txBody>
          <a:bodyPr wrap="square" rtlCol="0" anchor="ctr"/>
          <a:lstStyle/>
          <a:p>
            <a:pPr algn="ctr" indent="0" marL="0">
              <a:buNone/>
            </a:pPr>
            <a:r>
              <a:rPr lang="en-US" sz="1100" dirty="0">
                <a:solidFill>
                  <a:srgbClr val="555047"/>
                </a:solidFill>
                <a:latin typeface="Courier New" pitchFamily="34" charset="0"/>
                <a:ea typeface="Courier New" pitchFamily="34" charset="-122"/>
                <a:cs typeface="Courier New" pitchFamily="34" charset="-120"/>
              </a:rPr>
              <a:t>github.com/clg1980/LegislativeSequence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Question</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This Program Answers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What comes after extraction?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Problem</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The Binary That Has Failed</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American political life has long offered two institutional choices: private corporate ownership on one side, centralized state control on the other.</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Both options concentrate power. Both produce extraction. Both have failed the communities they were supposed to serve, in different ways and at different scales.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commons is not a compromise between the two. It is a structurally different answer: institutions governed by the communities that depend on them, under design principles that Elinor Ostrom identified as the conditions under which shared resources thrive rather than collapse.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Answer</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Governance as Systems Engineering, Not Ideology</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This program treats governance as a systems engineering problem. The question is not who should hold power in the abstract; it is what institutional architecture produces durable, self-correcting, community-governed resource systems in practice.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It is not a state-expansion program: it systematically reduces federal administrative reach while increasing community self-determination.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It is not a privatization program: it removes resources from both state administration and private enclosure and places them under democratic community stewardship.</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It addresses the failure modes of both dominant institutional options without adopting either one's logic.</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Who Elinor Ostrom Was</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and Why It Matters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The empirical foundation of the entire program</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Elinor Ostrom</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Nobel Prize in Economics, 2009. The First Woman.</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Elinor Ostrom won the Nobel Prize in Economics in 2009, the first woman to receive it. She died in 2012.</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She spent her career refuting the Tragedy of the Commons: the argument, stated most influentially by Garrett Hardin in 1968, that communities inevitably overexploit shared resources and that the only solutions are private property or state regulation.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Ostrom studied Swiss alpine meadows, Japanese fisheries, Spanish irrigation systems, New England lobster grounds, and hundreds of other cases. She showed that communities have successfully governed shared resources for centuries, without privatization and without central government, when their governance institutions meet certain design conditions.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She identified eight such conditions.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panaceas." Elinor Ostrom, 2009</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Eight Principles</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The Ostrom Standards of Stewardship</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Every institution certified under this program must meet all eight principles, codified as the Ostrom Standards of Stewardship:</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1: Defined Boundaries. The resource and the community are precisely defined.</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2: Local Congruence. Rules match the specific conditions of the commons (the "no panaceas" principle in legal form).</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3: Collective-Choice Arrangements. Those governed by the rules have meaningful say in changing them.</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4: Peer Monitoring. Members or those accountable to them monitor resource use and compliance.</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5: Graduated Sanctions. Violations are met with proportionate, escalating responses.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6: Accessible Conflict Resolution. Disputes are resolved locally, quickly, and affordably.</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7: Jurisdictional Autonomy. The community's right to govern itself is not challenged by outside authorities.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8: Nested Governance. Complex systems are organized in layered tiers, allowing local autonomy within larger networks.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III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Four-Bill</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Sequence</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Each bill creates the conditions the next one requires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Architecture</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Four Bills, One Sequence, One Program</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program is designed for staggered introduction, not simultaneous release: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 FRDI Act  (The Material Commons)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builds the foundation</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II: HRCR Act  (The Social Commons)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demonstrates resilience value</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III: FCSAG  (The Strategic Commons)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proves viability internationally</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IV: ISRN  (The Global Commons)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Each bill that passes demonstrates the viability of the commons framework, expands the network of communities that benefit from it, and strengthens the argument for the next. The program is self-reinforcing once it begins.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All four bills are drafted, published, and ready for committee referral now.</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IV</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Bills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What each one does and why it comes when it does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AE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594360" cy="347472"/>
          </a:xfrm>
          <a:prstGeom prst="roundRect">
            <a:avLst>
              <a:gd name="adj" fmla="val 13158"/>
            </a:avLst>
          </a:prstGeom>
          <a:solidFill>
            <a:srgbClr val="2C5F2D"/>
          </a:solidFill>
          <a:ln/>
        </p:spPr>
      </p:sp>
      <p:sp>
        <p:nvSpPr>
          <p:cNvPr id="8" name="Text 6"/>
          <p:cNvSpPr/>
          <p:nvPr/>
        </p:nvSpPr>
        <p:spPr>
          <a:xfrm>
            <a:off x="411480" y="320040"/>
            <a:ext cx="59436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Vol. I</a:t>
            </a:r>
            <a:endParaRPr lang="en-US" sz="1000" dirty="0"/>
          </a:p>
        </p:txBody>
      </p:sp>
      <p:sp>
        <p:nvSpPr>
          <p:cNvPr id="9" name="Text 7"/>
          <p:cNvSpPr/>
          <p:nvPr/>
        </p:nvSpPr>
        <p:spPr>
          <a:xfrm>
            <a:off x="1097280" y="320040"/>
            <a:ext cx="7223760" cy="347472"/>
          </a:xfrm>
          <a:prstGeom prst="rect">
            <a:avLst/>
          </a:prstGeom>
          <a:noFill/>
          <a:ln/>
        </p:spPr>
        <p:txBody>
          <a:bodyPr wrap="square" rtlCol="0" anchor="ctr"/>
          <a:lstStyle/>
          <a:p>
            <a:pPr indent="0" marL="0">
              <a:buNone/>
            </a:pPr>
            <a:r>
              <a:rPr lang="en-US" sz="1000" dirty="0">
                <a:solidFill>
                  <a:srgbClr val="4A4238"/>
                </a:solidFill>
                <a:latin typeface="Calibri" pitchFamily="34" charset="0"/>
                <a:ea typeface="Calibri" pitchFamily="34" charset="-122"/>
                <a:cs typeface="Calibri" pitchFamily="34" charset="-120"/>
              </a:rPr>
              <a:t>Federal Resilience and Decentralization Initiatives Act (FRDI Act)</a:t>
            </a:r>
            <a:endParaRPr lang="en-US" sz="1000" dirty="0"/>
          </a:p>
        </p:txBody>
      </p:sp>
      <p:sp>
        <p:nvSpPr>
          <p:cNvPr id="10" name="Text 8"/>
          <p:cNvSpPr/>
          <p:nvPr/>
        </p:nvSpPr>
        <p:spPr>
          <a:xfrm>
            <a:off x="411480" y="777240"/>
            <a:ext cx="8046720" cy="594360"/>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The Material Commons. Introduce First.</a:t>
            </a:r>
            <a:endParaRPr lang="en-US" sz="2000" dirty="0"/>
          </a:p>
        </p:txBody>
      </p:sp>
      <p:sp>
        <p:nvSpPr>
          <p:cNvPr id="11" name="Shape 9"/>
          <p:cNvSpPr/>
          <p:nvPr/>
        </p:nvSpPr>
        <p:spPr>
          <a:xfrm>
            <a:off x="411480" y="1417320"/>
            <a:ext cx="8321040" cy="0"/>
          </a:xfrm>
          <a:prstGeom prst="line">
            <a:avLst/>
          </a:prstGeom>
          <a:noFill/>
          <a:ln w="19050">
            <a:solidFill>
              <a:srgbClr val="2C5F2D"/>
            </a:solidFill>
            <a:prstDash val="solid"/>
          </a:ln>
        </p:spPr>
      </p:sp>
      <p:pic>
        <p:nvPicPr>
          <p:cNvPr id="12"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3" name="Text 10"/>
          <p:cNvSpPr/>
          <p:nvPr/>
        </p:nvSpPr>
        <p:spPr>
          <a:xfrm>
            <a:off x="411480" y="1554480"/>
            <a:ext cx="8321040" cy="2834640"/>
          </a:xfrm>
          <a:prstGeom prst="rect">
            <a:avLst/>
          </a:prstGeom>
          <a:noFill/>
          <a:ln/>
        </p:spPr>
        <p:txBody>
          <a:bodyPr wrap="square" rtlCol="0" anchor="t"/>
          <a:lstStyle/>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The FRDI Act builds the institutional infrastructure the rest of the program depends on.</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It takes land out of the speculative market permanently, placing it in Community Land Trusts where it stays affordable for the community in perpetuity. Homeowners on CLT land typically pay property tax only on the value of their home, not the land beneath it.</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It gives workers a legal right to buy the businesses they work in when those businesses come up for sale, with zero-interest financing and capital gains relief for owners who sell cooperatively.</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It creates a federated data commons where your data belongs to you, not to a platform, with surveillance prohibited within the network.</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It reverses the privatization of publicly funded research: if the public paid for it, the public gets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AE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594360" cy="347472"/>
          </a:xfrm>
          <a:prstGeom prst="roundRect">
            <a:avLst>
              <a:gd name="adj" fmla="val 13158"/>
            </a:avLst>
          </a:prstGeom>
          <a:solidFill>
            <a:srgbClr val="2C5F2D"/>
          </a:solidFill>
          <a:ln/>
        </p:spPr>
      </p:sp>
      <p:sp>
        <p:nvSpPr>
          <p:cNvPr id="8" name="Text 6"/>
          <p:cNvSpPr/>
          <p:nvPr/>
        </p:nvSpPr>
        <p:spPr>
          <a:xfrm>
            <a:off x="411480" y="320040"/>
            <a:ext cx="59436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Vol. I</a:t>
            </a:r>
            <a:endParaRPr lang="en-US" sz="1000" dirty="0"/>
          </a:p>
        </p:txBody>
      </p:sp>
      <p:sp>
        <p:nvSpPr>
          <p:cNvPr id="9" name="Text 7"/>
          <p:cNvSpPr/>
          <p:nvPr/>
        </p:nvSpPr>
        <p:spPr>
          <a:xfrm>
            <a:off x="1097280" y="320040"/>
            <a:ext cx="7223760" cy="347472"/>
          </a:xfrm>
          <a:prstGeom prst="rect">
            <a:avLst/>
          </a:prstGeom>
          <a:noFill/>
          <a:ln/>
        </p:spPr>
        <p:txBody>
          <a:bodyPr wrap="square" rtlCol="0" anchor="ctr"/>
          <a:lstStyle/>
          <a:p>
            <a:pPr indent="0" marL="0">
              <a:buNone/>
            </a:pPr>
            <a:r>
              <a:rPr lang="en-US" sz="1000" dirty="0">
                <a:solidFill>
                  <a:srgbClr val="4A4238"/>
                </a:solidFill>
                <a:latin typeface="Calibri" pitchFamily="34" charset="0"/>
                <a:ea typeface="Calibri" pitchFamily="34" charset="-122"/>
                <a:cs typeface="Calibri" pitchFamily="34" charset="-120"/>
              </a:rPr>
              <a:t>Federal Resilience and Decentralization Initiatives Act (FRDI Act)</a:t>
            </a:r>
            <a:endParaRPr lang="en-US" sz="1000" dirty="0"/>
          </a:p>
        </p:txBody>
      </p:sp>
      <p:sp>
        <p:nvSpPr>
          <p:cNvPr id="10" name="Text 8"/>
          <p:cNvSpPr/>
          <p:nvPr/>
        </p:nvSpPr>
        <p:spPr>
          <a:xfrm>
            <a:off x="411480" y="777240"/>
            <a:ext cx="8046720" cy="594360"/>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The Material Commons. Introduce First. (continued)</a:t>
            </a:r>
            <a:endParaRPr lang="en-US" sz="2000" dirty="0"/>
          </a:p>
        </p:txBody>
      </p:sp>
      <p:sp>
        <p:nvSpPr>
          <p:cNvPr id="11" name="Shape 9"/>
          <p:cNvSpPr/>
          <p:nvPr/>
        </p:nvSpPr>
        <p:spPr>
          <a:xfrm>
            <a:off x="411480" y="1417320"/>
            <a:ext cx="8321040" cy="0"/>
          </a:xfrm>
          <a:prstGeom prst="line">
            <a:avLst/>
          </a:prstGeom>
          <a:noFill/>
          <a:ln w="19050">
            <a:solidFill>
              <a:srgbClr val="2C5F2D"/>
            </a:solidFill>
            <a:prstDash val="solid"/>
          </a:ln>
        </p:spPr>
      </p:sp>
      <p:sp>
        <p:nvSpPr>
          <p:cNvPr id="12" name="Text 10"/>
          <p:cNvSpPr/>
          <p:nvPr/>
        </p:nvSpPr>
        <p:spPr>
          <a:xfrm>
            <a:off x="411480" y="1554480"/>
            <a:ext cx="8321040" cy="2834640"/>
          </a:xfrm>
          <a:prstGeom prst="rect">
            <a:avLst/>
          </a:prstGeom>
          <a:noFill/>
          <a:ln/>
        </p:spPr>
        <p:txBody>
          <a:bodyPr wrap="square" rtlCol="0" anchor="t"/>
          <a:lstStyle/>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It also establishes: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A Commons Credit System: a parallel unit of account denominated in community productive output, not dollars. As the commons economy grows, financial obligations convert naturally to commons terms.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The Federated Mesh Open Standard (FMOS): open-source technical infrastructure that connects commons institutions peer-to-peer, without a central server that can be shut down or captured.</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Federated Commons Membership: a bundle of cooperative rights providing housing, nutrition, healthcare, connectivity, and access to the knowledge commons. These are governance rights as much as provision rights. You cannot receive the housing without holding the governance rights in the institution that provides it.</a:t>
            </a:r>
            <a:endParaRPr lang="en-US" sz="1300" dirty="0"/>
          </a:p>
        </p:txBody>
      </p:sp>
      <p:sp>
        <p:nvSpPr>
          <p:cNvPr id="13" name="Shape 11"/>
          <p:cNvSpPr/>
          <p:nvPr/>
        </p:nvSpPr>
        <p:spPr>
          <a:xfrm>
            <a:off x="411480" y="4370832"/>
            <a:ext cx="8321040" cy="0"/>
          </a:xfrm>
          <a:prstGeom prst="line">
            <a:avLst/>
          </a:prstGeom>
          <a:noFill/>
          <a:ln w="9525">
            <a:solidFill>
              <a:srgbClr val="CCCCCC"/>
            </a:solidFill>
            <a:prstDash val="solid"/>
          </a:ln>
        </p:spPr>
      </p:sp>
      <p:sp>
        <p:nvSpPr>
          <p:cNvPr id="14" name="Text 12"/>
          <p:cNvSpPr/>
          <p:nvPr/>
        </p:nvSpPr>
        <p:spPr>
          <a:xfrm>
            <a:off x="411480" y="4462272"/>
            <a:ext cx="8321040" cy="457200"/>
          </a:xfrm>
          <a:prstGeom prst="rect">
            <a:avLst/>
          </a:prstGeom>
          <a:noFill/>
          <a:ln/>
        </p:spPr>
        <p:txBody>
          <a:bodyPr wrap="square" rtlCol="0" anchor="ctr"/>
          <a:lstStyle/>
          <a:p>
            <a:pPr indent="0" marL="0">
              <a:buNone/>
            </a:pPr>
            <a:r>
              <a:rPr lang="en-US" sz="1000" i="1" dirty="0">
                <a:solidFill>
                  <a:srgbClr val="4A4238"/>
                </a:solidFill>
                <a:latin typeface="Calibri" pitchFamily="34" charset="0"/>
                <a:ea typeface="Calibri" pitchFamily="34" charset="-122"/>
                <a:cs typeface="Calibri" pitchFamily="34" charset="-120"/>
              </a:rPr>
              <a:t>Must come first. It is the material floor without which the social commons of Vol. II cannot function, and the domestic resilience infrastructure without which the defense posture reforms of Vol. III cannot be credibly advanced.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AE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594360" cy="347472"/>
          </a:xfrm>
          <a:prstGeom prst="roundRect">
            <a:avLst>
              <a:gd name="adj" fmla="val 13158"/>
            </a:avLst>
          </a:prstGeom>
          <a:solidFill>
            <a:srgbClr val="E07A5F"/>
          </a:solidFill>
          <a:ln/>
        </p:spPr>
      </p:sp>
      <p:sp>
        <p:nvSpPr>
          <p:cNvPr id="8" name="Text 6"/>
          <p:cNvSpPr/>
          <p:nvPr/>
        </p:nvSpPr>
        <p:spPr>
          <a:xfrm>
            <a:off x="411480" y="320040"/>
            <a:ext cx="59436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Vol. II</a:t>
            </a:r>
            <a:endParaRPr lang="en-US" sz="1000" dirty="0"/>
          </a:p>
        </p:txBody>
      </p:sp>
      <p:sp>
        <p:nvSpPr>
          <p:cNvPr id="9" name="Text 7"/>
          <p:cNvSpPr/>
          <p:nvPr/>
        </p:nvSpPr>
        <p:spPr>
          <a:xfrm>
            <a:off x="1097280" y="320040"/>
            <a:ext cx="7223760" cy="347472"/>
          </a:xfrm>
          <a:prstGeom prst="rect">
            <a:avLst/>
          </a:prstGeom>
          <a:noFill/>
          <a:ln/>
        </p:spPr>
        <p:txBody>
          <a:bodyPr wrap="square" rtlCol="0" anchor="ctr"/>
          <a:lstStyle/>
          <a:p>
            <a:pPr indent="0" marL="0">
              <a:buNone/>
            </a:pPr>
            <a:r>
              <a:rPr lang="en-US" sz="1000" dirty="0">
                <a:solidFill>
                  <a:srgbClr val="4A4238"/>
                </a:solidFill>
                <a:latin typeface="Calibri" pitchFamily="34" charset="0"/>
                <a:ea typeface="Calibri" pitchFamily="34" charset="-122"/>
                <a:cs typeface="Calibri" pitchFamily="34" charset="-120"/>
              </a:rPr>
              <a:t>Human Reclamation and Community Restorative Act (HRCR Act)</a:t>
            </a:r>
            <a:endParaRPr lang="en-US" sz="1000" dirty="0"/>
          </a:p>
        </p:txBody>
      </p:sp>
      <p:sp>
        <p:nvSpPr>
          <p:cNvPr id="10" name="Text 8"/>
          <p:cNvSpPr/>
          <p:nvPr/>
        </p:nvSpPr>
        <p:spPr>
          <a:xfrm>
            <a:off x="411480" y="777240"/>
            <a:ext cx="8046720" cy="594360"/>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The Social Commons. Introduce Concurrent with or Shortly After Vol. I.</a:t>
            </a:r>
            <a:endParaRPr lang="en-US" sz="2000" dirty="0"/>
          </a:p>
        </p:txBody>
      </p:sp>
      <p:sp>
        <p:nvSpPr>
          <p:cNvPr id="11" name="Shape 9"/>
          <p:cNvSpPr/>
          <p:nvPr/>
        </p:nvSpPr>
        <p:spPr>
          <a:xfrm>
            <a:off x="411480" y="1417320"/>
            <a:ext cx="8321040" cy="0"/>
          </a:xfrm>
          <a:prstGeom prst="line">
            <a:avLst/>
          </a:prstGeom>
          <a:noFill/>
          <a:ln w="19050">
            <a:solidFill>
              <a:srgbClr val="E07A5F"/>
            </a:solidFill>
            <a:prstDash val="solid"/>
          </a:ln>
        </p:spPr>
      </p:sp>
      <p:pic>
        <p:nvPicPr>
          <p:cNvPr id="12"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3" name="Text 10"/>
          <p:cNvSpPr/>
          <p:nvPr/>
        </p:nvSpPr>
        <p:spPr>
          <a:xfrm>
            <a:off x="411480" y="1554480"/>
            <a:ext cx="8321040" cy="2834640"/>
          </a:xfrm>
          <a:prstGeom prst="rect">
            <a:avLst/>
          </a:prstGeom>
          <a:noFill/>
          <a:ln/>
        </p:spPr>
        <p:txBody>
          <a:bodyPr wrap="square" rtlCol="0" anchor="t"/>
          <a:lstStyle/>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The HRCR Act replaces the punitive incarceration system with community-governed restorative processes.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Instead of incarceration, harm is addressed through Harm Repair Agreements: documented, voluntary agreements between the person who caused harm and the person or community harmed, specifying what repair looks like. The agreement is facilitated by an Accountability Pod: a peer-governed community body, not a court.</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Federal correctional facilities are closed on a mandatory timeline. The buildings and land are converted to Resilience Campuses: cooperative housing, healthcare, education, and small enterprise incubators governed democratically by the surrounding community.</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Every outstanding federal criminal fine, fee, and surcharge is discharged on enactment. Civil asset forfeiture is abolished: the government cannot take your property without a criminal conviction.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AE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594360" cy="347472"/>
          </a:xfrm>
          <a:prstGeom prst="roundRect">
            <a:avLst>
              <a:gd name="adj" fmla="val 13158"/>
            </a:avLst>
          </a:prstGeom>
          <a:solidFill>
            <a:srgbClr val="E07A5F"/>
          </a:solidFill>
          <a:ln/>
        </p:spPr>
      </p:sp>
      <p:sp>
        <p:nvSpPr>
          <p:cNvPr id="8" name="Text 6"/>
          <p:cNvSpPr/>
          <p:nvPr/>
        </p:nvSpPr>
        <p:spPr>
          <a:xfrm>
            <a:off x="411480" y="320040"/>
            <a:ext cx="59436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Vol. II</a:t>
            </a:r>
            <a:endParaRPr lang="en-US" sz="1000" dirty="0"/>
          </a:p>
        </p:txBody>
      </p:sp>
      <p:sp>
        <p:nvSpPr>
          <p:cNvPr id="9" name="Text 7"/>
          <p:cNvSpPr/>
          <p:nvPr/>
        </p:nvSpPr>
        <p:spPr>
          <a:xfrm>
            <a:off x="1097280" y="320040"/>
            <a:ext cx="7223760" cy="347472"/>
          </a:xfrm>
          <a:prstGeom prst="rect">
            <a:avLst/>
          </a:prstGeom>
          <a:noFill/>
          <a:ln/>
        </p:spPr>
        <p:txBody>
          <a:bodyPr wrap="square" rtlCol="0" anchor="ctr"/>
          <a:lstStyle/>
          <a:p>
            <a:pPr indent="0" marL="0">
              <a:buNone/>
            </a:pPr>
            <a:r>
              <a:rPr lang="en-US" sz="1000" dirty="0">
                <a:solidFill>
                  <a:srgbClr val="4A4238"/>
                </a:solidFill>
                <a:latin typeface="Calibri" pitchFamily="34" charset="0"/>
                <a:ea typeface="Calibri" pitchFamily="34" charset="-122"/>
                <a:cs typeface="Calibri" pitchFamily="34" charset="-120"/>
              </a:rPr>
              <a:t>Human Reclamation and Community Restorative Act (HRCR Act)</a:t>
            </a:r>
            <a:endParaRPr lang="en-US" sz="1000" dirty="0"/>
          </a:p>
        </p:txBody>
      </p:sp>
      <p:sp>
        <p:nvSpPr>
          <p:cNvPr id="10" name="Text 8"/>
          <p:cNvSpPr/>
          <p:nvPr/>
        </p:nvSpPr>
        <p:spPr>
          <a:xfrm>
            <a:off x="411480" y="777240"/>
            <a:ext cx="8046720" cy="594360"/>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The Social Commons. Introduce Concurrent with or Shortly After Vol. I. (continued)</a:t>
            </a:r>
            <a:endParaRPr lang="en-US" sz="2000" dirty="0"/>
          </a:p>
        </p:txBody>
      </p:sp>
      <p:sp>
        <p:nvSpPr>
          <p:cNvPr id="11" name="Shape 9"/>
          <p:cNvSpPr/>
          <p:nvPr/>
        </p:nvSpPr>
        <p:spPr>
          <a:xfrm>
            <a:off x="411480" y="1417320"/>
            <a:ext cx="8321040" cy="0"/>
          </a:xfrm>
          <a:prstGeom prst="line">
            <a:avLst/>
          </a:prstGeom>
          <a:noFill/>
          <a:ln w="19050">
            <a:solidFill>
              <a:srgbClr val="E07A5F"/>
            </a:solidFill>
            <a:prstDash val="solid"/>
          </a:ln>
        </p:spPr>
      </p:sp>
      <p:sp>
        <p:nvSpPr>
          <p:cNvPr id="12" name="Text 10"/>
          <p:cNvSpPr/>
          <p:nvPr/>
        </p:nvSpPr>
        <p:spPr>
          <a:xfrm>
            <a:off x="411480" y="1554480"/>
            <a:ext cx="8321040" cy="2834640"/>
          </a:xfrm>
          <a:prstGeom prst="rect">
            <a:avLst/>
          </a:prstGeom>
          <a:noFill/>
          <a:ln/>
        </p:spPr>
        <p:txBody>
          <a:bodyPr wrap="square" rtlCol="0" anchor="t"/>
          <a:lstStyle/>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It also establishes: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Peace Keepers: certified, non-armed community safety responders trained in de-escalation and restorative facilitation. They are accountable to the community, not to a police chain of command.</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Immediate, unconditional Federated Commons Membership upon release from any restorative process: housing, nutrition, healthcare, and connectivity are available on the first day out. There is no waitlist, no eligibility determination, no supervision condition attached.</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Prosecutorial Cooperation for Serious Harm: building on the Common Justice model operating in Brooklyn and the Bronx, local prosecutors can enter standing agreements with community institutions to divert serious and violent cases into restorative processes rather than automatic prosecution.</a:t>
            </a:r>
            <a:endParaRPr lang="en-US" sz="1300" dirty="0"/>
          </a:p>
        </p:txBody>
      </p:sp>
      <p:sp>
        <p:nvSpPr>
          <p:cNvPr id="13" name="Shape 11"/>
          <p:cNvSpPr/>
          <p:nvPr/>
        </p:nvSpPr>
        <p:spPr>
          <a:xfrm>
            <a:off x="411480" y="4370832"/>
            <a:ext cx="8321040" cy="0"/>
          </a:xfrm>
          <a:prstGeom prst="line">
            <a:avLst/>
          </a:prstGeom>
          <a:noFill/>
          <a:ln w="9525">
            <a:solidFill>
              <a:srgbClr val="CCCCCC"/>
            </a:solidFill>
            <a:prstDash val="solid"/>
          </a:ln>
        </p:spPr>
      </p:sp>
      <p:sp>
        <p:nvSpPr>
          <p:cNvPr id="14" name="Text 12"/>
          <p:cNvSpPr/>
          <p:nvPr/>
        </p:nvSpPr>
        <p:spPr>
          <a:xfrm>
            <a:off x="411480" y="4462272"/>
            <a:ext cx="8321040" cy="457200"/>
          </a:xfrm>
          <a:prstGeom prst="rect">
            <a:avLst/>
          </a:prstGeom>
          <a:noFill/>
          <a:ln/>
        </p:spPr>
        <p:txBody>
          <a:bodyPr wrap="square" rtlCol="0" anchor="ctr"/>
          <a:lstStyle/>
          <a:p>
            <a:pPr indent="0" marL="0">
              <a:buNone/>
            </a:pPr>
            <a:r>
              <a:rPr lang="en-US" sz="1000" i="1" dirty="0">
                <a:solidFill>
                  <a:srgbClr val="4A4238"/>
                </a:solidFill>
                <a:latin typeface="Calibri" pitchFamily="34" charset="0"/>
                <a:ea typeface="Calibri" pitchFamily="34" charset="-122"/>
                <a:cs typeface="Calibri" pitchFamily="34" charset="-120"/>
              </a:rPr>
              <a:t>Depends on the FRDI Act. A restorative justice system without a material floor produces the same desperation that drives people back into punitive loops. The two bills together are the demonstration that material security and community accountability are the same project.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AE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594360" cy="347472"/>
          </a:xfrm>
          <a:prstGeom prst="roundRect">
            <a:avLst>
              <a:gd name="adj" fmla="val 13158"/>
            </a:avLst>
          </a:prstGeom>
          <a:solidFill>
            <a:srgbClr val="4A90D9"/>
          </a:solidFill>
          <a:ln/>
        </p:spPr>
      </p:sp>
      <p:sp>
        <p:nvSpPr>
          <p:cNvPr id="8" name="Text 6"/>
          <p:cNvSpPr/>
          <p:nvPr/>
        </p:nvSpPr>
        <p:spPr>
          <a:xfrm>
            <a:off x="411480" y="320040"/>
            <a:ext cx="59436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Vol. III</a:t>
            </a:r>
            <a:endParaRPr lang="en-US" sz="1000" dirty="0"/>
          </a:p>
        </p:txBody>
      </p:sp>
      <p:sp>
        <p:nvSpPr>
          <p:cNvPr id="9" name="Text 7"/>
          <p:cNvSpPr/>
          <p:nvPr/>
        </p:nvSpPr>
        <p:spPr>
          <a:xfrm>
            <a:off x="1097280" y="320040"/>
            <a:ext cx="7223760" cy="347472"/>
          </a:xfrm>
          <a:prstGeom prst="rect">
            <a:avLst/>
          </a:prstGeom>
          <a:noFill/>
          <a:ln/>
        </p:spPr>
        <p:txBody>
          <a:bodyPr wrap="square" rtlCol="0" anchor="ctr"/>
          <a:lstStyle/>
          <a:p>
            <a:pPr indent="0" marL="0">
              <a:buNone/>
            </a:pPr>
            <a:r>
              <a:rPr lang="en-US" sz="1000" dirty="0">
                <a:solidFill>
                  <a:srgbClr val="4A4238"/>
                </a:solidFill>
                <a:latin typeface="Calibri" pitchFamily="34" charset="0"/>
                <a:ea typeface="Calibri" pitchFamily="34" charset="-122"/>
                <a:cs typeface="Calibri" pitchFamily="34" charset="-120"/>
              </a:rPr>
              <a:t>Federal Commons Security and Automation Governance Act (FCSAG)</a:t>
            </a:r>
            <a:endParaRPr lang="en-US" sz="1000" dirty="0"/>
          </a:p>
        </p:txBody>
      </p:sp>
      <p:sp>
        <p:nvSpPr>
          <p:cNvPr id="10" name="Text 8"/>
          <p:cNvSpPr/>
          <p:nvPr/>
        </p:nvSpPr>
        <p:spPr>
          <a:xfrm>
            <a:off x="411480" y="777240"/>
            <a:ext cx="8046720" cy="594360"/>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The Strategic Commons. Introduce 2 to 3 Years After Vol. I.</a:t>
            </a:r>
            <a:endParaRPr lang="en-US" sz="2000" dirty="0"/>
          </a:p>
        </p:txBody>
      </p:sp>
      <p:sp>
        <p:nvSpPr>
          <p:cNvPr id="11" name="Shape 9"/>
          <p:cNvSpPr/>
          <p:nvPr/>
        </p:nvSpPr>
        <p:spPr>
          <a:xfrm>
            <a:off x="411480" y="1417320"/>
            <a:ext cx="8321040" cy="0"/>
          </a:xfrm>
          <a:prstGeom prst="line">
            <a:avLst/>
          </a:prstGeom>
          <a:noFill/>
          <a:ln w="19050">
            <a:solidFill>
              <a:srgbClr val="4A90D9"/>
            </a:solidFill>
            <a:prstDash val="solid"/>
          </a:ln>
        </p:spPr>
      </p:sp>
      <p:pic>
        <p:nvPicPr>
          <p:cNvPr id="12"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3" name="Text 10"/>
          <p:cNvSpPr/>
          <p:nvPr/>
        </p:nvSpPr>
        <p:spPr>
          <a:xfrm>
            <a:off x="411480" y="1554480"/>
            <a:ext cx="8321040" cy="2834640"/>
          </a:xfrm>
          <a:prstGeom prst="rect">
            <a:avLst/>
          </a:prstGeom>
          <a:noFill/>
          <a:ln/>
        </p:spPr>
        <p:txBody>
          <a:bodyPr wrap="square" rtlCol="0" anchor="t"/>
          <a:lstStyle/>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The FCSAG reorients national defense away from protecting a financial arrangement (the petrodollar system) and toward protecting the communities and infrastructure that make genuine national security possible.</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The United States military has been organized substantially around keeping global energy markets denominated in dollars and protecting fossil fuel shipping lanes. This has required overseas bases, alliance commitments, and military operations whose primary purpose is monetary rather than the security of the American people.</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This Act directs the President to negotiate a new NATO framework organized around mutual resilience rather than American primacy, closes bases whose primary rationale is petroleum shipping lane protection, and designates the commons infrastructure (cooperative energy, food, water, communications) as the critical national infrastructure the defense establishment is actually there to protect.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AE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594360" cy="347472"/>
          </a:xfrm>
          <a:prstGeom prst="roundRect">
            <a:avLst>
              <a:gd name="adj" fmla="val 13158"/>
            </a:avLst>
          </a:prstGeom>
          <a:solidFill>
            <a:srgbClr val="4A90D9"/>
          </a:solidFill>
          <a:ln/>
        </p:spPr>
      </p:sp>
      <p:sp>
        <p:nvSpPr>
          <p:cNvPr id="8" name="Text 6"/>
          <p:cNvSpPr/>
          <p:nvPr/>
        </p:nvSpPr>
        <p:spPr>
          <a:xfrm>
            <a:off x="411480" y="320040"/>
            <a:ext cx="59436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Vol. III</a:t>
            </a:r>
            <a:endParaRPr lang="en-US" sz="1000" dirty="0"/>
          </a:p>
        </p:txBody>
      </p:sp>
      <p:sp>
        <p:nvSpPr>
          <p:cNvPr id="9" name="Text 7"/>
          <p:cNvSpPr/>
          <p:nvPr/>
        </p:nvSpPr>
        <p:spPr>
          <a:xfrm>
            <a:off x="1097280" y="320040"/>
            <a:ext cx="7223760" cy="347472"/>
          </a:xfrm>
          <a:prstGeom prst="rect">
            <a:avLst/>
          </a:prstGeom>
          <a:noFill/>
          <a:ln/>
        </p:spPr>
        <p:txBody>
          <a:bodyPr wrap="square" rtlCol="0" anchor="ctr"/>
          <a:lstStyle/>
          <a:p>
            <a:pPr indent="0" marL="0">
              <a:buNone/>
            </a:pPr>
            <a:r>
              <a:rPr lang="en-US" sz="1000" dirty="0">
                <a:solidFill>
                  <a:srgbClr val="4A4238"/>
                </a:solidFill>
                <a:latin typeface="Calibri" pitchFamily="34" charset="0"/>
                <a:ea typeface="Calibri" pitchFamily="34" charset="-122"/>
                <a:cs typeface="Calibri" pitchFamily="34" charset="-120"/>
              </a:rPr>
              <a:t>Federal Commons Security and Automation Governance Act (FCSAG)</a:t>
            </a:r>
            <a:endParaRPr lang="en-US" sz="1000" dirty="0"/>
          </a:p>
        </p:txBody>
      </p:sp>
      <p:sp>
        <p:nvSpPr>
          <p:cNvPr id="10" name="Text 8"/>
          <p:cNvSpPr/>
          <p:nvPr/>
        </p:nvSpPr>
        <p:spPr>
          <a:xfrm>
            <a:off x="411480" y="777240"/>
            <a:ext cx="8046720" cy="594360"/>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The Strategic Commons. Introduce 2 to 3 Years After Vol. I. (continued)</a:t>
            </a:r>
            <a:endParaRPr lang="en-US" sz="2000" dirty="0"/>
          </a:p>
        </p:txBody>
      </p:sp>
      <p:sp>
        <p:nvSpPr>
          <p:cNvPr id="11" name="Shape 9"/>
          <p:cNvSpPr/>
          <p:nvPr/>
        </p:nvSpPr>
        <p:spPr>
          <a:xfrm>
            <a:off x="411480" y="1417320"/>
            <a:ext cx="8321040" cy="0"/>
          </a:xfrm>
          <a:prstGeom prst="line">
            <a:avLst/>
          </a:prstGeom>
          <a:noFill/>
          <a:ln w="19050">
            <a:solidFill>
              <a:srgbClr val="4A90D9"/>
            </a:solidFill>
            <a:prstDash val="solid"/>
          </a:ln>
        </p:spPr>
      </p:sp>
      <p:sp>
        <p:nvSpPr>
          <p:cNvPr id="12" name="Text 10"/>
          <p:cNvSpPr/>
          <p:nvPr/>
        </p:nvSpPr>
        <p:spPr>
          <a:xfrm>
            <a:off x="411480" y="1554480"/>
            <a:ext cx="8321040" cy="2834640"/>
          </a:xfrm>
          <a:prstGeom prst="rect">
            <a:avLst/>
          </a:prstGeom>
          <a:noFill/>
          <a:ln/>
        </p:spPr>
        <p:txBody>
          <a:bodyPr wrap="square" rtlCol="0" anchor="t"/>
          <a:lstStyle/>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It also establishes: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The Automation Dividend: when automated systems deployed within the commons network increase productivity, the gains flow to Commons Members through reduced labor requirements and improved provision standards, not to private capital.</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The Algorithmic Governance Prohibition: no automated system may make a final decision affecting your rights, benefits, or status without meaningful human review. Anchored in the Fifth Amendment's due process guarantee.</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Intelligence Commons Platform Capture: analytics platforms built with public money through programs like In-Q-Tel and DARPA are recaptured for public use. The surveillance capabilities are stripped. The data integration and coordination capabilities that commons governance actually needs are contributed to the open-source Analytics Commons.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All automation controlling commons-critical infrastructure must be publicly auditable, open-source, and governed democratically by the communities it serves.</a:t>
            </a:r>
            <a:endParaRPr lang="en-US" sz="1300" dirty="0"/>
          </a:p>
        </p:txBody>
      </p:sp>
      <p:sp>
        <p:nvSpPr>
          <p:cNvPr id="13" name="Shape 11"/>
          <p:cNvSpPr/>
          <p:nvPr/>
        </p:nvSpPr>
        <p:spPr>
          <a:xfrm>
            <a:off x="411480" y="4370832"/>
            <a:ext cx="8321040" cy="0"/>
          </a:xfrm>
          <a:prstGeom prst="line">
            <a:avLst/>
          </a:prstGeom>
          <a:noFill/>
          <a:ln w="9525">
            <a:solidFill>
              <a:srgbClr val="CCCCCC"/>
            </a:solidFill>
            <a:prstDash val="solid"/>
          </a:ln>
        </p:spPr>
      </p:sp>
      <p:sp>
        <p:nvSpPr>
          <p:cNvPr id="14" name="Text 12"/>
          <p:cNvSpPr/>
          <p:nvPr/>
        </p:nvSpPr>
        <p:spPr>
          <a:xfrm>
            <a:off x="411480" y="4462272"/>
            <a:ext cx="8321040" cy="457200"/>
          </a:xfrm>
          <a:prstGeom prst="rect">
            <a:avLst/>
          </a:prstGeom>
          <a:noFill/>
          <a:ln/>
        </p:spPr>
        <p:txBody>
          <a:bodyPr wrap="square" rtlCol="0" anchor="ctr"/>
          <a:lstStyle/>
          <a:p>
            <a:pPr indent="0" marL="0">
              <a:buNone/>
            </a:pPr>
            <a:r>
              <a:rPr lang="en-US" sz="1000" i="1" dirty="0">
                <a:solidFill>
                  <a:srgbClr val="4A4238"/>
                </a:solidFill>
                <a:latin typeface="Calibri" pitchFamily="34" charset="0"/>
                <a:ea typeface="Calibri" pitchFamily="34" charset="-122"/>
                <a:cs typeface="Calibri" pitchFamily="34" charset="-120"/>
              </a:rPr>
              <a:t>Introduced after the FRDI Act has demonstrated its domestic resilience value. The defense posture reorientation is only credible once the material alternative exists.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AE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594360" cy="347472"/>
          </a:xfrm>
          <a:prstGeom prst="roundRect">
            <a:avLst>
              <a:gd name="adj" fmla="val 13158"/>
            </a:avLst>
          </a:prstGeom>
          <a:solidFill>
            <a:srgbClr val="C9A84C"/>
          </a:solidFill>
          <a:ln/>
        </p:spPr>
      </p:sp>
      <p:sp>
        <p:nvSpPr>
          <p:cNvPr id="8" name="Text 6"/>
          <p:cNvSpPr/>
          <p:nvPr/>
        </p:nvSpPr>
        <p:spPr>
          <a:xfrm>
            <a:off x="411480" y="320040"/>
            <a:ext cx="59436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Vol. IV</a:t>
            </a:r>
            <a:endParaRPr lang="en-US" sz="1000" dirty="0"/>
          </a:p>
        </p:txBody>
      </p:sp>
      <p:sp>
        <p:nvSpPr>
          <p:cNvPr id="9" name="Text 7"/>
          <p:cNvSpPr/>
          <p:nvPr/>
        </p:nvSpPr>
        <p:spPr>
          <a:xfrm>
            <a:off x="1097280" y="320040"/>
            <a:ext cx="7223760" cy="347472"/>
          </a:xfrm>
          <a:prstGeom prst="rect">
            <a:avLst/>
          </a:prstGeom>
          <a:noFill/>
          <a:ln/>
        </p:spPr>
        <p:txBody>
          <a:bodyPr wrap="square" rtlCol="0" anchor="ctr"/>
          <a:lstStyle/>
          <a:p>
            <a:pPr indent="0" marL="0">
              <a:buNone/>
            </a:pPr>
            <a:r>
              <a:rPr lang="en-US" sz="1000" dirty="0">
                <a:solidFill>
                  <a:srgbClr val="4A4238"/>
                </a:solidFill>
                <a:latin typeface="Calibri" pitchFamily="34" charset="0"/>
                <a:ea typeface="Calibri" pitchFamily="34" charset="-122"/>
                <a:cs typeface="Calibri" pitchFamily="34" charset="-120"/>
              </a:rPr>
              <a:t>International Sovereignty, Resilience and Nonproliferation Act (ISRN)</a:t>
            </a:r>
            <a:endParaRPr lang="en-US" sz="1000" dirty="0"/>
          </a:p>
        </p:txBody>
      </p:sp>
      <p:sp>
        <p:nvSpPr>
          <p:cNvPr id="10" name="Text 8"/>
          <p:cNvSpPr/>
          <p:nvPr/>
        </p:nvSpPr>
        <p:spPr>
          <a:xfrm>
            <a:off x="411480" y="777240"/>
            <a:ext cx="8046720" cy="594360"/>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The Global Commons. Introduce Last.</a:t>
            </a:r>
            <a:endParaRPr lang="en-US" sz="2000" dirty="0"/>
          </a:p>
        </p:txBody>
      </p:sp>
      <p:sp>
        <p:nvSpPr>
          <p:cNvPr id="11" name="Shape 9"/>
          <p:cNvSpPr/>
          <p:nvPr/>
        </p:nvSpPr>
        <p:spPr>
          <a:xfrm>
            <a:off x="411480" y="1417320"/>
            <a:ext cx="8321040" cy="0"/>
          </a:xfrm>
          <a:prstGeom prst="line">
            <a:avLst/>
          </a:prstGeom>
          <a:noFill/>
          <a:ln w="19050">
            <a:solidFill>
              <a:srgbClr val="C9A84C"/>
            </a:solidFill>
            <a:prstDash val="solid"/>
          </a:ln>
        </p:spPr>
      </p:sp>
      <p:pic>
        <p:nvPicPr>
          <p:cNvPr id="12"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3" name="Text 10"/>
          <p:cNvSpPr/>
          <p:nvPr/>
        </p:nvSpPr>
        <p:spPr>
          <a:xfrm>
            <a:off x="411480" y="1554480"/>
            <a:ext cx="8321040" cy="2834640"/>
          </a:xfrm>
          <a:prstGeom prst="rect">
            <a:avLst/>
          </a:prstGeom>
          <a:noFill/>
          <a:ln/>
        </p:spPr>
        <p:txBody>
          <a:bodyPr wrap="square" rtlCol="0" anchor="t"/>
          <a:lstStyle/>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The ISRN governs the outward-facing dimension of the transition: alliance relationships, nuclear posture, multilateral institutions, and the legal architecture for a planetary commons network.</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On alliances: the Europeanization of NATO is already happening, whether American policy addresses it or not. This Act gives the President a negotiating mandate to govern that transition deliberately, reorienting American alliance commitments from petrodollar protection toward genuine mutual resilience. The existing NATO treaty is not abrogated; it is renegotiated through lawful diplomatic processes.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On nuclear weapons: the United States has been rhetorically committed to NPT disarmament for five decades while doing very little about it. This Act establishes a minimum credible deterrence posture and directs genuine multilateral disarmament diplomacy.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AE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594360" cy="347472"/>
          </a:xfrm>
          <a:prstGeom prst="roundRect">
            <a:avLst>
              <a:gd name="adj" fmla="val 13158"/>
            </a:avLst>
          </a:prstGeom>
          <a:solidFill>
            <a:srgbClr val="C9A84C"/>
          </a:solidFill>
          <a:ln/>
        </p:spPr>
      </p:sp>
      <p:sp>
        <p:nvSpPr>
          <p:cNvPr id="8" name="Text 6"/>
          <p:cNvSpPr/>
          <p:nvPr/>
        </p:nvSpPr>
        <p:spPr>
          <a:xfrm>
            <a:off x="411480" y="320040"/>
            <a:ext cx="59436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Vol. IV</a:t>
            </a:r>
            <a:endParaRPr lang="en-US" sz="1000" dirty="0"/>
          </a:p>
        </p:txBody>
      </p:sp>
      <p:sp>
        <p:nvSpPr>
          <p:cNvPr id="9" name="Text 7"/>
          <p:cNvSpPr/>
          <p:nvPr/>
        </p:nvSpPr>
        <p:spPr>
          <a:xfrm>
            <a:off x="1097280" y="320040"/>
            <a:ext cx="7223760" cy="347472"/>
          </a:xfrm>
          <a:prstGeom prst="rect">
            <a:avLst/>
          </a:prstGeom>
          <a:noFill/>
          <a:ln/>
        </p:spPr>
        <p:txBody>
          <a:bodyPr wrap="square" rtlCol="0" anchor="ctr"/>
          <a:lstStyle/>
          <a:p>
            <a:pPr indent="0" marL="0">
              <a:buNone/>
            </a:pPr>
            <a:r>
              <a:rPr lang="en-US" sz="1000" dirty="0">
                <a:solidFill>
                  <a:srgbClr val="4A4238"/>
                </a:solidFill>
                <a:latin typeface="Calibri" pitchFamily="34" charset="0"/>
                <a:ea typeface="Calibri" pitchFamily="34" charset="-122"/>
                <a:cs typeface="Calibri" pitchFamily="34" charset="-120"/>
              </a:rPr>
              <a:t>International Sovereignty, Resilience and Nonproliferation Act (ISRN)</a:t>
            </a:r>
            <a:endParaRPr lang="en-US" sz="1000" dirty="0"/>
          </a:p>
        </p:txBody>
      </p:sp>
      <p:sp>
        <p:nvSpPr>
          <p:cNvPr id="10" name="Text 8"/>
          <p:cNvSpPr/>
          <p:nvPr/>
        </p:nvSpPr>
        <p:spPr>
          <a:xfrm>
            <a:off x="411480" y="777240"/>
            <a:ext cx="8046720" cy="594360"/>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The Global Commons. Introduce Last. (continued)</a:t>
            </a:r>
            <a:endParaRPr lang="en-US" sz="2000" dirty="0"/>
          </a:p>
        </p:txBody>
      </p:sp>
      <p:sp>
        <p:nvSpPr>
          <p:cNvPr id="11" name="Shape 9"/>
          <p:cNvSpPr/>
          <p:nvPr/>
        </p:nvSpPr>
        <p:spPr>
          <a:xfrm>
            <a:off x="411480" y="1417320"/>
            <a:ext cx="8321040" cy="0"/>
          </a:xfrm>
          <a:prstGeom prst="line">
            <a:avLst/>
          </a:prstGeom>
          <a:noFill/>
          <a:ln w="19050">
            <a:solidFill>
              <a:srgbClr val="C9A84C"/>
            </a:solidFill>
            <a:prstDash val="solid"/>
          </a:ln>
        </p:spPr>
      </p:sp>
      <p:sp>
        <p:nvSpPr>
          <p:cNvPr id="12" name="Text 10"/>
          <p:cNvSpPr/>
          <p:nvPr/>
        </p:nvSpPr>
        <p:spPr>
          <a:xfrm>
            <a:off x="411480" y="1554480"/>
            <a:ext cx="8321040" cy="2834640"/>
          </a:xfrm>
          <a:prstGeom prst="rect">
            <a:avLst/>
          </a:prstGeom>
          <a:noFill/>
          <a:ln/>
        </p:spPr>
        <p:txBody>
          <a:bodyPr wrap="square" rtlCol="0" anchor="t"/>
          <a:lstStyle/>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It also establishes: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Nonproliferation of extraction: the logic of nonproliferation extends beyond nuclear weapons. This Act directs American diplomatic resources against the proliferation of fossil fuel infrastructure, surveillance technology, and extractive financial arrangements, not just nuclear weapons.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Multilateral institution reform: American votes at the IMF and World Bank are directed against structural adjustment conditions that prevent developing nations from building cooperative institutions.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International Commons Solidarity Fund: technical assistance and seed capitalization for commons institutions in other nations, recognizing institutions like Barcelona en Comu and the Basque cooperative network as Allied Commons Networks.</a:t>
            </a:r>
            <a:endParaRPr lang="en-US" sz="1300" dirty="0"/>
          </a:p>
          <a:p>
            <a:pPr algn="l" indent="0" marL="0">
              <a:lnSpc>
                <a:spcPct val="88000"/>
              </a:lnSpc>
              <a:buNone/>
            </a:pPr>
            <a:endParaRPr lang="en-US" sz="1300" dirty="0"/>
          </a:p>
          <a:p>
            <a:pPr algn="l" indent="0" marL="0">
              <a:lnSpc>
                <a:spcPct val="88000"/>
              </a:lnSpc>
              <a:buNone/>
            </a:pPr>
            <a:r>
              <a:rPr lang="en-US" sz="1300" dirty="0">
                <a:solidFill>
                  <a:srgbClr val="1A1814"/>
                </a:solidFill>
                <a:latin typeface="Calibri" pitchFamily="34" charset="0"/>
                <a:ea typeface="Calibri" pitchFamily="34" charset="-122"/>
                <a:cs typeface="Calibri" pitchFamily="34" charset="-120"/>
              </a:rPr>
              <a:t>Planetary Commons Federation: the long-term goal stated plainly in statute. A network of self-governing commons communities connected laterally to one another. No center. No hierarchy. No metropole. Only nodes.</a:t>
            </a:r>
            <a:endParaRPr lang="en-US" sz="1300" dirty="0"/>
          </a:p>
        </p:txBody>
      </p:sp>
      <p:sp>
        <p:nvSpPr>
          <p:cNvPr id="13" name="Shape 11"/>
          <p:cNvSpPr/>
          <p:nvPr/>
        </p:nvSpPr>
        <p:spPr>
          <a:xfrm>
            <a:off x="411480" y="4370832"/>
            <a:ext cx="8321040" cy="0"/>
          </a:xfrm>
          <a:prstGeom prst="line">
            <a:avLst/>
          </a:prstGeom>
          <a:noFill/>
          <a:ln w="9525">
            <a:solidFill>
              <a:srgbClr val="CCCCCC"/>
            </a:solidFill>
            <a:prstDash val="solid"/>
          </a:ln>
        </p:spPr>
      </p:sp>
      <p:sp>
        <p:nvSpPr>
          <p:cNvPr id="14" name="Text 12"/>
          <p:cNvSpPr/>
          <p:nvPr/>
        </p:nvSpPr>
        <p:spPr>
          <a:xfrm>
            <a:off x="411480" y="4462272"/>
            <a:ext cx="8321040" cy="457200"/>
          </a:xfrm>
          <a:prstGeom prst="rect">
            <a:avLst/>
          </a:prstGeom>
          <a:noFill/>
          <a:ln/>
        </p:spPr>
        <p:txBody>
          <a:bodyPr wrap="square" rtlCol="0" anchor="ctr"/>
          <a:lstStyle/>
          <a:p>
            <a:pPr indent="0" marL="0">
              <a:buNone/>
            </a:pPr>
            <a:r>
              <a:rPr lang="en-US" sz="1000" i="1" dirty="0">
                <a:solidFill>
                  <a:srgbClr val="4A4238"/>
                </a:solidFill>
                <a:latin typeface="Calibri" pitchFamily="34" charset="0"/>
                <a:ea typeface="Calibri" pitchFamily="34" charset="-122"/>
                <a:cs typeface="Calibri" pitchFamily="34" charset="-120"/>
              </a:rPr>
              <a:t>Introduced last because its arguments are most credible when the domestic commons transition has demonstrated its viability.</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V</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Staggered</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Introduction Rationale</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Why sequence matters as much as substance</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Why Sequence</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Each Bill Creates the Conditions the Next Requires</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staggered introduction is not a drafting constraint. It is a political and architectural strategy.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FRDI Act builds the constituency for the HRCR Act: communities with functioning CLTs, cooperative food systems, and commons membership have a concrete material stake in the social commons. They are no longer abstract beneficiaries. They are members with governance rights and something to protect.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HRCR Act demonstrates that material security and community accountability are the same project: former correctional facilities converted to Resilience Campuses are visible, local, and undeniable proof.</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FCSAG's defense posture reorientation is only credible once the domestic resilience infrastructure exists to answer the fragility critique.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ISRN's planetary commons governance is only persuasive when the United States can point to a functioning domestic commons economy as the proof of concept for what it is proposing internationally.</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VI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Proof</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of Concept</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The institutions already exist and already work</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Not Theoretical</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This Already Exists</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Community Land Trusts: the Champlain Housing Trust in Burlington, Vermont stewards more than 2,400 permanently affordable housing units and 670 shared-equity homes. That is 8% of Burlington's households.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Worker Cooperatives: the Mondragon federation in the Basque Country has operated for 70 years with more than 80,000 worker-owners across 100 cooperatives.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Open-Source Commons: Linux and Wikipedia demonstrate that commons-based production can exceed proprietary alternatives at global scale, without intellectual property monopoly as an incentive.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Community Development Finance: 1,432 Treasury-certified CDFIs hold more than $222 billion in assets nationally. These are the institutions through which Bootstrap Grants would flow under the FRDI Act.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FRDI Act does not create these institutions. It removes the legal barriers that keep them fragmented, provides the technical infrastructure that connects them, and supplies the capitalization that allows them to scale.</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VII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Constitutional</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Architecture</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Grounded from multiple interpretive frameworks simultaneously</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Constitutional Basis</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Readable from Every Interpretive Framework</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program is designed to be read as constitutionally grounded from originalist, textualist, and living-constitutionalist perspectives simultaneously: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FRDI Act: Article I Section 8 (the IP Commons, because the Constitution says "for limited times" and 70 years past death is not limited); Tenth Amendment (subsidiarity and jurisdictional autonomy)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HRCR Act: Eighth Amendment (proportionality and human dignity); Thirteenth Amendment (the prison labor exception has been exploited long enough); Fourteenth Amendment (equal protection, documented racial disparity); Fifth Amendment (due process: you cannot take someone's property without a conviction)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FCSAG: Article I Section 8 (defense powers exist to serve the people, not to protect monetary arrangements); Fifth Amendment (due process: a computer cannot make a final decision about your rights)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ISRN: Article II Section 2 (treaty power: the President is authorized to negotiate, not to abrogate unilaterally); Supremacy Clause (existing obligations are honored throughout the negotiation); Tenth Amendment (subsidiarity extended to the international scale)</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Human Rights by Design</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Human Rights by Design, Not Decree</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 common objection to decentralized governance: without a central enforcement authority, local communities can become insular or abusive. This program addresses that concern architecturally rather than bureaucratically.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peer audit system is the immune response. Every Qualified Federated Network must continuously demonstrate compliance with the Ostrom Standards of Stewardship to maintain certification and network access. A node that strips rights or concentrates power begins failing its peer audits. The protocol responds: resource flows are restricted, data portability is activated for affected members, and the node is isolated from network commons.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network does not police morals. It enforces protocol health. A community that violates human rights is treated like corrupted code: isolated, deprived of resources, and starved of human capital until it corrects or collapses.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Communities that build genuine inclusion into their own audit parameters out-innovate and out-survive monocultures. Diversity is not a mandate here; it is a competitive advantage. The math of systemic fitness makes the argument that legislation does not need to make by decree.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right to exit completes the picture. A member of a failing node is never trapped: commons identity, provision rights, and governance standing migrate with the person to any other Qualified Federated Network.</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VIII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CC0:</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No Permission Required</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Open legislative infrastructure: free to read, cite, adapt, introduce, and build upon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CC0 1.0 Universal</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Read It. Fork It. Make It Your Own.</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This program is published under CC0 1.0 Universal: the most complete public domain dedication available under copyright law. All copyright and related rights are waived permanently, irrevocably, worldwide, for any purpose.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What this means: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Legislators can introduce any or all of these bills under their own names, modify any provision, and use any section as model language. No attribution required. No notice required.</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Advocates can cite any provision as model language for state-level legislation, municipal ordinances, or organizational governance documents.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Community builders can implement the QFN certification criteria and the open-source technical standards now, at the community level, in advance of federal enactment.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Researchers can build on the empirical literature in the Findings sections without restriction.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permission required from anyone, ever. The intellectual foundation is Elinor Ostrom's. The institutional proof of concept belongs to the communities that built it. The drafting is offered to whoever will use it.</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Repository</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Where to Find the Full Text</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All four bills, the README explaining the sequential strategy, and supporting materials are at: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github.com/clg1980/LegislativeSequence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repository contains: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#1-FRDI_Act: Federal Resilience and Decentralization Initiatives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#2-HRCR_Act: Human Reclamation and Community Restorative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#3-FCSAG_Act: Federal Commons Security and Automation Governance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#4-ISRN_Act: International Sovereignty, Resilience and Nonproliferation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README.md: Overview, dependency map, governance as systems engineering, proof of concept, Ostrom's eight principles, constitutional foundations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LICENSE: CC0 1.0 Universal</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bills are drafted in standard federal legislative format with cross-references, conforming amendments, administrative provisions, and Findings sections that provide the evidentiary record a Committee Report would ordinarily supply.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panaceas." Elinor Ostrom, 2009</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256032"/>
            <a:ext cx="8321040" cy="420624"/>
          </a:xfrm>
          <a:prstGeom prst="roundRect">
            <a:avLst>
              <a:gd name="adj" fmla="val 10870"/>
            </a:avLst>
          </a:prstGeom>
          <a:solidFill>
            <a:srgbClr val="23201A"/>
          </a:solidFill>
          <a:ln/>
        </p:spPr>
      </p:sp>
      <p:sp>
        <p:nvSpPr>
          <p:cNvPr id="8" name="Text 6"/>
          <p:cNvSpPr/>
          <p:nvPr/>
        </p:nvSpPr>
        <p:spPr>
          <a:xfrm>
            <a:off x="411480" y="256032"/>
            <a:ext cx="8321040"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Resources</a:t>
            </a:r>
            <a:endParaRPr lang="en-US" sz="1500" dirty="0"/>
          </a:p>
        </p:txBody>
      </p:sp>
      <p:sp>
        <p:nvSpPr>
          <p:cNvPr id="9" name="Text 7"/>
          <p:cNvSpPr/>
          <p:nvPr/>
        </p:nvSpPr>
        <p:spPr>
          <a:xfrm>
            <a:off x="411480" y="804672"/>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Grounded Solutions Network (CLT sector, national census)  </a:t>
            </a:r>
            <a:pPr indent="0" marL="0">
              <a:buNone/>
            </a:pPr>
            <a:r>
              <a:rPr lang="en-US" sz="950" dirty="0">
                <a:solidFill>
                  <a:srgbClr val="4A4238"/>
                </a:solidFill>
                <a:latin typeface="Courier New" pitchFamily="34" charset="0"/>
                <a:ea typeface="Courier New" pitchFamily="34" charset="-122"/>
                <a:cs typeface="Courier New" pitchFamily="34" charset="-120"/>
              </a:rPr>
              <a:t>groundedsolutions.org</a:t>
            </a:r>
            <a:endParaRPr lang="en-US" sz="1050" dirty="0"/>
          </a:p>
        </p:txBody>
      </p:sp>
      <p:sp>
        <p:nvSpPr>
          <p:cNvPr id="10" name="Text 8"/>
          <p:cNvSpPr/>
          <p:nvPr/>
        </p:nvSpPr>
        <p:spPr>
          <a:xfrm>
            <a:off x="411480" y="1049731"/>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Champlain Housing Trust (Burlington, VT; primary CLT proof of concept)  </a:t>
            </a:r>
            <a:pPr indent="0" marL="0">
              <a:buNone/>
            </a:pPr>
            <a:r>
              <a:rPr lang="en-US" sz="950" dirty="0">
                <a:solidFill>
                  <a:srgbClr val="4A4238"/>
                </a:solidFill>
                <a:latin typeface="Courier New" pitchFamily="34" charset="0"/>
                <a:ea typeface="Courier New" pitchFamily="34" charset="-122"/>
                <a:cs typeface="Courier New" pitchFamily="34" charset="-120"/>
              </a:rPr>
              <a:t>getahome.org</a:t>
            </a:r>
            <a:endParaRPr lang="en-US" sz="1050" dirty="0"/>
          </a:p>
        </p:txBody>
      </p:sp>
      <p:sp>
        <p:nvSpPr>
          <p:cNvPr id="11" name="Text 9"/>
          <p:cNvSpPr/>
          <p:nvPr/>
        </p:nvSpPr>
        <p:spPr>
          <a:xfrm>
            <a:off x="411480" y="1294790"/>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United States Federation of Worker Cooperatives (USFWC)  </a:t>
            </a:r>
            <a:pPr indent="0" marL="0">
              <a:buNone/>
            </a:pPr>
            <a:r>
              <a:rPr lang="en-US" sz="950" dirty="0">
                <a:solidFill>
                  <a:srgbClr val="4A4238"/>
                </a:solidFill>
                <a:latin typeface="Courier New" pitchFamily="34" charset="0"/>
                <a:ea typeface="Courier New" pitchFamily="34" charset="-122"/>
                <a:cs typeface="Courier New" pitchFamily="34" charset="-120"/>
              </a:rPr>
              <a:t>usworker.coop</a:t>
            </a:r>
            <a:endParaRPr lang="en-US" sz="1050" dirty="0"/>
          </a:p>
        </p:txBody>
      </p:sp>
      <p:sp>
        <p:nvSpPr>
          <p:cNvPr id="12" name="Text 10"/>
          <p:cNvSpPr/>
          <p:nvPr/>
        </p:nvSpPr>
        <p:spPr>
          <a:xfrm>
            <a:off x="411480" y="1539850"/>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Democracy at Work Institute (DAWI)  </a:t>
            </a:r>
            <a:pPr indent="0" marL="0">
              <a:buNone/>
            </a:pPr>
            <a:r>
              <a:rPr lang="en-US" sz="950" dirty="0">
                <a:solidFill>
                  <a:srgbClr val="4A4238"/>
                </a:solidFill>
                <a:latin typeface="Courier New" pitchFamily="34" charset="0"/>
                <a:ea typeface="Courier New" pitchFamily="34" charset="-122"/>
                <a:cs typeface="Courier New" pitchFamily="34" charset="-120"/>
              </a:rPr>
              <a:t>institute.coop</a:t>
            </a:r>
            <a:endParaRPr lang="en-US" sz="1050" dirty="0"/>
          </a:p>
        </p:txBody>
      </p:sp>
      <p:sp>
        <p:nvSpPr>
          <p:cNvPr id="13" name="Text 11"/>
          <p:cNvSpPr/>
          <p:nvPr/>
        </p:nvSpPr>
        <p:spPr>
          <a:xfrm>
            <a:off x="411480" y="1784909"/>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NCBA CLUSA (National Cooperative Business Association)  </a:t>
            </a:r>
            <a:pPr indent="0" marL="0">
              <a:buNone/>
            </a:pPr>
            <a:r>
              <a:rPr lang="en-US" sz="950" dirty="0">
                <a:solidFill>
                  <a:srgbClr val="4A4238"/>
                </a:solidFill>
                <a:latin typeface="Courier New" pitchFamily="34" charset="0"/>
                <a:ea typeface="Courier New" pitchFamily="34" charset="-122"/>
                <a:cs typeface="Courier New" pitchFamily="34" charset="-120"/>
              </a:rPr>
              <a:t>ncbaclusa.coop</a:t>
            </a:r>
            <a:endParaRPr lang="en-US" sz="1050" dirty="0"/>
          </a:p>
        </p:txBody>
      </p:sp>
      <p:sp>
        <p:nvSpPr>
          <p:cNvPr id="14" name="Text 12"/>
          <p:cNvSpPr/>
          <p:nvPr/>
        </p:nvSpPr>
        <p:spPr>
          <a:xfrm>
            <a:off x="411480" y="2029968"/>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New Economy Coalition (200+ solidarity economy organizations)  </a:t>
            </a:r>
            <a:pPr indent="0" marL="0">
              <a:buNone/>
            </a:pPr>
            <a:r>
              <a:rPr lang="en-US" sz="950" dirty="0">
                <a:solidFill>
                  <a:srgbClr val="4A4238"/>
                </a:solidFill>
                <a:latin typeface="Courier New" pitchFamily="34" charset="0"/>
                <a:ea typeface="Courier New" pitchFamily="34" charset="-122"/>
                <a:cs typeface="Courier New" pitchFamily="34" charset="-120"/>
              </a:rPr>
              <a:t>neweconomy.net</a:t>
            </a:r>
            <a:endParaRPr lang="en-US" sz="1050" dirty="0"/>
          </a:p>
        </p:txBody>
      </p:sp>
      <p:sp>
        <p:nvSpPr>
          <p:cNvPr id="15" name="Text 13"/>
          <p:cNvSpPr/>
          <p:nvPr/>
        </p:nvSpPr>
        <p:spPr>
          <a:xfrm>
            <a:off x="411480" y="2275027"/>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Mondragon Corporation (Basque Country cooperative federation)  </a:t>
            </a:r>
            <a:pPr indent="0" marL="0">
              <a:buNone/>
            </a:pPr>
            <a:r>
              <a:rPr lang="en-US" sz="950" dirty="0">
                <a:solidFill>
                  <a:srgbClr val="4A4238"/>
                </a:solidFill>
                <a:latin typeface="Courier New" pitchFamily="34" charset="0"/>
                <a:ea typeface="Courier New" pitchFamily="34" charset="-122"/>
                <a:cs typeface="Courier New" pitchFamily="34" charset="-120"/>
              </a:rPr>
              <a:t>mondragon-corporation.com</a:t>
            </a:r>
            <a:endParaRPr lang="en-US" sz="1050" dirty="0"/>
          </a:p>
        </p:txBody>
      </p:sp>
      <p:sp>
        <p:nvSpPr>
          <p:cNvPr id="16" name="Text 14"/>
          <p:cNvSpPr/>
          <p:nvPr/>
        </p:nvSpPr>
        <p:spPr>
          <a:xfrm>
            <a:off x="411480" y="2520086"/>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LabGov / Co-City Protocol (urban commons governance, 200+ cities)  </a:t>
            </a:r>
            <a:pPr indent="0" marL="0">
              <a:buNone/>
            </a:pPr>
            <a:r>
              <a:rPr lang="en-US" sz="950" dirty="0">
                <a:solidFill>
                  <a:srgbClr val="4A4238"/>
                </a:solidFill>
                <a:latin typeface="Courier New" pitchFamily="34" charset="0"/>
                <a:ea typeface="Courier New" pitchFamily="34" charset="-122"/>
                <a:cs typeface="Courier New" pitchFamily="34" charset="-120"/>
              </a:rPr>
              <a:t>labgov.city</a:t>
            </a:r>
            <a:endParaRPr lang="en-US" sz="1050" dirty="0"/>
          </a:p>
        </p:txBody>
      </p:sp>
      <p:sp>
        <p:nvSpPr>
          <p:cNvPr id="17" name="Text 15"/>
          <p:cNvSpPr/>
          <p:nvPr/>
        </p:nvSpPr>
        <p:spPr>
          <a:xfrm>
            <a:off x="411480" y="2765146"/>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Decidim Foundation (participatory governance platform, 400+ cities)  </a:t>
            </a:r>
            <a:pPr indent="0" marL="0">
              <a:buNone/>
            </a:pPr>
            <a:r>
              <a:rPr lang="en-US" sz="950" dirty="0">
                <a:solidFill>
                  <a:srgbClr val="4A4238"/>
                </a:solidFill>
                <a:latin typeface="Courier New" pitchFamily="34" charset="0"/>
                <a:ea typeface="Courier New" pitchFamily="34" charset="-122"/>
                <a:cs typeface="Courier New" pitchFamily="34" charset="-120"/>
              </a:rPr>
              <a:t>decidim.org</a:t>
            </a:r>
            <a:endParaRPr lang="en-US" sz="1050" dirty="0"/>
          </a:p>
        </p:txBody>
      </p:sp>
      <p:sp>
        <p:nvSpPr>
          <p:cNvPr id="18" name="Text 16"/>
          <p:cNvSpPr/>
          <p:nvPr/>
        </p:nvSpPr>
        <p:spPr>
          <a:xfrm>
            <a:off x="411480" y="3010205"/>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RIPESS (Intercontinental Network for Social Solidarity Economy)  </a:t>
            </a:r>
            <a:pPr indent="0" marL="0">
              <a:buNone/>
            </a:pPr>
            <a:r>
              <a:rPr lang="en-US" sz="950" dirty="0">
                <a:solidFill>
                  <a:srgbClr val="4A4238"/>
                </a:solidFill>
                <a:latin typeface="Courier New" pitchFamily="34" charset="0"/>
                <a:ea typeface="Courier New" pitchFamily="34" charset="-122"/>
                <a:cs typeface="Courier New" pitchFamily="34" charset="-120"/>
              </a:rPr>
              <a:t>ripess.org</a:t>
            </a:r>
            <a:endParaRPr lang="en-US" sz="1050" dirty="0"/>
          </a:p>
        </p:txBody>
      </p:sp>
      <p:sp>
        <p:nvSpPr>
          <p:cNvPr id="19" name="Text 17"/>
          <p:cNvSpPr/>
          <p:nvPr/>
        </p:nvSpPr>
        <p:spPr>
          <a:xfrm>
            <a:off x="411480" y="3255264"/>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P2P Foundation (commons-based peer production, global)  </a:t>
            </a:r>
            <a:pPr indent="0" marL="0">
              <a:buNone/>
            </a:pPr>
            <a:r>
              <a:rPr lang="en-US" sz="950" dirty="0">
                <a:solidFill>
                  <a:srgbClr val="4A4238"/>
                </a:solidFill>
                <a:latin typeface="Courier New" pitchFamily="34" charset="0"/>
                <a:ea typeface="Courier New" pitchFamily="34" charset="-122"/>
                <a:cs typeface="Courier New" pitchFamily="34" charset="-120"/>
              </a:rPr>
              <a:t>p2pfoundation.net</a:t>
            </a:r>
            <a:endParaRPr lang="en-US" sz="1050" dirty="0"/>
          </a:p>
        </p:txBody>
      </p:sp>
      <p:sp>
        <p:nvSpPr>
          <p:cNvPr id="20" name="Text 18"/>
          <p:cNvSpPr/>
          <p:nvPr/>
        </p:nvSpPr>
        <p:spPr>
          <a:xfrm>
            <a:off x="411480" y="3500323"/>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Creative Commons  </a:t>
            </a:r>
            <a:pPr indent="0" marL="0">
              <a:buNone/>
            </a:pPr>
            <a:r>
              <a:rPr lang="en-US" sz="950" dirty="0">
                <a:solidFill>
                  <a:srgbClr val="4A4238"/>
                </a:solidFill>
                <a:latin typeface="Courier New" pitchFamily="34" charset="0"/>
                <a:ea typeface="Courier New" pitchFamily="34" charset="-122"/>
                <a:cs typeface="Courier New" pitchFamily="34" charset="-120"/>
              </a:rPr>
              <a:t>creativecommons.org</a:t>
            </a:r>
            <a:endParaRPr lang="en-US" sz="1050" dirty="0"/>
          </a:p>
        </p:txBody>
      </p:sp>
      <p:sp>
        <p:nvSpPr>
          <p:cNvPr id="21" name="Text 19"/>
          <p:cNvSpPr/>
          <p:nvPr/>
        </p:nvSpPr>
        <p:spPr>
          <a:xfrm>
            <a:off x="411480" y="3745382"/>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Ostrom Workshop, Indiana University  </a:t>
            </a:r>
            <a:pPr indent="0" marL="0">
              <a:buNone/>
            </a:pPr>
            <a:r>
              <a:rPr lang="en-US" sz="950" dirty="0">
                <a:solidFill>
                  <a:srgbClr val="4A4238"/>
                </a:solidFill>
                <a:latin typeface="Courier New" pitchFamily="34" charset="0"/>
                <a:ea typeface="Courier New" pitchFamily="34" charset="-122"/>
                <a:cs typeface="Courier New" pitchFamily="34" charset="-120"/>
              </a:rPr>
              <a:t>ostromworkshop.indiana.edu</a:t>
            </a:r>
            <a:endParaRPr lang="en-US" sz="1050" dirty="0"/>
          </a:p>
        </p:txBody>
      </p:sp>
      <p:sp>
        <p:nvSpPr>
          <p:cNvPr id="22" name="Text 20"/>
          <p:cNvSpPr/>
          <p:nvPr/>
        </p:nvSpPr>
        <p:spPr>
          <a:xfrm>
            <a:off x="411480" y="3990442"/>
            <a:ext cx="8321040" cy="235915"/>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Elinor Ostrom Award  </a:t>
            </a:r>
            <a:pPr indent="0" marL="0">
              <a:buNone/>
            </a:pPr>
            <a:r>
              <a:rPr lang="en-US" sz="950" dirty="0">
                <a:solidFill>
                  <a:srgbClr val="4A4238"/>
                </a:solidFill>
                <a:latin typeface="Courier New" pitchFamily="34" charset="0"/>
                <a:ea typeface="Courier New" pitchFamily="34" charset="-122"/>
                <a:cs typeface="Courier New" pitchFamily="34" charset="-120"/>
              </a:rPr>
              <a:t>elinorostromaward.org</a:t>
            </a:r>
            <a:endParaRPr lang="en-US" sz="1050" dirty="0"/>
          </a:p>
        </p:txBody>
      </p:sp>
      <p:sp>
        <p:nvSpPr>
          <p:cNvPr id="23" name="Text 21"/>
          <p:cNvSpPr/>
          <p:nvPr/>
        </p:nvSpPr>
        <p:spPr>
          <a:xfrm>
            <a:off x="411480" y="4279392"/>
            <a:ext cx="2194560" cy="256032"/>
          </a:xfrm>
          <a:prstGeom prst="rect">
            <a:avLst/>
          </a:prstGeom>
          <a:noFill/>
          <a:ln/>
        </p:spPr>
        <p:txBody>
          <a:bodyPr wrap="square" rtlCol="0" anchor="ctr"/>
          <a:lstStyle/>
          <a:p>
            <a:pPr indent="0" marL="0">
              <a:buNone/>
            </a:pPr>
            <a:r>
              <a:rPr lang="en-US" sz="1000" b="1" dirty="0">
                <a:solidFill>
                  <a:srgbClr val="1A1814"/>
                </a:solidFill>
                <a:latin typeface="Calibri" pitchFamily="34" charset="0"/>
                <a:ea typeface="Calibri" pitchFamily="34" charset="-122"/>
                <a:cs typeface="Calibri" pitchFamily="34" charset="-120"/>
              </a:rPr>
              <a:t>Full bill text &amp; README:</a:t>
            </a:r>
            <a:endParaRPr lang="en-US" sz="1000" dirty="0"/>
          </a:p>
        </p:txBody>
      </p:sp>
      <p:sp>
        <p:nvSpPr>
          <p:cNvPr id="24" name="Text 22"/>
          <p:cNvSpPr/>
          <p:nvPr/>
        </p:nvSpPr>
        <p:spPr>
          <a:xfrm>
            <a:off x="2606040" y="4279392"/>
            <a:ext cx="6126480" cy="256032"/>
          </a:xfrm>
          <a:prstGeom prst="rect">
            <a:avLst/>
          </a:prstGeom>
          <a:noFill/>
          <a:ln/>
        </p:spPr>
        <p:txBody>
          <a:bodyPr wrap="square" rtlCol="0" anchor="ctr"/>
          <a:lstStyle/>
          <a:p>
            <a:pPr indent="0" marL="0">
              <a:buNone/>
            </a:pPr>
            <a:r>
              <a:rPr lang="en-US" sz="1000" dirty="0">
                <a:solidFill>
                  <a:srgbClr val="4A4238"/>
                </a:solidFill>
                <a:latin typeface="Courier New" pitchFamily="34" charset="0"/>
                <a:ea typeface="Courier New" pitchFamily="34" charset="-122"/>
                <a:cs typeface="Courier New" pitchFamily="34" charset="-120"/>
              </a:rPr>
              <a:t>github.com/clg1980/LegislativeSequence</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256032"/>
            <a:ext cx="8321040" cy="420624"/>
          </a:xfrm>
          <a:prstGeom prst="roundRect">
            <a:avLst>
              <a:gd name="adj" fmla="val 10870"/>
            </a:avLst>
          </a:prstGeom>
          <a:solidFill>
            <a:srgbClr val="23201A"/>
          </a:solidFill>
          <a:ln/>
        </p:spPr>
      </p:sp>
      <p:sp>
        <p:nvSpPr>
          <p:cNvPr id="8" name="Text 6"/>
          <p:cNvSpPr/>
          <p:nvPr/>
        </p:nvSpPr>
        <p:spPr>
          <a:xfrm>
            <a:off x="411480" y="256032"/>
            <a:ext cx="8321040"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Further Reading</a:t>
            </a:r>
            <a:endParaRPr lang="en-US" sz="1500" dirty="0"/>
          </a:p>
        </p:txBody>
      </p:sp>
      <p:sp>
        <p:nvSpPr>
          <p:cNvPr id="9" name="Text 7"/>
          <p:cNvSpPr/>
          <p:nvPr/>
        </p:nvSpPr>
        <p:spPr>
          <a:xfrm>
            <a:off x="411480" y="8046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Governing the Commons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(1990, Cambridge University Press),  Elinor Ostrom.</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foundational work. Eight design principles derived from empirical fieldwork across five continents.</a:t>
            </a:r>
            <a:endParaRPr lang="en-US" sz="1100" dirty="0"/>
          </a:p>
        </p:txBody>
      </p:sp>
      <p:sp>
        <p:nvSpPr>
          <p:cNvPr id="10" name="Text 8"/>
          <p:cNvSpPr/>
          <p:nvPr/>
        </p:nvSpPr>
        <p:spPr>
          <a:xfrm>
            <a:off x="411480" y="12618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Beyond Markets and States: Polycentric Governance of Complex Economic Systems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(2009 Nobel Lecture, American Economic Review),  Elinor Ostrom.</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Ostrom's Nobel Prize lecture; the clearest single statement of the polycentric governance argument.</a:t>
            </a:r>
            <a:endParaRPr lang="en-US" sz="1100" dirty="0"/>
          </a:p>
        </p:txBody>
      </p:sp>
      <p:sp>
        <p:nvSpPr>
          <p:cNvPr id="11" name="Text 9"/>
          <p:cNvSpPr/>
          <p:nvPr/>
        </p:nvSpPr>
        <p:spPr>
          <a:xfrm>
            <a:off x="411480" y="17190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Think Like a Commoner</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(2014, New Society Publishers),  David Bollier.</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most accessible introduction to commons theory for a non-academic audience.</a:t>
            </a:r>
            <a:endParaRPr lang="en-US" sz="1100" dirty="0"/>
          </a:p>
        </p:txBody>
      </p:sp>
      <p:sp>
        <p:nvSpPr>
          <p:cNvPr id="12" name="Text 10"/>
          <p:cNvSpPr/>
          <p:nvPr/>
        </p:nvSpPr>
        <p:spPr>
          <a:xfrm>
            <a:off x="411480" y="21762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Peer to Peer: The Commons Manifesto</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(2019, University of Westminster Press),  Michel Bauwens, Vasilis Kostakis &amp; Alex Pazaitis.</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P2P Foundation framework for commons-based peer production at planetary scale.</a:t>
            </a:r>
            <a:endParaRPr lang="en-US" sz="1100" dirty="0"/>
          </a:p>
        </p:txBody>
      </p:sp>
      <p:sp>
        <p:nvSpPr>
          <p:cNvPr id="13" name="Text 11"/>
          <p:cNvSpPr/>
          <p:nvPr/>
        </p:nvSpPr>
        <p:spPr>
          <a:xfrm>
            <a:off x="411480" y="26334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Debt: The First 5,000 Years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(2011, Melville House),  David Graeber.</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anthropological and historical case against debt as a governance instrument. Context for monetary assessment abolition and the commons credit system.</a:t>
            </a:r>
            <a:endParaRPr lang="en-US" sz="1100" dirty="0"/>
          </a:p>
        </p:txBody>
      </p:sp>
      <p:sp>
        <p:nvSpPr>
          <p:cNvPr id="14" name="Text 12"/>
          <p:cNvSpPr/>
          <p:nvPr/>
        </p:nvSpPr>
        <p:spPr>
          <a:xfrm>
            <a:off x="411480" y="30906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Collective Courage</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(2014, Penn State University Press),  Jessica Gordon Nembhard.</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definitive history of Black cooperative economics in America. Essential context for the CLT and cooperative movement.</a:t>
            </a:r>
            <a:endParaRPr lang="en-US" sz="1100" dirty="0"/>
          </a:p>
        </p:txBody>
      </p:sp>
      <p:sp>
        <p:nvSpPr>
          <p:cNvPr id="15" name="Text 13"/>
          <p:cNvSpPr/>
          <p:nvPr/>
        </p:nvSpPr>
        <p:spPr>
          <a:xfrm>
            <a:off x="411480" y="35478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Doughnut Economics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(2017, Chelsea Green Publishing),  Kate Raworth.</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Post-GDP economics with commons economy as a central pillar. Accessible entry point for the economic architecture.</a:t>
            </a:r>
            <a:endParaRPr lang="en-US" sz="1100" dirty="0"/>
          </a:p>
        </p:txBody>
      </p:sp>
      <p:sp>
        <p:nvSpPr>
          <p:cNvPr id="16" name="Text 14"/>
          <p:cNvSpPr/>
          <p:nvPr/>
        </p:nvSpPr>
        <p:spPr>
          <a:xfrm>
            <a:off x="411480" y="40050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America Beyond Capitalism</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(2005 / 2nd ed. 2011, Democracy Collaborative Press),  Gar Alperovitz.</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domestic case for systemic economic transformation through cooperative and commons institutions.</a:t>
            </a:r>
            <a:endParaRPr lang="en-US" sz="1100" dirty="0"/>
          </a:p>
        </p:txBody>
      </p:sp>
      <p:sp>
        <p:nvSpPr>
          <p:cNvPr id="17" name="Text 15"/>
          <p:cNvSpPr/>
          <p:nvPr/>
        </p:nvSpPr>
        <p:spPr>
          <a:xfrm>
            <a:off x="411480" y="44622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Entangled Life</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(2020, Random House),  Merlin Sheldrake.</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science of mycorrhizal networks as a biological parallel to the polycentric federated mesh architecture. Recommended for the intellectually curious.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A Commons Legislative Program for the United States</dc:title>
  <dc:subject>PptxGenJS Presentation</dc:subject>
  <dc:creator>Curtis L. Gates</dc:creator>
  <cp:lastModifiedBy>Curtis L. Gates</cp:lastModifiedBy>
  <cp:revision>1</cp:revision>
  <dcterms:created xsi:type="dcterms:W3CDTF">2026-07-04T15:47:19Z</dcterms:created>
  <dcterms:modified xsi:type="dcterms:W3CDTF">2026-07-04T15:47:19Z</dcterms:modified>
</cp:coreProperties>
</file>