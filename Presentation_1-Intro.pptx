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deck. If someone sits through no other presentation, this one should give them a full picture. Each bill also has its own full presentation with Findings-anchored deep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binary of private ownership versus state control has failed. The commons is a third option, not a compromise between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opening argument. The program is not left or right. It names a third institutional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cross-spectrum framing. Governance as systems engineering is the claim that interests conservatives, libertarians, engineers, and military logistics thinkers just as much as progressives.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encodes her eight design principles in federal law as operative legal standards, not aspirational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Ostrom is the intellectual foundation of the entire program. The eight design principles are not a philosophy. They are a specification derived from empirical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2 Local Congruence is the most important for a skeptical audience: the program does not impose a single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bills, each standing on its own. The dependency logic is addressed separately. Here: what each bill actually does and why its provisions are good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sentence: all four bills are ready now. Someone can introduce Vol. I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Follows the four bill summaries. The reader now knows what each bill does; the sequencing argument lands with that context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institution this program proposes to scale already exists and already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persuasive slide for a skeptical audience. The answer to 'has this been tried?' is empirical: yes, at scale, for decades, in multiple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Findings sections do the evidentiary work that a Committee Report would ordinarily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constitutional anchors are real and carefully chosen. The claim is not that every judge will agree. The claim is that each provision has a serious, bill-specific constitutional argument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'but what about bad local actors?' objection. The peer audit immune system makes rights violations structurally self-defeating without requiring a federal enforcement bureaucracy.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CC0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CC0 is the operative expression of the program's philosophy. The most powerful thing a citizen legislative drafter can do is give the work away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The GitHub URL is the call to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01A"/>
        </a:solidFill>
      </p:bgPr>
    </p:bg>
    <p:spTree>
      <p:nvGrpSpPr>
        <p:cNvPr id="1" name=""/>
        <p:cNvGrpSpPr/>
        <p:nvPr/>
      </p:nvGrpSpPr>
      <p:grpSpPr>
        <a:xfrm>
          <a:off x="0" y="0"/>
          <a:ext cx="0" cy="0"/>
          <a:chOff x="0" y="0"/>
          <a:chExt cx="0" cy="0"/>
        </a:xfrm>
      </p:grpSpPr>
      <p:sp>
        <p:nvSpPr>
          <p:cNvPr id="2" name="Shape 0"/>
          <p:cNvSpPr/>
          <p:nvPr/>
        </p:nvSpPr>
        <p:spPr>
          <a:xfrm>
            <a:off x="0" y="2487168"/>
            <a:ext cx="1847088" cy="164592"/>
          </a:xfrm>
          <a:prstGeom prst="rect">
            <a:avLst/>
          </a:prstGeom>
          <a:solidFill>
            <a:srgbClr val="2C5F2D"/>
          </a:solidFill>
          <a:ln w="12700">
            <a:solidFill>
              <a:srgbClr val="2C5F2D"/>
            </a:solidFill>
            <a:prstDash val="solid"/>
          </a:ln>
        </p:spPr>
      </p:sp>
      <p:sp>
        <p:nvSpPr>
          <p:cNvPr id="3" name="Shape 1"/>
          <p:cNvSpPr/>
          <p:nvPr/>
        </p:nvSpPr>
        <p:spPr>
          <a:xfrm>
            <a:off x="1828800" y="2487168"/>
            <a:ext cx="1847088" cy="164592"/>
          </a:xfrm>
          <a:prstGeom prst="rect">
            <a:avLst/>
          </a:prstGeom>
          <a:solidFill>
            <a:srgbClr val="97BC62"/>
          </a:solidFill>
          <a:ln w="12700">
            <a:solidFill>
              <a:srgbClr val="97BC62"/>
            </a:solidFill>
            <a:prstDash val="solid"/>
          </a:ln>
        </p:spPr>
      </p:sp>
      <p:sp>
        <p:nvSpPr>
          <p:cNvPr id="4" name="Shape 2"/>
          <p:cNvSpPr/>
          <p:nvPr/>
        </p:nvSpPr>
        <p:spPr>
          <a:xfrm>
            <a:off x="3657600" y="2487168"/>
            <a:ext cx="1847088" cy="164592"/>
          </a:xfrm>
          <a:prstGeom prst="rect">
            <a:avLst/>
          </a:prstGeom>
          <a:solidFill>
            <a:srgbClr val="E07A5F"/>
          </a:solidFill>
          <a:ln w="12700">
            <a:solidFill>
              <a:srgbClr val="E07A5F"/>
            </a:solidFill>
            <a:prstDash val="solid"/>
          </a:ln>
        </p:spPr>
      </p:sp>
      <p:sp>
        <p:nvSpPr>
          <p:cNvPr id="5" name="Shape 3"/>
          <p:cNvSpPr/>
          <p:nvPr/>
        </p:nvSpPr>
        <p:spPr>
          <a:xfrm>
            <a:off x="5486400" y="2487168"/>
            <a:ext cx="1847088" cy="164592"/>
          </a:xfrm>
          <a:prstGeom prst="rect">
            <a:avLst/>
          </a:prstGeom>
          <a:solidFill>
            <a:srgbClr val="4A90D9"/>
          </a:solidFill>
          <a:ln w="12700">
            <a:solidFill>
              <a:srgbClr val="4A90D9"/>
            </a:solidFill>
            <a:prstDash val="solid"/>
          </a:ln>
        </p:spPr>
      </p:sp>
      <p:sp>
        <p:nvSpPr>
          <p:cNvPr id="6" name="Shape 4"/>
          <p:cNvSpPr/>
          <p:nvPr/>
        </p:nvSpPr>
        <p:spPr>
          <a:xfrm>
            <a:off x="7315200" y="2487168"/>
            <a:ext cx="1847088" cy="164592"/>
          </a:xfrm>
          <a:prstGeom prst="rect">
            <a:avLst/>
          </a:prstGeom>
          <a:solidFill>
            <a:srgbClr val="C9A84C"/>
          </a:solidFill>
          <a:ln w="12700">
            <a:solidFill>
              <a:srgbClr val="C9A84C"/>
            </a:solidFill>
            <a:prstDash val="solid"/>
          </a:ln>
        </p:spPr>
      </p:sp>
      <p:sp>
        <p:nvSpPr>
          <p:cNvPr id="7" name="Text 5"/>
          <p:cNvSpPr/>
          <p:nvPr/>
        </p:nvSpPr>
        <p:spPr>
          <a:xfrm>
            <a:off x="457200" y="411480"/>
            <a:ext cx="8229600" cy="384048"/>
          </a:xfrm>
          <a:prstGeom prst="rect">
            <a:avLst/>
          </a:prstGeom>
          <a:noFill/>
          <a:ln/>
        </p:spPr>
        <p:txBody>
          <a:bodyPr wrap="square" rtlCol="0" anchor="ctr"/>
          <a:lstStyle/>
          <a:p>
            <a:pPr algn="ctr" indent="0" marL="0">
              <a:buNone/>
            </a:pPr>
            <a:r>
              <a:rPr lang="en-US" sz="1300" b="1" spc="500" kern="0" dirty="0">
                <a:solidFill>
                  <a:srgbClr val="97BC62"/>
                </a:solidFill>
                <a:latin typeface="Calibri" pitchFamily="34" charset="0"/>
                <a:ea typeface="Calibri" pitchFamily="34" charset="-122"/>
                <a:cs typeface="Calibri" pitchFamily="34" charset="-120"/>
              </a:rPr>
              <a:t>Introduction to the Program</a:t>
            </a:r>
            <a:endParaRPr lang="en-US" sz="1300" dirty="0"/>
          </a:p>
        </p:txBody>
      </p:sp>
      <p:sp>
        <p:nvSpPr>
          <p:cNvPr id="8" name="Text 6"/>
          <p:cNvSpPr/>
          <p:nvPr/>
        </p:nvSpPr>
        <p:spPr>
          <a:xfrm>
            <a:off x="457200" y="868680"/>
            <a:ext cx="8229600" cy="1463040"/>
          </a:xfrm>
          <a:prstGeom prst="rect">
            <a:avLst/>
          </a:prstGeom>
          <a:noFill/>
          <a:ln/>
        </p:spPr>
        <p:txBody>
          <a:bodyPr wrap="square"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A Commons Legislative Program</a:t>
            </a:r>
            <a:endParaRPr lang="en-US" sz="3800" dirty="0"/>
          </a:p>
          <a:p>
            <a:pPr algn="ctr" indent="0" marL="0">
              <a:buNone/>
            </a:pPr>
            <a:r>
              <a:rPr lang="en-US" sz="3800" b="1" dirty="0">
                <a:solidFill>
                  <a:srgbClr val="FFFFFF"/>
                </a:solidFill>
                <a:latin typeface="Cambria" pitchFamily="34" charset="0"/>
                <a:ea typeface="Cambria" pitchFamily="34" charset="-122"/>
                <a:cs typeface="Cambria" pitchFamily="34" charset="-120"/>
              </a:rPr>
              <a:t>for the United States</a:t>
            </a:r>
            <a:endParaRPr lang="en-US" sz="3800" dirty="0"/>
          </a:p>
        </p:txBody>
      </p:sp>
      <p:sp>
        <p:nvSpPr>
          <p:cNvPr id="9" name="Text 7"/>
          <p:cNvSpPr/>
          <p:nvPr/>
        </p:nvSpPr>
        <p:spPr>
          <a:xfrm>
            <a:off x="457200" y="2761488"/>
            <a:ext cx="8229600" cy="384048"/>
          </a:xfrm>
          <a:prstGeom prst="rect">
            <a:avLst/>
          </a:prstGeom>
          <a:noFill/>
          <a:ln/>
        </p:spPr>
        <p:txBody>
          <a:bodyPr wrap="square" rtlCol="0" anchor="ctr"/>
          <a:lstStyle/>
          <a:p>
            <a:pPr algn="ctr" indent="0" marL="0">
              <a:buNone/>
            </a:pPr>
            <a:r>
              <a:rPr lang="en-US" sz="1500" i="1" dirty="0">
                <a:solidFill>
                  <a:srgbClr val="97BC62"/>
                </a:solidFill>
                <a:latin typeface="Calibri" pitchFamily="34" charset="0"/>
                <a:ea typeface="Calibri" pitchFamily="34" charset="-122"/>
                <a:cs typeface="Calibri" pitchFamily="34" charset="-120"/>
              </a:rPr>
              <a:t>A Polycentric Commons Legislative Program</a:t>
            </a:r>
            <a:endParaRPr lang="en-US" sz="1500" dirty="0"/>
          </a:p>
        </p:txBody>
      </p:sp>
      <p:sp>
        <p:nvSpPr>
          <p:cNvPr id="10" name="Text 8"/>
          <p:cNvSpPr/>
          <p:nvPr/>
        </p:nvSpPr>
        <p:spPr>
          <a:xfrm>
            <a:off x="914400" y="3200400"/>
            <a:ext cx="7315200" cy="347472"/>
          </a:xfrm>
          <a:prstGeom prst="rect">
            <a:avLst/>
          </a:prstGeom>
          <a:noFill/>
          <a:ln/>
        </p:spPr>
        <p:txBody>
          <a:bodyPr wrap="square" rtlCol="0" anchor="ctr"/>
          <a:lstStyle/>
          <a:p>
            <a:pPr algn="ctr" indent="0" marL="0">
              <a:buNone/>
            </a:pPr>
            <a:r>
              <a:rPr lang="en-US" sz="1300" dirty="0">
                <a:solidFill>
                  <a:srgbClr val="F8F6F0"/>
                </a:solidFill>
                <a:latin typeface="Calibri" pitchFamily="34" charset="0"/>
                <a:ea typeface="Calibri" pitchFamily="34" charset="-122"/>
                <a:cs typeface="Calibri" pitchFamily="34" charset="-120"/>
              </a:rPr>
              <a:t>Four-Bill Series | Citizen-Drafted Federal Legislation</a:t>
            </a:r>
            <a:endParaRPr lang="en-US" sz="1300" dirty="0"/>
          </a:p>
        </p:txBody>
      </p:sp>
      <p:sp>
        <p:nvSpPr>
          <p:cNvPr id="11" name="Text 9"/>
          <p:cNvSpPr/>
          <p:nvPr/>
        </p:nvSpPr>
        <p:spPr>
          <a:xfrm>
            <a:off x="914400" y="3621024"/>
            <a:ext cx="7315200" cy="566928"/>
          </a:xfrm>
          <a:prstGeom prst="rect">
            <a:avLst/>
          </a:prstGeom>
          <a:noFill/>
          <a:ln/>
        </p:spPr>
        <p:txBody>
          <a:bodyPr wrap="square" rtlCol="0" anchor="ctr"/>
          <a:lstStyle/>
          <a:p>
            <a:pPr algn="ctr" indent="0" marL="0">
              <a:buNone/>
            </a:pPr>
            <a:r>
              <a:rPr lang="en-US" sz="1200" dirty="0">
                <a:solidFill>
                  <a:srgbClr val="BBBBBB"/>
                </a:solidFill>
                <a:latin typeface="Calibri" pitchFamily="34" charset="0"/>
                <a:ea typeface="Calibri" pitchFamily="34" charset="-122"/>
                <a:cs typeface="Calibri" pitchFamily="34" charset="-120"/>
              </a:rPr>
              <a:t>Built on the Governance Design Principles of Elinor Ostrom</a:t>
            </a:r>
            <a:endParaRPr lang="en-US" sz="1200" dirty="0"/>
          </a:p>
          <a:p>
            <a:pPr algn="ctr" indent="0" marL="0">
              <a:buNone/>
            </a:pPr>
            <a:r>
              <a:rPr lang="en-US" sz="1200" dirty="0">
                <a:solidFill>
                  <a:srgbClr val="BBBBBB"/>
                </a:solidFill>
                <a:latin typeface="Calibri" pitchFamily="34" charset="0"/>
                <a:ea typeface="Calibri" pitchFamily="34" charset="-122"/>
                <a:cs typeface="Calibri" pitchFamily="34" charset="-120"/>
              </a:rPr>
              <a:t>Nobel Laureate in Economics, 2009</a:t>
            </a:r>
            <a:endParaRPr lang="en-US" sz="1200" dirty="0"/>
          </a:p>
        </p:txBody>
      </p:sp>
      <p:sp>
        <p:nvSpPr>
          <p:cNvPr id="12" name="Text 10"/>
          <p:cNvSpPr/>
          <p:nvPr/>
        </p:nvSpPr>
        <p:spPr>
          <a:xfrm>
            <a:off x="457200" y="4663440"/>
            <a:ext cx="8229600" cy="320040"/>
          </a:xfrm>
          <a:prstGeom prst="rect">
            <a:avLst/>
          </a:prstGeom>
          <a:noFill/>
          <a:ln/>
        </p:spPr>
        <p:txBody>
          <a:bodyPr wrap="square" rtlCol="0" anchor="ctr"/>
          <a:lstStyle/>
          <a:p>
            <a:pPr algn="ctr" indent="0" marL="0">
              <a:buNone/>
            </a:pPr>
            <a:r>
              <a:rPr lang="en-US" sz="1100" dirty="0">
                <a:solidFill>
                  <a:srgbClr val="555047"/>
                </a:solidFill>
                <a:latin typeface="Courier New" pitchFamily="34" charset="0"/>
                <a:ea typeface="Courier New" pitchFamily="34" charset="-122"/>
                <a:cs typeface="Courier New" pitchFamily="34" charset="-120"/>
              </a:rPr>
              <a:t>github.com/clg1980/LegislativeSequence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3201A"/>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Text 5"/>
          <p:cNvSpPr/>
          <p:nvPr/>
        </p:nvSpPr>
        <p:spPr>
          <a:xfrm>
            <a:off x="411480" y="594360"/>
            <a:ext cx="8229600" cy="384048"/>
          </a:xfrm>
          <a:prstGeom prst="rect">
            <a:avLst/>
          </a:prstGeom>
          <a:noFill/>
          <a:ln/>
        </p:spPr>
        <p:txBody>
          <a:bodyPr wrap="square" rtlCol="0" anchor="ctr"/>
          <a:lstStyle/>
          <a:p>
            <a:pPr indent="0" marL="0">
              <a:buNone/>
            </a:pPr>
            <a:r>
              <a:rPr lang="en-US" sz="1400" b="1" spc="400" kern="0" dirty="0">
                <a:solidFill>
                  <a:srgbClr val="97BC62"/>
                </a:solidFill>
                <a:latin typeface="Arial" pitchFamily="34" charset="0"/>
                <a:ea typeface="Arial" pitchFamily="34" charset="-122"/>
                <a:cs typeface="Arial" pitchFamily="34" charset="-120"/>
              </a:rPr>
              <a:t>Section I</a:t>
            </a:r>
            <a:endParaRPr lang="en-US" sz="1400" dirty="0"/>
          </a:p>
        </p:txBody>
      </p:sp>
      <p:sp>
        <p:nvSpPr>
          <p:cNvPr id="8" name="Text 6"/>
          <p:cNvSpPr/>
          <p:nvPr/>
        </p:nvSpPr>
        <p:spPr>
          <a:xfrm>
            <a:off x="411480" y="1005840"/>
            <a:ext cx="8229600" cy="19202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Question</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This Program Answers</a:t>
            </a:r>
            <a:endParaRPr lang="en-US" sz="3400" dirty="0"/>
          </a:p>
        </p:txBody>
      </p:sp>
      <p:sp>
        <p:nvSpPr>
          <p:cNvPr id="9" name="Text 7"/>
          <p:cNvSpPr/>
          <p:nvPr/>
        </p:nvSpPr>
        <p:spPr>
          <a:xfrm>
            <a:off x="411480" y="3017520"/>
            <a:ext cx="8229600" cy="777240"/>
          </a:xfrm>
          <a:prstGeom prst="rect">
            <a:avLst/>
          </a:prstGeom>
          <a:noFill/>
          <a:ln/>
        </p:spPr>
        <p:txBody>
          <a:bodyPr wrap="square" rtlCol="0" anchor="ctr"/>
          <a:lstStyle/>
          <a:p>
            <a:pPr indent="0" marL="0">
              <a:buNone/>
            </a:pPr>
            <a:r>
              <a:rPr lang="en-US" sz="1500" i="1" dirty="0">
                <a:solidFill>
                  <a:srgbClr val="F8F6F0"/>
                </a:solidFill>
                <a:latin typeface="Calibri" pitchFamily="34" charset="0"/>
                <a:ea typeface="Calibri" pitchFamily="34" charset="-122"/>
                <a:cs typeface="Calibri" pitchFamily="34" charset="-120"/>
              </a:rPr>
              <a:t>What comes after collapse?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320040"/>
            <a:ext cx="1280160" cy="347472"/>
          </a:xfrm>
          <a:prstGeom prst="roundRect">
            <a:avLst>
              <a:gd name="adj" fmla="val 13158"/>
            </a:avLst>
          </a:prstGeom>
          <a:solidFill>
            <a:srgbClr val="23201A"/>
          </a:solidFill>
          <a:ln/>
        </p:spPr>
      </p:sp>
      <p:sp>
        <p:nvSpPr>
          <p:cNvPr id="8" name="Text 6"/>
          <p:cNvSpPr/>
          <p:nvPr/>
        </p:nvSpPr>
        <p:spPr>
          <a:xfrm>
            <a:off x="411480" y="320040"/>
            <a:ext cx="1280160" cy="347472"/>
          </a:xfrm>
          <a:prstGeom prst="rect">
            <a:avLst/>
          </a:prstGeom>
          <a:noFill/>
          <a:ln/>
        </p:spPr>
        <p:txBody>
          <a:bodyPr wrap="square" lIns="0" tIns="0" rIns="0" bIns="0" rtlCol="0" anchor="ctr"/>
          <a:lstStyle/>
          <a:p>
            <a:pPr algn="ctr" indent="0" marL="0">
              <a:buNone/>
            </a:pPr>
            <a:r>
              <a:rPr lang="en-US" sz="1000" b="1" dirty="0">
                <a:solidFill>
                  <a:srgbClr val="97BC62"/>
                </a:solidFill>
                <a:latin typeface="Calibri" pitchFamily="34" charset="0"/>
                <a:ea typeface="Calibri" pitchFamily="34" charset="-122"/>
                <a:cs typeface="Calibri" pitchFamily="34" charset="-120"/>
              </a:rPr>
              <a:t>The Problem</a:t>
            </a:r>
            <a:endParaRPr lang="en-US" sz="1000" dirty="0"/>
          </a:p>
        </p:txBody>
      </p:sp>
      <p:sp>
        <p:nvSpPr>
          <p:cNvPr id="9" name="Text 7"/>
          <p:cNvSpPr/>
          <p:nvPr/>
        </p:nvSpPr>
        <p:spPr>
          <a:xfrm>
            <a:off x="411480" y="777240"/>
            <a:ext cx="8046720" cy="713232"/>
          </a:xfrm>
          <a:prstGeom prst="rect">
            <a:avLst/>
          </a:prstGeom>
          <a:noFill/>
          <a:ln/>
        </p:spPr>
        <p:txBody>
          <a:bodyPr wrap="square" rtlCol="0" anchor="ctr"/>
          <a:lstStyle/>
          <a:p>
            <a:pPr indent="0" marL="0">
              <a:buNone/>
            </a:pPr>
            <a:r>
              <a:rPr lang="en-US" sz="2200" b="1" dirty="0">
                <a:solidFill>
                  <a:srgbClr val="1A1814"/>
                </a:solidFill>
                <a:latin typeface="Cambria" pitchFamily="34" charset="0"/>
                <a:ea typeface="Cambria" pitchFamily="34" charset="-122"/>
                <a:cs typeface="Cambria" pitchFamily="34" charset="-120"/>
              </a:rPr>
              <a:t>The Binary That Has Failed</a:t>
            </a:r>
            <a:endParaRPr lang="en-US" sz="2200" dirty="0"/>
          </a:p>
        </p:txBody>
      </p:sp>
      <p:sp>
        <p:nvSpPr>
          <p:cNvPr id="10" name="Shape 8"/>
          <p:cNvSpPr/>
          <p:nvPr/>
        </p:nvSpPr>
        <p:spPr>
          <a:xfrm>
            <a:off x="411480" y="1527048"/>
            <a:ext cx="8321040" cy="0"/>
          </a:xfrm>
          <a:prstGeom prst="line">
            <a:avLst/>
          </a:prstGeom>
          <a:noFill/>
          <a:ln w="19050">
            <a:solidFill>
              <a:srgbClr val="97BC62"/>
            </a:solidFill>
            <a:prstDash val="solid"/>
          </a:ln>
        </p:spPr>
      </p:sp>
      <p:pic>
        <p:nvPicPr>
          <p:cNvPr id="11" name="Image 0" descr="preencoded.png">    </p:cNvPr>
          <p:cNvPicPr>
            <a:picLocks noChangeAspect="1"/>
          </p:cNvPicPr>
          <p:nvPr/>
        </p:nvPicPr>
        <p:blipFill>
          <a:blip r:embed="rId1"/>
          <a:stretch>
            <a:fillRect/>
          </a:stretch>
        </p:blipFill>
        <p:spPr>
          <a:xfrm>
            <a:off x="7863840" y="274320"/>
            <a:ext cx="594360" cy="594360"/>
          </a:xfrm>
          <a:prstGeom prst="rect">
            <a:avLst/>
          </a:prstGeom>
        </p:spPr>
      </p:pic>
      <p:sp>
        <p:nvSpPr>
          <p:cNvPr id="12" name="Text 9"/>
          <p:cNvSpPr/>
          <p:nvPr/>
        </p:nvSpPr>
        <p:spPr>
          <a:xfrm>
            <a:off x="411480" y="1664208"/>
            <a:ext cx="8321040" cy="3246120"/>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American political life has long offered two institutional choices: private corporate ownership on one side, centralized state control on the other.</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Both options concentrate power. Both produce extraction. Both have failed the communities they were supposed to serve, in different ways and at different scales.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commons is not a compromise between the two. It is a structurally different answer: institutions governed by the communities that depend on them, under design principles that Elinor Ostrom identified as the conditions under which shared resources thrive rather than collapse.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320040"/>
            <a:ext cx="1280160" cy="347472"/>
          </a:xfrm>
          <a:prstGeom prst="roundRect">
            <a:avLst>
              <a:gd name="adj" fmla="val 13158"/>
            </a:avLst>
          </a:prstGeom>
          <a:solidFill>
            <a:srgbClr val="23201A"/>
          </a:solidFill>
          <a:ln/>
        </p:spPr>
      </p:sp>
      <p:sp>
        <p:nvSpPr>
          <p:cNvPr id="8" name="Text 6"/>
          <p:cNvSpPr/>
          <p:nvPr/>
        </p:nvSpPr>
        <p:spPr>
          <a:xfrm>
            <a:off x="411480" y="320040"/>
            <a:ext cx="1280160" cy="347472"/>
          </a:xfrm>
          <a:prstGeom prst="rect">
            <a:avLst/>
          </a:prstGeom>
          <a:noFill/>
          <a:ln/>
        </p:spPr>
        <p:txBody>
          <a:bodyPr wrap="square" lIns="0" tIns="0" rIns="0" bIns="0" rtlCol="0" anchor="ctr"/>
          <a:lstStyle/>
          <a:p>
            <a:pPr algn="ctr" indent="0" marL="0">
              <a:buNone/>
            </a:pPr>
            <a:r>
              <a:rPr lang="en-US" sz="1000" b="1" dirty="0">
                <a:solidFill>
                  <a:srgbClr val="97BC62"/>
                </a:solidFill>
                <a:latin typeface="Calibri" pitchFamily="34" charset="0"/>
                <a:ea typeface="Calibri" pitchFamily="34" charset="-122"/>
                <a:cs typeface="Calibri" pitchFamily="34" charset="-120"/>
              </a:rPr>
              <a:t>The Answer</a:t>
            </a:r>
            <a:endParaRPr lang="en-US" sz="1000" dirty="0"/>
          </a:p>
        </p:txBody>
      </p:sp>
      <p:sp>
        <p:nvSpPr>
          <p:cNvPr id="9" name="Text 7"/>
          <p:cNvSpPr/>
          <p:nvPr/>
        </p:nvSpPr>
        <p:spPr>
          <a:xfrm>
            <a:off x="411480" y="777240"/>
            <a:ext cx="8046720" cy="713232"/>
          </a:xfrm>
          <a:prstGeom prst="rect">
            <a:avLst/>
          </a:prstGeom>
          <a:noFill/>
          <a:ln/>
        </p:spPr>
        <p:txBody>
          <a:bodyPr wrap="square" rtlCol="0" anchor="ctr"/>
          <a:lstStyle/>
          <a:p>
            <a:pPr indent="0" marL="0">
              <a:buNone/>
            </a:pPr>
            <a:r>
              <a:rPr lang="en-US" sz="2200" b="1" dirty="0">
                <a:solidFill>
                  <a:srgbClr val="1A1814"/>
                </a:solidFill>
                <a:latin typeface="Cambria" pitchFamily="34" charset="0"/>
                <a:ea typeface="Cambria" pitchFamily="34" charset="-122"/>
                <a:cs typeface="Cambria" pitchFamily="34" charset="-120"/>
              </a:rPr>
              <a:t>Governance as Systems Engineering, Not Ideology</a:t>
            </a:r>
            <a:endParaRPr lang="en-US" sz="2200" dirty="0"/>
          </a:p>
        </p:txBody>
      </p:sp>
      <p:sp>
        <p:nvSpPr>
          <p:cNvPr id="10" name="Shape 8"/>
          <p:cNvSpPr/>
          <p:nvPr/>
        </p:nvSpPr>
        <p:spPr>
          <a:xfrm>
            <a:off x="411480" y="1527048"/>
            <a:ext cx="8321040" cy="0"/>
          </a:xfrm>
          <a:prstGeom prst="line">
            <a:avLst/>
          </a:prstGeom>
          <a:noFill/>
          <a:ln w="19050">
            <a:solidFill>
              <a:srgbClr val="97BC62"/>
            </a:solidFill>
            <a:prstDash val="solid"/>
          </a:ln>
        </p:spPr>
      </p:sp>
      <p:pic>
        <p:nvPicPr>
          <p:cNvPr id="11" name="Image 0" descr="preencoded.png">    </p:cNvPr>
          <p:cNvPicPr>
            <a:picLocks noChangeAspect="1"/>
          </p:cNvPicPr>
          <p:nvPr/>
        </p:nvPicPr>
        <p:blipFill>
          <a:blip r:embed="rId1"/>
          <a:stretch>
            <a:fillRect/>
          </a:stretch>
        </p:blipFill>
        <p:spPr>
          <a:xfrm>
            <a:off x="7863840" y="274320"/>
            <a:ext cx="594360" cy="594360"/>
          </a:xfrm>
          <a:prstGeom prst="rect">
            <a:avLst/>
          </a:prstGeom>
        </p:spPr>
      </p:pic>
      <p:sp>
        <p:nvSpPr>
          <p:cNvPr id="12" name="Text 9"/>
          <p:cNvSpPr/>
          <p:nvPr/>
        </p:nvSpPr>
        <p:spPr>
          <a:xfrm>
            <a:off x="411480" y="1664208"/>
            <a:ext cx="8321040" cy="3246120"/>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This program treats governance as a systems engineering problem. The question is not who should hold power in the abstract; it is what institutional architecture produces durable, self-correcting, community-governed resource systems in practice.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It is not a state-expansion program: it systematically reduces federal administrative reach while increasing community self-determination.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It is not a privatization program: it removes resources from both state administration and private enclosure and places them under democratic community stewardship.</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It addresses the failure modes of both dominant institutional options without adopting either one's logic.</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3201A"/>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Text 5"/>
          <p:cNvSpPr/>
          <p:nvPr/>
        </p:nvSpPr>
        <p:spPr>
          <a:xfrm>
            <a:off x="411480" y="594360"/>
            <a:ext cx="8229600" cy="384048"/>
          </a:xfrm>
          <a:prstGeom prst="rect">
            <a:avLst/>
          </a:prstGeom>
          <a:noFill/>
          <a:ln/>
        </p:spPr>
        <p:txBody>
          <a:bodyPr wrap="square" rtlCol="0" anchor="ctr"/>
          <a:lstStyle/>
          <a:p>
            <a:pPr indent="0" marL="0">
              <a:buNone/>
            </a:pPr>
            <a:r>
              <a:rPr lang="en-US" sz="1400" b="1" spc="400" kern="0" dirty="0">
                <a:solidFill>
                  <a:srgbClr val="97BC62"/>
                </a:solidFill>
                <a:latin typeface="Arial" pitchFamily="34" charset="0"/>
                <a:ea typeface="Arial" pitchFamily="34" charset="-122"/>
                <a:cs typeface="Arial" pitchFamily="34" charset="-120"/>
              </a:rPr>
              <a:t>Section II</a:t>
            </a:r>
            <a:endParaRPr lang="en-US" sz="1400" dirty="0"/>
          </a:p>
        </p:txBody>
      </p:sp>
      <p:sp>
        <p:nvSpPr>
          <p:cNvPr id="8" name="Text 6"/>
          <p:cNvSpPr/>
          <p:nvPr/>
        </p:nvSpPr>
        <p:spPr>
          <a:xfrm>
            <a:off x="411480" y="1005840"/>
            <a:ext cx="8229600" cy="19202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Who Elinor Ostrom Was</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and Why It Matters</a:t>
            </a:r>
            <a:endParaRPr lang="en-US" sz="3400" dirty="0"/>
          </a:p>
        </p:txBody>
      </p:sp>
      <p:sp>
        <p:nvSpPr>
          <p:cNvPr id="9" name="Text 7"/>
          <p:cNvSpPr/>
          <p:nvPr/>
        </p:nvSpPr>
        <p:spPr>
          <a:xfrm>
            <a:off x="411480" y="3017520"/>
            <a:ext cx="8229600" cy="777240"/>
          </a:xfrm>
          <a:prstGeom prst="rect">
            <a:avLst/>
          </a:prstGeom>
          <a:noFill/>
          <a:ln/>
        </p:spPr>
        <p:txBody>
          <a:bodyPr wrap="square" rtlCol="0" anchor="ctr"/>
          <a:lstStyle/>
          <a:p>
            <a:pPr indent="0" marL="0">
              <a:buNone/>
            </a:pPr>
            <a:r>
              <a:rPr lang="en-US" sz="1500" i="1" dirty="0">
                <a:solidFill>
                  <a:srgbClr val="F8F6F0"/>
                </a:solidFill>
                <a:latin typeface="Calibri" pitchFamily="34" charset="0"/>
                <a:ea typeface="Calibri" pitchFamily="34" charset="-122"/>
                <a:cs typeface="Calibri" pitchFamily="34" charset="-120"/>
              </a:rPr>
              <a:t>The empirical foundation of the entire program</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320040"/>
            <a:ext cx="1280160" cy="347472"/>
          </a:xfrm>
          <a:prstGeom prst="roundRect">
            <a:avLst>
              <a:gd name="adj" fmla="val 13158"/>
            </a:avLst>
          </a:prstGeom>
          <a:solidFill>
            <a:srgbClr val="23201A"/>
          </a:solidFill>
          <a:ln/>
        </p:spPr>
      </p:sp>
      <p:sp>
        <p:nvSpPr>
          <p:cNvPr id="8" name="Text 6"/>
          <p:cNvSpPr/>
          <p:nvPr/>
        </p:nvSpPr>
        <p:spPr>
          <a:xfrm>
            <a:off x="411480" y="320040"/>
            <a:ext cx="1280160" cy="347472"/>
          </a:xfrm>
          <a:prstGeom prst="rect">
            <a:avLst/>
          </a:prstGeom>
          <a:noFill/>
          <a:ln/>
        </p:spPr>
        <p:txBody>
          <a:bodyPr wrap="square" lIns="0" tIns="0" rIns="0" bIns="0" rtlCol="0" anchor="ctr"/>
          <a:lstStyle/>
          <a:p>
            <a:pPr algn="ctr" indent="0" marL="0">
              <a:buNone/>
            </a:pPr>
            <a:r>
              <a:rPr lang="en-US" sz="1000" b="1" dirty="0">
                <a:solidFill>
                  <a:srgbClr val="97BC62"/>
                </a:solidFill>
                <a:latin typeface="Calibri" pitchFamily="34" charset="0"/>
                <a:ea typeface="Calibri" pitchFamily="34" charset="-122"/>
                <a:cs typeface="Calibri" pitchFamily="34" charset="-120"/>
              </a:rPr>
              <a:t>Elinor Ostrom</a:t>
            </a:r>
            <a:endParaRPr lang="en-US" sz="1000" dirty="0"/>
          </a:p>
        </p:txBody>
      </p:sp>
      <p:sp>
        <p:nvSpPr>
          <p:cNvPr id="9" name="Text 7"/>
          <p:cNvSpPr/>
          <p:nvPr/>
        </p:nvSpPr>
        <p:spPr>
          <a:xfrm>
            <a:off x="411480" y="777240"/>
            <a:ext cx="8046720" cy="713232"/>
          </a:xfrm>
          <a:prstGeom prst="rect">
            <a:avLst/>
          </a:prstGeom>
          <a:noFill/>
          <a:ln/>
        </p:spPr>
        <p:txBody>
          <a:bodyPr wrap="square" rtlCol="0" anchor="ctr"/>
          <a:lstStyle/>
          <a:p>
            <a:pPr indent="0" marL="0">
              <a:buNone/>
            </a:pPr>
            <a:r>
              <a:rPr lang="en-US" sz="2200" b="1" dirty="0">
                <a:solidFill>
                  <a:srgbClr val="1A1814"/>
                </a:solidFill>
                <a:latin typeface="Cambria" pitchFamily="34" charset="0"/>
                <a:ea typeface="Cambria" pitchFamily="34" charset="-122"/>
                <a:cs typeface="Cambria" pitchFamily="34" charset="-120"/>
              </a:rPr>
              <a:t>Who Was Elinor Ostrom?</a:t>
            </a:r>
            <a:endParaRPr lang="en-US" sz="2200" dirty="0"/>
          </a:p>
        </p:txBody>
      </p:sp>
      <p:sp>
        <p:nvSpPr>
          <p:cNvPr id="10" name="Shape 8"/>
          <p:cNvSpPr/>
          <p:nvPr/>
        </p:nvSpPr>
        <p:spPr>
          <a:xfrm>
            <a:off x="411480" y="1527048"/>
            <a:ext cx="8321040" cy="0"/>
          </a:xfrm>
          <a:prstGeom prst="line">
            <a:avLst/>
          </a:prstGeom>
          <a:noFill/>
          <a:ln w="19050">
            <a:solidFill>
              <a:srgbClr val="97BC62"/>
            </a:solidFill>
            <a:prstDash val="solid"/>
          </a:ln>
        </p:spPr>
      </p:sp>
      <p:pic>
        <p:nvPicPr>
          <p:cNvPr id="11" name="Image 0" descr="preencoded.png">    </p:cNvPr>
          <p:cNvPicPr>
            <a:picLocks noChangeAspect="1"/>
          </p:cNvPicPr>
          <p:nvPr/>
        </p:nvPicPr>
        <p:blipFill>
          <a:blip r:embed="rId1"/>
          <a:stretch>
            <a:fillRect/>
          </a:stretch>
        </p:blipFill>
        <p:spPr>
          <a:xfrm>
            <a:off x="7863840" y="274320"/>
            <a:ext cx="594360" cy="594360"/>
          </a:xfrm>
          <a:prstGeom prst="rect">
            <a:avLst/>
          </a:prstGeom>
        </p:spPr>
      </p:pic>
      <p:sp>
        <p:nvSpPr>
          <p:cNvPr id="12" name="Text 9"/>
          <p:cNvSpPr/>
          <p:nvPr/>
        </p:nvSpPr>
        <p:spPr>
          <a:xfrm>
            <a:off x="411480" y="1664208"/>
            <a:ext cx="8321040" cy="3246120"/>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Elinor Ostrom won the Nobel Prize in Economics in 2009, the first woman to receive it. She died in 2012.</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She spent her career refuting the Tragedy of the Commons: the argument, stated most influentially by Garrett Hardin in 1968, that communities inevitably overexploit shared resources and that the only solutions are private property or state regulation.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Ostrom studied Swiss alpine meadows, Japanese fisheries, Spanish irrigation systems, New England lobster grounds, and hundreds of other cases. She showed that communities have successfully governed shared resources for centuries, without privatization and without central government, when their governance institutions meet certain design conditions.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She identified eight such conditions.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"No panaceas." Elinor Ostrom, 2009</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320040"/>
            <a:ext cx="1280160" cy="347472"/>
          </a:xfrm>
          <a:prstGeom prst="roundRect">
            <a:avLst>
              <a:gd name="adj" fmla="val 13158"/>
            </a:avLst>
          </a:prstGeom>
          <a:solidFill>
            <a:srgbClr val="23201A"/>
          </a:solidFill>
          <a:ln/>
        </p:spPr>
      </p:sp>
      <p:sp>
        <p:nvSpPr>
          <p:cNvPr id="8" name="Text 6"/>
          <p:cNvSpPr/>
          <p:nvPr/>
        </p:nvSpPr>
        <p:spPr>
          <a:xfrm>
            <a:off x="411480" y="320040"/>
            <a:ext cx="1280160" cy="347472"/>
          </a:xfrm>
          <a:prstGeom prst="rect">
            <a:avLst/>
          </a:prstGeom>
          <a:noFill/>
          <a:ln/>
        </p:spPr>
        <p:txBody>
          <a:bodyPr wrap="square" lIns="0" tIns="0" rIns="0" bIns="0" rtlCol="0" anchor="ctr"/>
          <a:lstStyle/>
          <a:p>
            <a:pPr algn="ctr" indent="0" marL="0">
              <a:buNone/>
            </a:pPr>
            <a:r>
              <a:rPr lang="en-US" sz="1000" b="1" dirty="0">
                <a:solidFill>
                  <a:srgbClr val="97BC62"/>
                </a:solidFill>
                <a:latin typeface="Calibri" pitchFamily="34" charset="0"/>
                <a:ea typeface="Calibri" pitchFamily="34" charset="-122"/>
                <a:cs typeface="Calibri" pitchFamily="34" charset="-120"/>
              </a:rPr>
              <a:t>The Eight Principles</a:t>
            </a:r>
            <a:endParaRPr lang="en-US" sz="1000" dirty="0"/>
          </a:p>
        </p:txBody>
      </p:sp>
      <p:sp>
        <p:nvSpPr>
          <p:cNvPr id="9" name="Text 7"/>
          <p:cNvSpPr/>
          <p:nvPr/>
        </p:nvSpPr>
        <p:spPr>
          <a:xfrm>
            <a:off x="411480" y="777240"/>
            <a:ext cx="8046720" cy="713232"/>
          </a:xfrm>
          <a:prstGeom prst="rect">
            <a:avLst/>
          </a:prstGeom>
          <a:noFill/>
          <a:ln/>
        </p:spPr>
        <p:txBody>
          <a:bodyPr wrap="square" rtlCol="0" anchor="ctr"/>
          <a:lstStyle/>
          <a:p>
            <a:pPr indent="0" marL="0">
              <a:buNone/>
            </a:pPr>
            <a:r>
              <a:rPr lang="en-US" sz="2200" b="1" dirty="0">
                <a:solidFill>
                  <a:srgbClr val="1A1814"/>
                </a:solidFill>
                <a:latin typeface="Cambria" pitchFamily="34" charset="0"/>
                <a:ea typeface="Cambria" pitchFamily="34" charset="-122"/>
                <a:cs typeface="Cambria" pitchFamily="34" charset="-120"/>
              </a:rPr>
              <a:t>The Ostrom Standards of Stewardship</a:t>
            </a:r>
            <a:endParaRPr lang="en-US" sz="2200" dirty="0"/>
          </a:p>
        </p:txBody>
      </p:sp>
      <p:sp>
        <p:nvSpPr>
          <p:cNvPr id="10" name="Shape 8"/>
          <p:cNvSpPr/>
          <p:nvPr/>
        </p:nvSpPr>
        <p:spPr>
          <a:xfrm>
            <a:off x="411480" y="1527048"/>
            <a:ext cx="8321040" cy="0"/>
          </a:xfrm>
          <a:prstGeom prst="line">
            <a:avLst/>
          </a:prstGeom>
          <a:noFill/>
          <a:ln w="19050">
            <a:solidFill>
              <a:srgbClr val="97BC62"/>
            </a:solidFill>
            <a:prstDash val="solid"/>
          </a:ln>
        </p:spPr>
      </p:sp>
      <p:pic>
        <p:nvPicPr>
          <p:cNvPr id="11" name="Image 0" descr="preencoded.png">    </p:cNvPr>
          <p:cNvPicPr>
            <a:picLocks noChangeAspect="1"/>
          </p:cNvPicPr>
          <p:nvPr/>
        </p:nvPicPr>
        <p:blipFill>
          <a:blip r:embed="rId1"/>
          <a:stretch>
            <a:fillRect/>
          </a:stretch>
        </p:blipFill>
        <p:spPr>
          <a:xfrm>
            <a:off x="7863840" y="274320"/>
            <a:ext cx="594360" cy="594360"/>
          </a:xfrm>
          <a:prstGeom prst="rect">
            <a:avLst/>
          </a:prstGeom>
        </p:spPr>
      </p:pic>
      <p:sp>
        <p:nvSpPr>
          <p:cNvPr id="12" name="Text 9"/>
          <p:cNvSpPr/>
          <p:nvPr/>
        </p:nvSpPr>
        <p:spPr>
          <a:xfrm>
            <a:off x="411480" y="1664208"/>
            <a:ext cx="8321040" cy="3246120"/>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Every institution certified under this program must meet all eight principles, codified as the Ostrom Standards of Stewardship:</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 Standard 1: Defined Boundaries. The resource and the community are precisely defined.</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 Standard 2: Local Congruence. Rules match the specific conditions of the commons (the "no panaceas" principle in legal form).</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 Standard 3: Collective-Choice Arrangements. Those governed by the rules have meaningful say in changing them.</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 Standard 4: Peer Monitoring. Members or those accountable to them monitor resource use and compliance.</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 Standard 5: Graduated Sanctions. Violations are met with proportionate, escalating responses.</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 Standard 6: Accessible Conflict Resolution. Disputes are resolved locally, quickly, and affordably.</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 Standard 7: Jurisdictional Autonomy. The community's right to govern itself is not challenged by outside authorities.</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 Standard 8: Nested Governance. Complex systems are organized in layered tiers, allowing local autonomy within larger networks.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3201A"/>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Text 5"/>
          <p:cNvSpPr/>
          <p:nvPr/>
        </p:nvSpPr>
        <p:spPr>
          <a:xfrm>
            <a:off x="411480" y="594360"/>
            <a:ext cx="8229600" cy="384048"/>
          </a:xfrm>
          <a:prstGeom prst="rect">
            <a:avLst/>
          </a:prstGeom>
          <a:noFill/>
          <a:ln/>
        </p:spPr>
        <p:txBody>
          <a:bodyPr wrap="square" rtlCol="0" anchor="ctr"/>
          <a:lstStyle/>
          <a:p>
            <a:pPr indent="0" marL="0">
              <a:buNone/>
            </a:pPr>
            <a:r>
              <a:rPr lang="en-US" sz="1400" b="1" spc="400" kern="0" dirty="0">
                <a:solidFill>
                  <a:srgbClr val="97BC62"/>
                </a:solidFill>
                <a:latin typeface="Arial" pitchFamily="34" charset="0"/>
                <a:ea typeface="Arial" pitchFamily="34" charset="-122"/>
                <a:cs typeface="Arial" pitchFamily="34" charset="-120"/>
              </a:rPr>
              <a:t>Section III</a:t>
            </a:r>
            <a:endParaRPr lang="en-US" sz="1400" dirty="0"/>
          </a:p>
        </p:txBody>
      </p:sp>
      <p:sp>
        <p:nvSpPr>
          <p:cNvPr id="8" name="Text 6"/>
          <p:cNvSpPr/>
          <p:nvPr/>
        </p:nvSpPr>
        <p:spPr>
          <a:xfrm>
            <a:off x="411480" y="1005840"/>
            <a:ext cx="8229600" cy="19202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Four Bills</a:t>
            </a:r>
            <a:endParaRPr lang="en-US" sz="3400" dirty="0"/>
          </a:p>
        </p:txBody>
      </p:sp>
      <p:sp>
        <p:nvSpPr>
          <p:cNvPr id="9" name="Text 7"/>
          <p:cNvSpPr/>
          <p:nvPr/>
        </p:nvSpPr>
        <p:spPr>
          <a:xfrm>
            <a:off x="411480" y="3017520"/>
            <a:ext cx="8229600" cy="777240"/>
          </a:xfrm>
          <a:prstGeom prst="rect">
            <a:avLst/>
          </a:prstGeom>
          <a:noFill/>
          <a:ln/>
        </p:spPr>
        <p:txBody>
          <a:bodyPr wrap="square" rtlCol="0" anchor="ctr"/>
          <a:lstStyle/>
          <a:p>
            <a:pPr indent="0" marL="0">
              <a:buNone/>
            </a:pPr>
            <a:r>
              <a:rPr lang="en-US" sz="1500" i="1" dirty="0">
                <a:solidFill>
                  <a:srgbClr val="F8F6F0"/>
                </a:solidFill>
                <a:latin typeface="Calibri" pitchFamily="34" charset="0"/>
                <a:ea typeface="Calibri" pitchFamily="34" charset="-122"/>
                <a:cs typeface="Calibri" pitchFamily="34" charset="-120"/>
              </a:rPr>
              <a:t>What each one does — each has its own full presentation for deeper coverage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320040"/>
            <a:ext cx="1280160" cy="347472"/>
          </a:xfrm>
          <a:prstGeom prst="roundRect">
            <a:avLst>
              <a:gd name="adj" fmla="val 13158"/>
            </a:avLst>
          </a:prstGeom>
          <a:solidFill>
            <a:srgbClr val="23201A"/>
          </a:solidFill>
          <a:ln/>
        </p:spPr>
      </p:sp>
      <p:sp>
        <p:nvSpPr>
          <p:cNvPr id="8" name="Text 6"/>
          <p:cNvSpPr/>
          <p:nvPr/>
        </p:nvSpPr>
        <p:spPr>
          <a:xfrm>
            <a:off x="411480" y="320040"/>
            <a:ext cx="1280160" cy="347472"/>
          </a:xfrm>
          <a:prstGeom prst="rect">
            <a:avLst/>
          </a:prstGeom>
          <a:noFill/>
          <a:ln/>
        </p:spPr>
        <p:txBody>
          <a:bodyPr wrap="square" lIns="0" tIns="0" rIns="0" bIns="0" rtlCol="0" anchor="ctr"/>
          <a:lstStyle/>
          <a:p>
            <a:pPr algn="ctr" indent="0" marL="0">
              <a:buNone/>
            </a:pPr>
            <a:r>
              <a:rPr lang="en-US" sz="1000" b="1" dirty="0">
                <a:solidFill>
                  <a:srgbClr val="97BC62"/>
                </a:solidFill>
                <a:latin typeface="Calibri" pitchFamily="34" charset="0"/>
                <a:ea typeface="Calibri" pitchFamily="34" charset="-122"/>
                <a:cs typeface="Calibri" pitchFamily="34" charset="-120"/>
              </a:rPr>
              <a:t>The Sequence</a:t>
            </a:r>
            <a:endParaRPr lang="en-US" sz="1000" dirty="0"/>
          </a:p>
        </p:txBody>
      </p:sp>
      <p:sp>
        <p:nvSpPr>
          <p:cNvPr id="9" name="Text 7"/>
          <p:cNvSpPr/>
          <p:nvPr/>
        </p:nvSpPr>
        <p:spPr>
          <a:xfrm>
            <a:off x="411480" y="777240"/>
            <a:ext cx="8046720" cy="713232"/>
          </a:xfrm>
          <a:prstGeom prst="rect">
            <a:avLst/>
          </a:prstGeom>
          <a:noFill/>
          <a:ln/>
        </p:spPr>
        <p:txBody>
          <a:bodyPr wrap="square" rtlCol="0" anchor="ctr"/>
          <a:lstStyle/>
          <a:p>
            <a:pPr indent="0" marL="0">
              <a:buNone/>
            </a:pPr>
            <a:r>
              <a:rPr lang="en-US" sz="2200" b="1" dirty="0">
                <a:solidFill>
                  <a:srgbClr val="1A1814"/>
                </a:solidFill>
                <a:latin typeface="Cambria" pitchFamily="34" charset="0"/>
                <a:ea typeface="Cambria" pitchFamily="34" charset="-122"/>
                <a:cs typeface="Cambria" pitchFamily="34" charset="-120"/>
              </a:rPr>
              <a:t>Four Bills. One Program.</a:t>
            </a:r>
            <a:endParaRPr lang="en-US" sz="2200" dirty="0"/>
          </a:p>
        </p:txBody>
      </p:sp>
      <p:sp>
        <p:nvSpPr>
          <p:cNvPr id="10" name="Shape 8"/>
          <p:cNvSpPr/>
          <p:nvPr/>
        </p:nvSpPr>
        <p:spPr>
          <a:xfrm>
            <a:off x="411480" y="1527048"/>
            <a:ext cx="8321040" cy="0"/>
          </a:xfrm>
          <a:prstGeom prst="line">
            <a:avLst/>
          </a:prstGeom>
          <a:noFill/>
          <a:ln w="19050">
            <a:solidFill>
              <a:srgbClr val="97BC62"/>
            </a:solidFill>
            <a:prstDash val="solid"/>
          </a:ln>
        </p:spPr>
      </p:sp>
      <p:pic>
        <p:nvPicPr>
          <p:cNvPr id="11" name="Image 0" descr="preencoded.png">    </p:cNvPr>
          <p:cNvPicPr>
            <a:picLocks noChangeAspect="1"/>
          </p:cNvPicPr>
          <p:nvPr/>
        </p:nvPicPr>
        <p:blipFill>
          <a:blip r:embed="rId1"/>
          <a:stretch>
            <a:fillRect/>
          </a:stretch>
        </p:blipFill>
        <p:spPr>
          <a:xfrm>
            <a:off x="7863840" y="274320"/>
            <a:ext cx="594360" cy="594360"/>
          </a:xfrm>
          <a:prstGeom prst="rect">
            <a:avLst/>
          </a:prstGeom>
        </p:spPr>
      </p:pic>
      <p:sp>
        <p:nvSpPr>
          <p:cNvPr id="12" name="Text 9"/>
          <p:cNvSpPr/>
          <p:nvPr/>
        </p:nvSpPr>
        <p:spPr>
          <a:xfrm>
            <a:off x="411480" y="1664208"/>
            <a:ext cx="8321040" cy="3246120"/>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Each bill addresses a distinct domain. Together they constitute a complete transition architecture from extractive institutional logic toward federated community governance.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          Vol. I: FRDI Act       The Material Commons</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          Vol. II: HRCR Act      The Social Commons</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          Vol. III: FCSAG         The Strategic Commons</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          Vol. IV: ISRN            The Global Commons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All four are drafted, published, and ready for committee referral now. Each has its own full presentation with Findings-anchored coverage of every operative provision.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github.com/clg1980/LegislativeSequence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Text 5"/>
          <p:cNvSpPr/>
          <p:nvPr/>
        </p:nvSpPr>
        <p:spPr>
          <a:xfrm>
            <a:off x="411480" y="228600"/>
            <a:ext cx="8046720" cy="502920"/>
          </a:xfrm>
          <a:prstGeom prst="rect">
            <a:avLst/>
          </a:prstGeom>
          <a:noFill/>
          <a:ln/>
        </p:spPr>
        <p:txBody>
          <a:bodyPr wrap="square" rtlCol="0" anchor="ctr"/>
          <a:lstStyle/>
          <a:p>
            <a:pPr indent="0" marL="0">
              <a:buNone/>
            </a:pPr>
            <a:r>
              <a:rPr lang="en-US" sz="1700" b="1" dirty="0">
                <a:solidFill>
                  <a:srgbClr val="2C5F2D"/>
                </a:solidFill>
                <a:latin typeface="Cambria" pitchFamily="34" charset="0"/>
                <a:ea typeface="Cambria" pitchFamily="34" charset="-122"/>
                <a:cs typeface="Cambria" pitchFamily="34" charset="-120"/>
              </a:rPr>
              <a:t>Federal Resilience and Decentralization Initiatives Act (FRDI Act)</a:t>
            </a:r>
            <a:endParaRPr lang="en-US" sz="1700" dirty="0"/>
          </a:p>
        </p:txBody>
      </p:sp>
      <p:pic>
        <p:nvPicPr>
          <p:cNvPr id="8" name="Image 0" descr="preencoded.png">    </p:cNvPr>
          <p:cNvPicPr>
            <a:picLocks noChangeAspect="1"/>
          </p:cNvPicPr>
          <p:nvPr/>
        </p:nvPicPr>
        <p:blipFill>
          <a:blip r:embed="rId1"/>
          <a:stretch>
            <a:fillRect/>
          </a:stretch>
        </p:blipFill>
        <p:spPr>
          <a:xfrm>
            <a:off x="7863840" y="228600"/>
            <a:ext cx="548640" cy="548640"/>
          </a:xfrm>
          <a:prstGeom prst="rect">
            <a:avLst/>
          </a:prstGeom>
        </p:spPr>
      </p:pic>
      <p:sp>
        <p:nvSpPr>
          <p:cNvPr id="9" name="Text 6"/>
          <p:cNvSpPr/>
          <p:nvPr/>
        </p:nvSpPr>
        <p:spPr>
          <a:xfrm>
            <a:off x="411480" y="804672"/>
            <a:ext cx="8321040" cy="658368"/>
          </a:xfrm>
          <a:prstGeom prst="rect">
            <a:avLst/>
          </a:prstGeom>
          <a:noFill/>
          <a:ln/>
        </p:spPr>
        <p:txBody>
          <a:bodyPr wrap="square" rtlCol="0" anchor="ctr"/>
          <a:lstStyle/>
          <a:p>
            <a:pPr indent="0" marL="0">
              <a:buNone/>
            </a:pPr>
            <a:r>
              <a:rPr lang="en-US" sz="2000" b="1" dirty="0">
                <a:solidFill>
                  <a:srgbClr val="1A1814"/>
                </a:solidFill>
                <a:latin typeface="Cambria" pitchFamily="34" charset="0"/>
                <a:ea typeface="Cambria" pitchFamily="34" charset="-122"/>
                <a:cs typeface="Cambria" pitchFamily="34" charset="-120"/>
              </a:rPr>
              <a:t>This bill changes who owns the things your life depends on.</a:t>
            </a:r>
            <a:endParaRPr lang="en-US" sz="2000" dirty="0"/>
          </a:p>
        </p:txBody>
      </p:sp>
      <p:sp>
        <p:nvSpPr>
          <p:cNvPr id="10" name="Shape 7"/>
          <p:cNvSpPr/>
          <p:nvPr/>
        </p:nvSpPr>
        <p:spPr>
          <a:xfrm>
            <a:off x="411480" y="1499616"/>
            <a:ext cx="8321040" cy="0"/>
          </a:xfrm>
          <a:prstGeom prst="line">
            <a:avLst/>
          </a:prstGeom>
          <a:noFill/>
          <a:ln w="19050">
            <a:solidFill>
              <a:srgbClr val="2C5F2D"/>
            </a:solidFill>
            <a:prstDash val="solid"/>
          </a:ln>
        </p:spPr>
      </p:sp>
      <p:sp>
        <p:nvSpPr>
          <p:cNvPr id="11" name="Text 8"/>
          <p:cNvSpPr/>
          <p:nvPr/>
        </p:nvSpPr>
        <p:spPr>
          <a:xfrm>
            <a:off x="411480" y="1627632"/>
            <a:ext cx="8321040" cy="3364992"/>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Land held in Community Land Trusts stays permanently affordable because it is never resold at speculative value. Homeowners on CLT land pay property tax only on their home, not the land beneath it.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Workers get a legal right to buy their workplace when it comes up for sale, with zero-interest financing and capital gains relief for owners who sell cooperatively. Retiring owners get a real alternative to selling to private equity.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Publicly funded research belongs to the public. If federal money built it, it enters the commons, with full attribution to the inventors. The Bayh-Dole privatization of public knowledge is reversed for new research.</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Federated Commons Membership bundles cooperative housing, nutrition, healthcare, and connectivity into a single portable set of governance rights. These are not welfare benefits. You cannot receive the housing without holding the governance rights in the institution that provides it.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Text 5"/>
          <p:cNvSpPr/>
          <p:nvPr/>
        </p:nvSpPr>
        <p:spPr>
          <a:xfrm>
            <a:off x="411480" y="228600"/>
            <a:ext cx="8046720" cy="502920"/>
          </a:xfrm>
          <a:prstGeom prst="rect">
            <a:avLst/>
          </a:prstGeom>
          <a:noFill/>
          <a:ln/>
        </p:spPr>
        <p:txBody>
          <a:bodyPr wrap="square" rtlCol="0" anchor="ctr"/>
          <a:lstStyle/>
          <a:p>
            <a:pPr indent="0" marL="0">
              <a:buNone/>
            </a:pPr>
            <a:r>
              <a:rPr lang="en-US" sz="1700" b="1" dirty="0">
                <a:solidFill>
                  <a:srgbClr val="E07A5F"/>
                </a:solidFill>
                <a:latin typeface="Cambria" pitchFamily="34" charset="0"/>
                <a:ea typeface="Cambria" pitchFamily="34" charset="-122"/>
                <a:cs typeface="Cambria" pitchFamily="34" charset="-120"/>
              </a:rPr>
              <a:t>Human Reclamation and Community Restorative Act (HRCR Act)</a:t>
            </a:r>
            <a:endParaRPr lang="en-US" sz="1700" dirty="0"/>
          </a:p>
        </p:txBody>
      </p:sp>
      <p:pic>
        <p:nvPicPr>
          <p:cNvPr id="8" name="Image 0" descr="preencoded.png">    </p:cNvPr>
          <p:cNvPicPr>
            <a:picLocks noChangeAspect="1"/>
          </p:cNvPicPr>
          <p:nvPr/>
        </p:nvPicPr>
        <p:blipFill>
          <a:blip r:embed="rId1"/>
          <a:stretch>
            <a:fillRect/>
          </a:stretch>
        </p:blipFill>
        <p:spPr>
          <a:xfrm>
            <a:off x="7863840" y="228600"/>
            <a:ext cx="548640" cy="548640"/>
          </a:xfrm>
          <a:prstGeom prst="rect">
            <a:avLst/>
          </a:prstGeom>
        </p:spPr>
      </p:pic>
      <p:sp>
        <p:nvSpPr>
          <p:cNvPr id="9" name="Text 6"/>
          <p:cNvSpPr/>
          <p:nvPr/>
        </p:nvSpPr>
        <p:spPr>
          <a:xfrm>
            <a:off x="411480" y="804672"/>
            <a:ext cx="8321040" cy="658368"/>
          </a:xfrm>
          <a:prstGeom prst="rect">
            <a:avLst/>
          </a:prstGeom>
          <a:noFill/>
          <a:ln/>
        </p:spPr>
        <p:txBody>
          <a:bodyPr wrap="square" rtlCol="0" anchor="ctr"/>
          <a:lstStyle/>
          <a:p>
            <a:pPr indent="0" marL="0">
              <a:buNone/>
            </a:pPr>
            <a:r>
              <a:rPr lang="en-US" sz="2000" b="1" dirty="0">
                <a:solidFill>
                  <a:srgbClr val="1A1814"/>
                </a:solidFill>
                <a:latin typeface="Cambria" pitchFamily="34" charset="0"/>
                <a:ea typeface="Cambria" pitchFamily="34" charset="-122"/>
                <a:cs typeface="Cambria" pitchFamily="34" charset="-120"/>
              </a:rPr>
              <a:t>This bill replaces the machinery of punishment with the architecture of accountability.</a:t>
            </a:r>
            <a:endParaRPr lang="en-US" sz="2000" dirty="0"/>
          </a:p>
        </p:txBody>
      </p:sp>
      <p:sp>
        <p:nvSpPr>
          <p:cNvPr id="10" name="Shape 7"/>
          <p:cNvSpPr/>
          <p:nvPr/>
        </p:nvSpPr>
        <p:spPr>
          <a:xfrm>
            <a:off x="411480" y="1499616"/>
            <a:ext cx="8321040" cy="0"/>
          </a:xfrm>
          <a:prstGeom prst="line">
            <a:avLst/>
          </a:prstGeom>
          <a:noFill/>
          <a:ln w="19050">
            <a:solidFill>
              <a:srgbClr val="E07A5F"/>
            </a:solidFill>
            <a:prstDash val="solid"/>
          </a:ln>
        </p:spPr>
      </p:sp>
      <p:sp>
        <p:nvSpPr>
          <p:cNvPr id="11" name="Text 8"/>
          <p:cNvSpPr/>
          <p:nvPr/>
        </p:nvSpPr>
        <p:spPr>
          <a:xfrm>
            <a:off x="411480" y="1627632"/>
            <a:ext cx="8321040" cy="3364992"/>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When harm occurs, Harm Repair Agreements replace incarceration as the primary response: documented, voluntary, specific to the harm caused, and facilitated by a peer-governed Accountability Pod, not a court or a sentencing table.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Federal correctional facilities close on a mandatory timeline. The buildings and land convert to Resilience Campuses: cooperative housing, healthcare, education, and enterprise, governed democratically by the surrounding community.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Every outstanding federal criminal fine, fee, and surcharge is discharged on enactment. Civil asset forfeiture is abolished. The government cannot take your property without a conviction.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Peace Keepers replace armed police response in commons settings: certified, non-armed, trained in de-escalation, accountable to the community rather than a chain of command.</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Text 5"/>
          <p:cNvSpPr/>
          <p:nvPr/>
        </p:nvSpPr>
        <p:spPr>
          <a:xfrm>
            <a:off x="411480" y="228600"/>
            <a:ext cx="8046720" cy="502920"/>
          </a:xfrm>
          <a:prstGeom prst="rect">
            <a:avLst/>
          </a:prstGeom>
          <a:noFill/>
          <a:ln/>
        </p:spPr>
        <p:txBody>
          <a:bodyPr wrap="square" rtlCol="0" anchor="ctr"/>
          <a:lstStyle/>
          <a:p>
            <a:pPr indent="0" marL="0">
              <a:buNone/>
            </a:pPr>
            <a:r>
              <a:rPr lang="en-US" sz="1700" b="1" dirty="0">
                <a:solidFill>
                  <a:srgbClr val="4A90D9"/>
                </a:solidFill>
                <a:latin typeface="Cambria" pitchFamily="34" charset="0"/>
                <a:ea typeface="Cambria" pitchFamily="34" charset="-122"/>
                <a:cs typeface="Cambria" pitchFamily="34" charset="-120"/>
              </a:rPr>
              <a:t>Federal Commons Security and Automation Governance Act (FCSAG)</a:t>
            </a:r>
            <a:endParaRPr lang="en-US" sz="1700" dirty="0"/>
          </a:p>
        </p:txBody>
      </p:sp>
      <p:pic>
        <p:nvPicPr>
          <p:cNvPr id="8" name="Image 0" descr="preencoded.png">    </p:cNvPr>
          <p:cNvPicPr>
            <a:picLocks noChangeAspect="1"/>
          </p:cNvPicPr>
          <p:nvPr/>
        </p:nvPicPr>
        <p:blipFill>
          <a:blip r:embed="rId1"/>
          <a:stretch>
            <a:fillRect/>
          </a:stretch>
        </p:blipFill>
        <p:spPr>
          <a:xfrm>
            <a:off x="7863840" y="228600"/>
            <a:ext cx="548640" cy="548640"/>
          </a:xfrm>
          <a:prstGeom prst="rect">
            <a:avLst/>
          </a:prstGeom>
        </p:spPr>
      </p:pic>
      <p:sp>
        <p:nvSpPr>
          <p:cNvPr id="9" name="Text 6"/>
          <p:cNvSpPr/>
          <p:nvPr/>
        </p:nvSpPr>
        <p:spPr>
          <a:xfrm>
            <a:off x="411480" y="804672"/>
            <a:ext cx="8321040" cy="658368"/>
          </a:xfrm>
          <a:prstGeom prst="rect">
            <a:avLst/>
          </a:prstGeom>
          <a:noFill/>
          <a:ln/>
        </p:spPr>
        <p:txBody>
          <a:bodyPr wrap="square" rtlCol="0" anchor="ctr"/>
          <a:lstStyle/>
          <a:p>
            <a:pPr indent="0" marL="0">
              <a:buNone/>
            </a:pPr>
            <a:r>
              <a:rPr lang="en-US" sz="2000" b="1" dirty="0">
                <a:solidFill>
                  <a:srgbClr val="1A1814"/>
                </a:solidFill>
                <a:latin typeface="Cambria" pitchFamily="34" charset="0"/>
                <a:ea typeface="Cambria" pitchFamily="34" charset="-122"/>
                <a:cs typeface="Cambria" pitchFamily="34" charset="-120"/>
              </a:rPr>
              <a:t>This bill redirects the power of the state toward the communities that paid for it.</a:t>
            </a:r>
            <a:endParaRPr lang="en-US" sz="2000" dirty="0"/>
          </a:p>
        </p:txBody>
      </p:sp>
      <p:sp>
        <p:nvSpPr>
          <p:cNvPr id="10" name="Shape 7"/>
          <p:cNvSpPr/>
          <p:nvPr/>
        </p:nvSpPr>
        <p:spPr>
          <a:xfrm>
            <a:off x="411480" y="1499616"/>
            <a:ext cx="8321040" cy="0"/>
          </a:xfrm>
          <a:prstGeom prst="line">
            <a:avLst/>
          </a:prstGeom>
          <a:noFill/>
          <a:ln w="19050">
            <a:solidFill>
              <a:srgbClr val="4A90D9"/>
            </a:solidFill>
            <a:prstDash val="solid"/>
          </a:ln>
        </p:spPr>
      </p:sp>
      <p:sp>
        <p:nvSpPr>
          <p:cNvPr id="11" name="Text 8"/>
          <p:cNvSpPr/>
          <p:nvPr/>
        </p:nvSpPr>
        <p:spPr>
          <a:xfrm>
            <a:off x="411480" y="1627632"/>
            <a:ext cx="8321040" cy="3364992"/>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American military has been organized around protecting petroleum shipping lanes and dollar-denominated energy markets. This Act directs the President to renegotiate NATO on a mutual resilience basis and closes bases whose primary rationale is petrodollar protection, not the security of the American people.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Automation Dividend ensures that when automated systems in the commons network increase productivity, the gains flow to members through reduced labor requirements and improved provision standards, not to shareholders.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Analytics platforms built with public money through programs like In-Q-Tel and DARPA are recaptured for public use. Surveillance capabilities are stripped. What remains, the data integration and coordination tools that commons governance actually needs, is contributed to an open-source Analytics Commons.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No automated system may make a final decision affecting your rights or status without meaningful human review. Anchored in the Fifth Amendment.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Text 5"/>
          <p:cNvSpPr/>
          <p:nvPr/>
        </p:nvSpPr>
        <p:spPr>
          <a:xfrm>
            <a:off x="411480" y="228600"/>
            <a:ext cx="8046720" cy="502920"/>
          </a:xfrm>
          <a:prstGeom prst="rect">
            <a:avLst/>
          </a:prstGeom>
          <a:noFill/>
          <a:ln/>
        </p:spPr>
        <p:txBody>
          <a:bodyPr wrap="square" rtlCol="0" anchor="ctr"/>
          <a:lstStyle/>
          <a:p>
            <a:pPr indent="0" marL="0">
              <a:buNone/>
            </a:pPr>
            <a:r>
              <a:rPr lang="en-US" sz="1700" b="1" dirty="0">
                <a:solidFill>
                  <a:srgbClr val="C9A84C"/>
                </a:solidFill>
                <a:latin typeface="Cambria" pitchFamily="34" charset="0"/>
                <a:ea typeface="Cambria" pitchFamily="34" charset="-122"/>
                <a:cs typeface="Cambria" pitchFamily="34" charset="-120"/>
              </a:rPr>
              <a:t>International Sovereignty, Resilience and Nonproliferation Act (ISRN)</a:t>
            </a:r>
            <a:endParaRPr lang="en-US" sz="1700" dirty="0"/>
          </a:p>
        </p:txBody>
      </p:sp>
      <p:pic>
        <p:nvPicPr>
          <p:cNvPr id="8" name="Image 0" descr="preencoded.png">    </p:cNvPr>
          <p:cNvPicPr>
            <a:picLocks noChangeAspect="1"/>
          </p:cNvPicPr>
          <p:nvPr/>
        </p:nvPicPr>
        <p:blipFill>
          <a:blip r:embed="rId1"/>
          <a:stretch>
            <a:fillRect/>
          </a:stretch>
        </p:blipFill>
        <p:spPr>
          <a:xfrm>
            <a:off x="7863840" y="228600"/>
            <a:ext cx="548640" cy="548640"/>
          </a:xfrm>
          <a:prstGeom prst="rect">
            <a:avLst/>
          </a:prstGeom>
        </p:spPr>
      </p:pic>
      <p:sp>
        <p:nvSpPr>
          <p:cNvPr id="9" name="Text 6"/>
          <p:cNvSpPr/>
          <p:nvPr/>
        </p:nvSpPr>
        <p:spPr>
          <a:xfrm>
            <a:off x="411480" y="804672"/>
            <a:ext cx="8321040" cy="658368"/>
          </a:xfrm>
          <a:prstGeom prst="rect">
            <a:avLst/>
          </a:prstGeom>
          <a:noFill/>
          <a:ln/>
        </p:spPr>
        <p:txBody>
          <a:bodyPr wrap="square" rtlCol="0" anchor="ctr"/>
          <a:lstStyle/>
          <a:p>
            <a:pPr indent="0" marL="0">
              <a:buNone/>
            </a:pPr>
            <a:r>
              <a:rPr lang="en-US" sz="2000" b="1" dirty="0">
                <a:solidFill>
                  <a:srgbClr val="1A1814"/>
                </a:solidFill>
                <a:latin typeface="Cambria" pitchFamily="34" charset="0"/>
                <a:ea typeface="Cambria" pitchFamily="34" charset="-122"/>
                <a:cs typeface="Cambria" pitchFamily="34" charset="-120"/>
              </a:rPr>
              <a:t>This bill asks what American foreign policy looks like when it serves people instead of the petrodollar.</a:t>
            </a:r>
            <a:endParaRPr lang="en-US" sz="2000" dirty="0"/>
          </a:p>
        </p:txBody>
      </p:sp>
      <p:sp>
        <p:nvSpPr>
          <p:cNvPr id="10" name="Shape 7"/>
          <p:cNvSpPr/>
          <p:nvPr/>
        </p:nvSpPr>
        <p:spPr>
          <a:xfrm>
            <a:off x="411480" y="1499616"/>
            <a:ext cx="8321040" cy="0"/>
          </a:xfrm>
          <a:prstGeom prst="line">
            <a:avLst/>
          </a:prstGeom>
          <a:noFill/>
          <a:ln w="19050">
            <a:solidFill>
              <a:srgbClr val="C9A84C"/>
            </a:solidFill>
            <a:prstDash val="solid"/>
          </a:ln>
        </p:spPr>
      </p:sp>
      <p:sp>
        <p:nvSpPr>
          <p:cNvPr id="11" name="Text 8"/>
          <p:cNvSpPr/>
          <p:nvPr/>
        </p:nvSpPr>
        <p:spPr>
          <a:xfrm>
            <a:off x="411480" y="1627632"/>
            <a:ext cx="8321040" cy="3364992"/>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Europeanization of NATO is already happening. This Act gives the President a negotiating mandate to govern that transition deliberately, reorienting alliance commitments from petrodollar protection toward genuine mutual resilience. The existing treaty is not abrogated; it is renegotiated through lawful diplomatic processes.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United States has been rhetorically committed to NPT disarmament for five decades while doing very little about it. This Act establishes a minimum credible deterrence posture and directs genuine multilateral disarmament diplomacy.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American votes at the IMF and World Bank are directed against structural adjustment conditions that prevent developing nations from building cooperative institutions.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Planetary Commons Federation is the long-term goal stated plainly in statute: a network of self-governing commons communities connected laterally to one another. No center. No hierarchy. No metropole. Only nodes.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320040"/>
            <a:ext cx="1280160" cy="347472"/>
          </a:xfrm>
          <a:prstGeom prst="roundRect">
            <a:avLst>
              <a:gd name="adj" fmla="val 13158"/>
            </a:avLst>
          </a:prstGeom>
          <a:solidFill>
            <a:srgbClr val="23201A"/>
          </a:solidFill>
          <a:ln/>
        </p:spPr>
      </p:sp>
      <p:sp>
        <p:nvSpPr>
          <p:cNvPr id="8" name="Text 6"/>
          <p:cNvSpPr/>
          <p:nvPr/>
        </p:nvSpPr>
        <p:spPr>
          <a:xfrm>
            <a:off x="411480" y="320040"/>
            <a:ext cx="1280160" cy="347472"/>
          </a:xfrm>
          <a:prstGeom prst="rect">
            <a:avLst/>
          </a:prstGeom>
          <a:noFill/>
          <a:ln/>
        </p:spPr>
        <p:txBody>
          <a:bodyPr wrap="square" lIns="0" tIns="0" rIns="0" bIns="0" rtlCol="0" anchor="ctr"/>
          <a:lstStyle/>
          <a:p>
            <a:pPr algn="ctr" indent="0" marL="0">
              <a:buNone/>
            </a:pPr>
            <a:r>
              <a:rPr lang="en-US" sz="1000" b="1" dirty="0">
                <a:solidFill>
                  <a:srgbClr val="97BC62"/>
                </a:solidFill>
                <a:latin typeface="Calibri" pitchFamily="34" charset="0"/>
                <a:ea typeface="Calibri" pitchFamily="34" charset="-122"/>
                <a:cs typeface="Calibri" pitchFamily="34" charset="-120"/>
              </a:rPr>
              <a:t>Why Sequence</a:t>
            </a:r>
            <a:endParaRPr lang="en-US" sz="1000" dirty="0"/>
          </a:p>
        </p:txBody>
      </p:sp>
      <p:sp>
        <p:nvSpPr>
          <p:cNvPr id="9" name="Text 7"/>
          <p:cNvSpPr/>
          <p:nvPr/>
        </p:nvSpPr>
        <p:spPr>
          <a:xfrm>
            <a:off x="411480" y="777240"/>
            <a:ext cx="8046720" cy="713232"/>
          </a:xfrm>
          <a:prstGeom prst="rect">
            <a:avLst/>
          </a:prstGeom>
          <a:noFill/>
          <a:ln/>
        </p:spPr>
        <p:txBody>
          <a:bodyPr wrap="square" rtlCol="0" anchor="ctr"/>
          <a:lstStyle/>
          <a:p>
            <a:pPr indent="0" marL="0">
              <a:buNone/>
            </a:pPr>
            <a:r>
              <a:rPr lang="en-US" sz="2200" b="1" dirty="0">
                <a:solidFill>
                  <a:srgbClr val="1A1814"/>
                </a:solidFill>
                <a:latin typeface="Cambria" pitchFamily="34" charset="0"/>
                <a:ea typeface="Cambria" pitchFamily="34" charset="-122"/>
                <a:cs typeface="Cambria" pitchFamily="34" charset="-120"/>
              </a:rPr>
              <a:t>Each Bill Creates the Conditions the Next Requires</a:t>
            </a:r>
            <a:endParaRPr lang="en-US" sz="2200" dirty="0"/>
          </a:p>
        </p:txBody>
      </p:sp>
      <p:sp>
        <p:nvSpPr>
          <p:cNvPr id="10" name="Shape 8"/>
          <p:cNvSpPr/>
          <p:nvPr/>
        </p:nvSpPr>
        <p:spPr>
          <a:xfrm>
            <a:off x="411480" y="1527048"/>
            <a:ext cx="8321040" cy="0"/>
          </a:xfrm>
          <a:prstGeom prst="line">
            <a:avLst/>
          </a:prstGeom>
          <a:noFill/>
          <a:ln w="19050">
            <a:solidFill>
              <a:srgbClr val="97BC62"/>
            </a:solidFill>
            <a:prstDash val="solid"/>
          </a:ln>
        </p:spPr>
      </p:sp>
      <p:pic>
        <p:nvPicPr>
          <p:cNvPr id="11" name="Image 0" descr="preencoded.png">    </p:cNvPr>
          <p:cNvPicPr>
            <a:picLocks noChangeAspect="1"/>
          </p:cNvPicPr>
          <p:nvPr/>
        </p:nvPicPr>
        <p:blipFill>
          <a:blip r:embed="rId1"/>
          <a:stretch>
            <a:fillRect/>
          </a:stretch>
        </p:blipFill>
        <p:spPr>
          <a:xfrm>
            <a:off x="7863840" y="274320"/>
            <a:ext cx="594360" cy="594360"/>
          </a:xfrm>
          <a:prstGeom prst="rect">
            <a:avLst/>
          </a:prstGeom>
        </p:spPr>
      </p:pic>
      <p:sp>
        <p:nvSpPr>
          <p:cNvPr id="12" name="Text 9"/>
          <p:cNvSpPr/>
          <p:nvPr/>
        </p:nvSpPr>
        <p:spPr>
          <a:xfrm>
            <a:off x="411480" y="1664208"/>
            <a:ext cx="8321040" cy="3246120"/>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staggered introduction is not a drafting constraint. It is a political and architectural strategy.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FRDI Act builds the constituency for the HRCR Act. Communities with functioning CLTs, cooperative food systems, and commons membership have a concrete material stake in the social commons. They are no longer abstract beneficiaries; they are members with governance rights and something to protect.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HRCR Act demonstrates that material security and community accountability are the same project: former correctional facilities converted to Resilience Campuses are visible, local, and undeniable proof.</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FCSAG's defense posture reorientation is only credible once the domestic resilience infrastructure exists to answer the fragility critique. Introduced prematurely, it faces concentrated national security opposition without the demonstrated domestic alternative.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ISRN's planetary commons governance is only persuasive when the United States can point to a functioning domestic commons economy as the proof of concept for what it is proposing internationally.</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3201A"/>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Text 5"/>
          <p:cNvSpPr/>
          <p:nvPr/>
        </p:nvSpPr>
        <p:spPr>
          <a:xfrm>
            <a:off x="411480" y="594360"/>
            <a:ext cx="8229600" cy="384048"/>
          </a:xfrm>
          <a:prstGeom prst="rect">
            <a:avLst/>
          </a:prstGeom>
          <a:noFill/>
          <a:ln/>
        </p:spPr>
        <p:txBody>
          <a:bodyPr wrap="square" rtlCol="0" anchor="ctr"/>
          <a:lstStyle/>
          <a:p>
            <a:pPr indent="0" marL="0">
              <a:buNone/>
            </a:pPr>
            <a:r>
              <a:rPr lang="en-US" sz="1400" b="1" spc="400" kern="0" dirty="0">
                <a:solidFill>
                  <a:srgbClr val="97BC62"/>
                </a:solidFill>
                <a:latin typeface="Arial" pitchFamily="34" charset="0"/>
                <a:ea typeface="Arial" pitchFamily="34" charset="-122"/>
                <a:cs typeface="Arial" pitchFamily="34" charset="-120"/>
              </a:rPr>
              <a:t>Section IV</a:t>
            </a:r>
            <a:endParaRPr lang="en-US" sz="1400" dirty="0"/>
          </a:p>
        </p:txBody>
      </p:sp>
      <p:sp>
        <p:nvSpPr>
          <p:cNvPr id="8" name="Text 6"/>
          <p:cNvSpPr/>
          <p:nvPr/>
        </p:nvSpPr>
        <p:spPr>
          <a:xfrm>
            <a:off x="411480" y="1005840"/>
            <a:ext cx="8229600" cy="19202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Proof</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of Concept</a:t>
            </a:r>
            <a:endParaRPr lang="en-US" sz="3400" dirty="0"/>
          </a:p>
        </p:txBody>
      </p:sp>
      <p:sp>
        <p:nvSpPr>
          <p:cNvPr id="9" name="Text 7"/>
          <p:cNvSpPr/>
          <p:nvPr/>
        </p:nvSpPr>
        <p:spPr>
          <a:xfrm>
            <a:off x="411480" y="3017520"/>
            <a:ext cx="8229600" cy="777240"/>
          </a:xfrm>
          <a:prstGeom prst="rect">
            <a:avLst/>
          </a:prstGeom>
          <a:noFill/>
          <a:ln/>
        </p:spPr>
        <p:txBody>
          <a:bodyPr wrap="square" rtlCol="0" anchor="ctr"/>
          <a:lstStyle/>
          <a:p>
            <a:pPr indent="0" marL="0">
              <a:buNone/>
            </a:pPr>
            <a:r>
              <a:rPr lang="en-US" sz="1500" i="1" dirty="0">
                <a:solidFill>
                  <a:srgbClr val="F8F6F0"/>
                </a:solidFill>
                <a:latin typeface="Calibri" pitchFamily="34" charset="0"/>
                <a:ea typeface="Calibri" pitchFamily="34" charset="-122"/>
                <a:cs typeface="Calibri" pitchFamily="34" charset="-120"/>
              </a:rPr>
              <a:t>The institutions already exist and already work</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320040"/>
            <a:ext cx="1280160" cy="347472"/>
          </a:xfrm>
          <a:prstGeom prst="roundRect">
            <a:avLst>
              <a:gd name="adj" fmla="val 13158"/>
            </a:avLst>
          </a:prstGeom>
          <a:solidFill>
            <a:srgbClr val="23201A"/>
          </a:solidFill>
          <a:ln/>
        </p:spPr>
      </p:sp>
      <p:sp>
        <p:nvSpPr>
          <p:cNvPr id="8" name="Text 6"/>
          <p:cNvSpPr/>
          <p:nvPr/>
        </p:nvSpPr>
        <p:spPr>
          <a:xfrm>
            <a:off x="411480" y="320040"/>
            <a:ext cx="1280160" cy="347472"/>
          </a:xfrm>
          <a:prstGeom prst="rect">
            <a:avLst/>
          </a:prstGeom>
          <a:noFill/>
          <a:ln/>
        </p:spPr>
        <p:txBody>
          <a:bodyPr wrap="square" lIns="0" tIns="0" rIns="0" bIns="0" rtlCol="0" anchor="ctr"/>
          <a:lstStyle/>
          <a:p>
            <a:pPr algn="ctr" indent="0" marL="0">
              <a:buNone/>
            </a:pPr>
            <a:r>
              <a:rPr lang="en-US" sz="1000" b="1" dirty="0">
                <a:solidFill>
                  <a:srgbClr val="97BC62"/>
                </a:solidFill>
                <a:latin typeface="Calibri" pitchFamily="34" charset="0"/>
                <a:ea typeface="Calibri" pitchFamily="34" charset="-122"/>
                <a:cs typeface="Calibri" pitchFamily="34" charset="-120"/>
              </a:rPr>
              <a:t>Not Theoretical</a:t>
            </a:r>
            <a:endParaRPr lang="en-US" sz="1000" dirty="0"/>
          </a:p>
        </p:txBody>
      </p:sp>
      <p:sp>
        <p:nvSpPr>
          <p:cNvPr id="9" name="Text 7"/>
          <p:cNvSpPr/>
          <p:nvPr/>
        </p:nvSpPr>
        <p:spPr>
          <a:xfrm>
            <a:off x="411480" y="777240"/>
            <a:ext cx="8046720" cy="713232"/>
          </a:xfrm>
          <a:prstGeom prst="rect">
            <a:avLst/>
          </a:prstGeom>
          <a:noFill/>
          <a:ln/>
        </p:spPr>
        <p:txBody>
          <a:bodyPr wrap="square" rtlCol="0" anchor="ctr"/>
          <a:lstStyle/>
          <a:p>
            <a:pPr indent="0" marL="0">
              <a:buNone/>
            </a:pPr>
            <a:r>
              <a:rPr lang="en-US" sz="2200" b="1" dirty="0">
                <a:solidFill>
                  <a:srgbClr val="1A1814"/>
                </a:solidFill>
                <a:latin typeface="Cambria" pitchFamily="34" charset="0"/>
                <a:ea typeface="Cambria" pitchFamily="34" charset="-122"/>
                <a:cs typeface="Cambria" pitchFamily="34" charset="-120"/>
              </a:rPr>
              <a:t>This Already Exists</a:t>
            </a:r>
            <a:endParaRPr lang="en-US" sz="2200" dirty="0"/>
          </a:p>
        </p:txBody>
      </p:sp>
      <p:sp>
        <p:nvSpPr>
          <p:cNvPr id="10" name="Shape 8"/>
          <p:cNvSpPr/>
          <p:nvPr/>
        </p:nvSpPr>
        <p:spPr>
          <a:xfrm>
            <a:off x="411480" y="1527048"/>
            <a:ext cx="8321040" cy="0"/>
          </a:xfrm>
          <a:prstGeom prst="line">
            <a:avLst/>
          </a:prstGeom>
          <a:noFill/>
          <a:ln w="19050">
            <a:solidFill>
              <a:srgbClr val="97BC62"/>
            </a:solidFill>
            <a:prstDash val="solid"/>
          </a:ln>
        </p:spPr>
      </p:sp>
      <p:pic>
        <p:nvPicPr>
          <p:cNvPr id="11" name="Image 0" descr="preencoded.png">    </p:cNvPr>
          <p:cNvPicPr>
            <a:picLocks noChangeAspect="1"/>
          </p:cNvPicPr>
          <p:nvPr/>
        </p:nvPicPr>
        <p:blipFill>
          <a:blip r:embed="rId1"/>
          <a:stretch>
            <a:fillRect/>
          </a:stretch>
        </p:blipFill>
        <p:spPr>
          <a:xfrm>
            <a:off x="7863840" y="274320"/>
            <a:ext cx="594360" cy="594360"/>
          </a:xfrm>
          <a:prstGeom prst="rect">
            <a:avLst/>
          </a:prstGeom>
        </p:spPr>
      </p:pic>
      <p:sp>
        <p:nvSpPr>
          <p:cNvPr id="12" name="Text 9"/>
          <p:cNvSpPr/>
          <p:nvPr/>
        </p:nvSpPr>
        <p:spPr>
          <a:xfrm>
            <a:off x="411480" y="1664208"/>
            <a:ext cx="8321040" cy="3246120"/>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Community Land Trusts: the Champlain Housing Trust in Burlington, Vermont stewards more than 2,400 permanently affordable housing units and 670 shared-equity homes. That is 8% of Burlington's households.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Worker Cooperatives: the Mondragon federation in the Basque Country has operated for 70 years with more than 80,000 worker-owners across 100 cooperatives.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Open-Source Commons: Linux and Wikipedia demonstrate that commons-based production can exceed proprietary alternatives at global scale, without intellectual property monopoly as an incentive.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Community Development Finance: 1,432 Treasury-certified CDFIs hold more than $222 billion in assets nationally. These are the institutions through which Bootstrap Grants would flow under the FRDI Act.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FRDI Act does not create these institutions. It removes the legal barriers that keep them fragmented, provides the technical infrastructure that connects them, and supplies the capitalization that allows them to scale.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3201A"/>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Text 5"/>
          <p:cNvSpPr/>
          <p:nvPr/>
        </p:nvSpPr>
        <p:spPr>
          <a:xfrm>
            <a:off x="411480" y="594360"/>
            <a:ext cx="8229600" cy="384048"/>
          </a:xfrm>
          <a:prstGeom prst="rect">
            <a:avLst/>
          </a:prstGeom>
          <a:noFill/>
          <a:ln/>
        </p:spPr>
        <p:txBody>
          <a:bodyPr wrap="square" rtlCol="0" anchor="ctr"/>
          <a:lstStyle/>
          <a:p>
            <a:pPr indent="0" marL="0">
              <a:buNone/>
            </a:pPr>
            <a:r>
              <a:rPr lang="en-US" sz="1400" b="1" spc="400" kern="0" dirty="0">
                <a:solidFill>
                  <a:srgbClr val="97BC62"/>
                </a:solidFill>
                <a:latin typeface="Arial" pitchFamily="34" charset="0"/>
                <a:ea typeface="Arial" pitchFamily="34" charset="-122"/>
                <a:cs typeface="Arial" pitchFamily="34" charset="-120"/>
              </a:rPr>
              <a:t>Section V</a:t>
            </a:r>
            <a:endParaRPr lang="en-US" sz="1400" dirty="0"/>
          </a:p>
        </p:txBody>
      </p:sp>
      <p:sp>
        <p:nvSpPr>
          <p:cNvPr id="8" name="Text 6"/>
          <p:cNvSpPr/>
          <p:nvPr/>
        </p:nvSpPr>
        <p:spPr>
          <a:xfrm>
            <a:off x="411480" y="1005840"/>
            <a:ext cx="8229600" cy="19202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Constitutional</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Foundations</a:t>
            </a:r>
            <a:endParaRPr lang="en-US" sz="3400" dirty="0"/>
          </a:p>
        </p:txBody>
      </p:sp>
      <p:sp>
        <p:nvSpPr>
          <p:cNvPr id="9" name="Text 7"/>
          <p:cNvSpPr/>
          <p:nvPr/>
        </p:nvSpPr>
        <p:spPr>
          <a:xfrm>
            <a:off x="411480" y="3017520"/>
            <a:ext cx="8229600" cy="777240"/>
          </a:xfrm>
          <a:prstGeom prst="rect">
            <a:avLst/>
          </a:prstGeom>
          <a:noFill/>
          <a:ln/>
        </p:spPr>
        <p:txBody>
          <a:bodyPr wrap="square" rtlCol="0" anchor="ctr"/>
          <a:lstStyle/>
          <a:p>
            <a:pPr indent="0" marL="0">
              <a:buNone/>
            </a:pPr>
            <a:r>
              <a:rPr lang="en-US" sz="1500" i="1" dirty="0">
                <a:solidFill>
                  <a:srgbClr val="F8F6F0"/>
                </a:solidFill>
                <a:latin typeface="Calibri" pitchFamily="34" charset="0"/>
                <a:ea typeface="Calibri" pitchFamily="34" charset="-122"/>
                <a:cs typeface="Calibri" pitchFamily="34" charset="-120"/>
              </a:rPr>
              <a:t>Each bill's Findings section states its constitutional anchors explicitly</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320040"/>
            <a:ext cx="1280160" cy="347472"/>
          </a:xfrm>
          <a:prstGeom prst="roundRect">
            <a:avLst>
              <a:gd name="adj" fmla="val 13158"/>
            </a:avLst>
          </a:prstGeom>
          <a:solidFill>
            <a:srgbClr val="23201A"/>
          </a:solidFill>
          <a:ln/>
        </p:spPr>
      </p:sp>
      <p:sp>
        <p:nvSpPr>
          <p:cNvPr id="8" name="Text 6"/>
          <p:cNvSpPr/>
          <p:nvPr/>
        </p:nvSpPr>
        <p:spPr>
          <a:xfrm>
            <a:off x="411480" y="320040"/>
            <a:ext cx="1280160" cy="347472"/>
          </a:xfrm>
          <a:prstGeom prst="rect">
            <a:avLst/>
          </a:prstGeom>
          <a:noFill/>
          <a:ln/>
        </p:spPr>
        <p:txBody>
          <a:bodyPr wrap="square" lIns="0" tIns="0" rIns="0" bIns="0" rtlCol="0" anchor="ctr"/>
          <a:lstStyle/>
          <a:p>
            <a:pPr algn="ctr" indent="0" marL="0">
              <a:buNone/>
            </a:pPr>
            <a:r>
              <a:rPr lang="en-US" sz="1000" b="1" dirty="0">
                <a:solidFill>
                  <a:srgbClr val="97BC62"/>
                </a:solidFill>
                <a:latin typeface="Calibri" pitchFamily="34" charset="0"/>
                <a:ea typeface="Calibri" pitchFamily="34" charset="-122"/>
                <a:cs typeface="Calibri" pitchFamily="34" charset="-120"/>
              </a:rPr>
              <a:t>Constitutional Basis</a:t>
            </a:r>
            <a:endParaRPr lang="en-US" sz="1000" dirty="0"/>
          </a:p>
        </p:txBody>
      </p:sp>
      <p:sp>
        <p:nvSpPr>
          <p:cNvPr id="9" name="Text 7"/>
          <p:cNvSpPr/>
          <p:nvPr/>
        </p:nvSpPr>
        <p:spPr>
          <a:xfrm>
            <a:off x="411480" y="777240"/>
            <a:ext cx="8046720" cy="713232"/>
          </a:xfrm>
          <a:prstGeom prst="rect">
            <a:avLst/>
          </a:prstGeom>
          <a:noFill/>
          <a:ln/>
        </p:spPr>
        <p:txBody>
          <a:bodyPr wrap="square" rtlCol="0" anchor="ctr"/>
          <a:lstStyle/>
          <a:p>
            <a:pPr indent="0" marL="0">
              <a:buNone/>
            </a:pPr>
            <a:r>
              <a:rPr lang="en-US" sz="2200" b="1" dirty="0">
                <a:solidFill>
                  <a:srgbClr val="1A1814"/>
                </a:solidFill>
                <a:latin typeface="Cambria" pitchFamily="34" charset="0"/>
                <a:ea typeface="Cambria" pitchFamily="34" charset="-122"/>
                <a:cs typeface="Cambria" pitchFamily="34" charset="-120"/>
              </a:rPr>
              <a:t>The Constitutional Foundations</a:t>
            </a:r>
            <a:endParaRPr lang="en-US" sz="2200" dirty="0"/>
          </a:p>
        </p:txBody>
      </p:sp>
      <p:sp>
        <p:nvSpPr>
          <p:cNvPr id="10" name="Shape 8"/>
          <p:cNvSpPr/>
          <p:nvPr/>
        </p:nvSpPr>
        <p:spPr>
          <a:xfrm>
            <a:off x="411480" y="1527048"/>
            <a:ext cx="8321040" cy="0"/>
          </a:xfrm>
          <a:prstGeom prst="line">
            <a:avLst/>
          </a:prstGeom>
          <a:noFill/>
          <a:ln w="19050">
            <a:solidFill>
              <a:srgbClr val="97BC62"/>
            </a:solidFill>
            <a:prstDash val="solid"/>
          </a:ln>
        </p:spPr>
      </p:sp>
      <p:pic>
        <p:nvPicPr>
          <p:cNvPr id="11" name="Image 0" descr="preencoded.png">    </p:cNvPr>
          <p:cNvPicPr>
            <a:picLocks noChangeAspect="1"/>
          </p:cNvPicPr>
          <p:nvPr/>
        </p:nvPicPr>
        <p:blipFill>
          <a:blip r:embed="rId1"/>
          <a:stretch>
            <a:fillRect/>
          </a:stretch>
        </p:blipFill>
        <p:spPr>
          <a:xfrm>
            <a:off x="7863840" y="274320"/>
            <a:ext cx="594360" cy="594360"/>
          </a:xfrm>
          <a:prstGeom prst="rect">
            <a:avLst/>
          </a:prstGeom>
        </p:spPr>
      </p:pic>
      <p:sp>
        <p:nvSpPr>
          <p:cNvPr id="12" name="Text 9"/>
          <p:cNvSpPr/>
          <p:nvPr/>
        </p:nvSpPr>
        <p:spPr>
          <a:xfrm>
            <a:off x="411480" y="1664208"/>
            <a:ext cx="8321040" cy="3246120"/>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program's constitutional anchors are bill-specific and speak to multiple audiences simultaneously: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FRDI Act: Article I Section 8 (the IP Commons: the Constitution says "for limited times," and 70 years past death is not limited); Tenth Amendment (subsidiarity, decentralization, jurisdictional autonomy)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HRCR Act: Eighth Amendment (proportionality and human dignity); Thirteenth Amendment (the prison labor exception has been exploited long enough); Fourteenth Amendment (equal protection, documented racial disparity); Fifth Amendment (due process: you cannot take someone's property without a conviction)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FCSAG: Article I Section 8 (defense powers serve the people, not monetary arrangements); Fifth Amendment (due process: no automated final determinations affecting individual rights)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ISRN: Article II Section 2 (treaty power: negotiating authorization, not unilateral abrogation); Supremacy Clause (existing obligations honored throughout); Tenth Amendment (subsidiarity extended to the international scale)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320040"/>
            <a:ext cx="1280160" cy="347472"/>
          </a:xfrm>
          <a:prstGeom prst="roundRect">
            <a:avLst>
              <a:gd name="adj" fmla="val 13158"/>
            </a:avLst>
          </a:prstGeom>
          <a:solidFill>
            <a:srgbClr val="23201A"/>
          </a:solidFill>
          <a:ln/>
        </p:spPr>
      </p:sp>
      <p:sp>
        <p:nvSpPr>
          <p:cNvPr id="8" name="Text 6"/>
          <p:cNvSpPr/>
          <p:nvPr/>
        </p:nvSpPr>
        <p:spPr>
          <a:xfrm>
            <a:off x="411480" y="320040"/>
            <a:ext cx="1280160" cy="347472"/>
          </a:xfrm>
          <a:prstGeom prst="rect">
            <a:avLst/>
          </a:prstGeom>
          <a:noFill/>
          <a:ln/>
        </p:spPr>
        <p:txBody>
          <a:bodyPr wrap="square" lIns="0" tIns="0" rIns="0" bIns="0" rtlCol="0" anchor="ctr"/>
          <a:lstStyle/>
          <a:p>
            <a:pPr algn="ctr" indent="0" marL="0">
              <a:buNone/>
            </a:pPr>
            <a:r>
              <a:rPr lang="en-US" sz="1000" b="1" dirty="0">
                <a:solidFill>
                  <a:srgbClr val="97BC62"/>
                </a:solidFill>
                <a:latin typeface="Calibri" pitchFamily="34" charset="0"/>
                <a:ea typeface="Calibri" pitchFamily="34" charset="-122"/>
                <a:cs typeface="Calibri" pitchFamily="34" charset="-120"/>
              </a:rPr>
              <a:t>Human Rights by Design</a:t>
            </a:r>
            <a:endParaRPr lang="en-US" sz="1000" dirty="0"/>
          </a:p>
        </p:txBody>
      </p:sp>
      <p:sp>
        <p:nvSpPr>
          <p:cNvPr id="9" name="Text 7"/>
          <p:cNvSpPr/>
          <p:nvPr/>
        </p:nvSpPr>
        <p:spPr>
          <a:xfrm>
            <a:off x="411480" y="777240"/>
            <a:ext cx="8046720" cy="713232"/>
          </a:xfrm>
          <a:prstGeom prst="rect">
            <a:avLst/>
          </a:prstGeom>
          <a:noFill/>
          <a:ln/>
        </p:spPr>
        <p:txBody>
          <a:bodyPr wrap="square" rtlCol="0" anchor="ctr"/>
          <a:lstStyle/>
          <a:p>
            <a:pPr indent="0" marL="0">
              <a:buNone/>
            </a:pPr>
            <a:r>
              <a:rPr lang="en-US" sz="2200" b="1" dirty="0">
                <a:solidFill>
                  <a:srgbClr val="1A1814"/>
                </a:solidFill>
                <a:latin typeface="Cambria" pitchFamily="34" charset="0"/>
                <a:ea typeface="Cambria" pitchFamily="34" charset="-122"/>
                <a:cs typeface="Cambria" pitchFamily="34" charset="-120"/>
              </a:rPr>
              <a:t>Human Rights by Design, Not Decree</a:t>
            </a:r>
            <a:endParaRPr lang="en-US" sz="2200" dirty="0"/>
          </a:p>
        </p:txBody>
      </p:sp>
      <p:sp>
        <p:nvSpPr>
          <p:cNvPr id="10" name="Shape 8"/>
          <p:cNvSpPr/>
          <p:nvPr/>
        </p:nvSpPr>
        <p:spPr>
          <a:xfrm>
            <a:off x="411480" y="1527048"/>
            <a:ext cx="8321040" cy="0"/>
          </a:xfrm>
          <a:prstGeom prst="line">
            <a:avLst/>
          </a:prstGeom>
          <a:noFill/>
          <a:ln w="19050">
            <a:solidFill>
              <a:srgbClr val="97BC62"/>
            </a:solidFill>
            <a:prstDash val="solid"/>
          </a:ln>
        </p:spPr>
      </p:sp>
      <p:pic>
        <p:nvPicPr>
          <p:cNvPr id="11" name="Image 0" descr="preencoded.png">    </p:cNvPr>
          <p:cNvPicPr>
            <a:picLocks noChangeAspect="1"/>
          </p:cNvPicPr>
          <p:nvPr/>
        </p:nvPicPr>
        <p:blipFill>
          <a:blip r:embed="rId1"/>
          <a:stretch>
            <a:fillRect/>
          </a:stretch>
        </p:blipFill>
        <p:spPr>
          <a:xfrm>
            <a:off x="7863840" y="274320"/>
            <a:ext cx="594360" cy="594360"/>
          </a:xfrm>
          <a:prstGeom prst="rect">
            <a:avLst/>
          </a:prstGeom>
        </p:spPr>
      </p:pic>
      <p:sp>
        <p:nvSpPr>
          <p:cNvPr id="12" name="Text 9"/>
          <p:cNvSpPr/>
          <p:nvPr/>
        </p:nvSpPr>
        <p:spPr>
          <a:xfrm>
            <a:off x="411480" y="1664208"/>
            <a:ext cx="8321040" cy="3246120"/>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A common objection to decentralized governance: without a central enforcement authority, local communities can become insular or abusive. This program addresses that concern architecturally rather than bureaucratically.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peer audit system is the immune response. Every Qualified Federated Network must continuously demonstrate compliance with the Ostrom Standards of Stewardship to maintain certification and network access. A node that strips rights or concentrates power begins failing its peer audits. The protocol responds: resource flows are restricted, data portability is activated for affected members, and the node is isolated from network commons.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network does not police morals. It enforces protocol health. A community that violates human rights is treated like corrupted code: isolated, deprived of resources, and starved of human capital until it corrects or collapses.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Communities that build genuine inclusion into their own audit parameters out-innovate and out-survive monocultures. Diversity is not a mandate here; it is a competitive advantage. The math of systemic fitness makes the argument that legislation does not need to make by decree.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right to exit completes the picture. A member of a failing node is never trapped: commons identity, provision rights, and governance standing migrate with the person to any other Qualified Federated Network.</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3201A"/>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Text 5"/>
          <p:cNvSpPr/>
          <p:nvPr/>
        </p:nvSpPr>
        <p:spPr>
          <a:xfrm>
            <a:off x="411480" y="594360"/>
            <a:ext cx="8229600" cy="384048"/>
          </a:xfrm>
          <a:prstGeom prst="rect">
            <a:avLst/>
          </a:prstGeom>
          <a:noFill/>
          <a:ln/>
        </p:spPr>
        <p:txBody>
          <a:bodyPr wrap="square" rtlCol="0" anchor="ctr"/>
          <a:lstStyle/>
          <a:p>
            <a:pPr indent="0" marL="0">
              <a:buNone/>
            </a:pPr>
            <a:r>
              <a:rPr lang="en-US" sz="1400" b="1" spc="400" kern="0" dirty="0">
                <a:solidFill>
                  <a:srgbClr val="97BC62"/>
                </a:solidFill>
                <a:latin typeface="Arial" pitchFamily="34" charset="0"/>
                <a:ea typeface="Arial" pitchFamily="34" charset="-122"/>
                <a:cs typeface="Arial" pitchFamily="34" charset="-120"/>
              </a:rPr>
              <a:t>Section VI</a:t>
            </a:r>
            <a:endParaRPr lang="en-US" sz="1400" dirty="0"/>
          </a:p>
        </p:txBody>
      </p:sp>
      <p:sp>
        <p:nvSpPr>
          <p:cNvPr id="8" name="Text 6"/>
          <p:cNvSpPr/>
          <p:nvPr/>
        </p:nvSpPr>
        <p:spPr>
          <a:xfrm>
            <a:off x="411480" y="1005840"/>
            <a:ext cx="8229600" cy="19202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CC0:</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No Permission Required</a:t>
            </a:r>
            <a:endParaRPr lang="en-US" sz="3400" dirty="0"/>
          </a:p>
        </p:txBody>
      </p:sp>
      <p:sp>
        <p:nvSpPr>
          <p:cNvPr id="9" name="Text 7"/>
          <p:cNvSpPr/>
          <p:nvPr/>
        </p:nvSpPr>
        <p:spPr>
          <a:xfrm>
            <a:off x="411480" y="3017520"/>
            <a:ext cx="8229600" cy="777240"/>
          </a:xfrm>
          <a:prstGeom prst="rect">
            <a:avLst/>
          </a:prstGeom>
          <a:noFill/>
          <a:ln/>
        </p:spPr>
        <p:txBody>
          <a:bodyPr wrap="square" rtlCol="0" anchor="ctr"/>
          <a:lstStyle/>
          <a:p>
            <a:pPr indent="0" marL="0">
              <a:buNone/>
            </a:pPr>
            <a:r>
              <a:rPr lang="en-US" sz="1500" i="1" dirty="0">
                <a:solidFill>
                  <a:srgbClr val="F8F6F0"/>
                </a:solidFill>
                <a:latin typeface="Calibri" pitchFamily="34" charset="0"/>
                <a:ea typeface="Calibri" pitchFamily="34" charset="-122"/>
                <a:cs typeface="Calibri" pitchFamily="34" charset="-120"/>
              </a:rPr>
              <a:t>Open legislative infrastructure: free to read, cite, adapt, introduce, and build upon</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320040"/>
            <a:ext cx="1280160" cy="347472"/>
          </a:xfrm>
          <a:prstGeom prst="roundRect">
            <a:avLst>
              <a:gd name="adj" fmla="val 13158"/>
            </a:avLst>
          </a:prstGeom>
          <a:solidFill>
            <a:srgbClr val="23201A"/>
          </a:solidFill>
          <a:ln/>
        </p:spPr>
      </p:sp>
      <p:sp>
        <p:nvSpPr>
          <p:cNvPr id="8" name="Text 6"/>
          <p:cNvSpPr/>
          <p:nvPr/>
        </p:nvSpPr>
        <p:spPr>
          <a:xfrm>
            <a:off x="411480" y="320040"/>
            <a:ext cx="1280160" cy="347472"/>
          </a:xfrm>
          <a:prstGeom prst="rect">
            <a:avLst/>
          </a:prstGeom>
          <a:noFill/>
          <a:ln/>
        </p:spPr>
        <p:txBody>
          <a:bodyPr wrap="square" lIns="0" tIns="0" rIns="0" bIns="0" rtlCol="0" anchor="ctr"/>
          <a:lstStyle/>
          <a:p>
            <a:pPr algn="ctr" indent="0" marL="0">
              <a:buNone/>
            </a:pPr>
            <a:r>
              <a:rPr lang="en-US" sz="1000" b="1" dirty="0">
                <a:solidFill>
                  <a:srgbClr val="97BC62"/>
                </a:solidFill>
                <a:latin typeface="Calibri" pitchFamily="34" charset="0"/>
                <a:ea typeface="Calibri" pitchFamily="34" charset="-122"/>
                <a:cs typeface="Calibri" pitchFamily="34" charset="-120"/>
              </a:rPr>
              <a:t>CC0 1.0 Universal</a:t>
            </a:r>
            <a:endParaRPr lang="en-US" sz="1000" dirty="0"/>
          </a:p>
        </p:txBody>
      </p:sp>
      <p:sp>
        <p:nvSpPr>
          <p:cNvPr id="9" name="Text 7"/>
          <p:cNvSpPr/>
          <p:nvPr/>
        </p:nvSpPr>
        <p:spPr>
          <a:xfrm>
            <a:off x="411480" y="777240"/>
            <a:ext cx="8046720" cy="713232"/>
          </a:xfrm>
          <a:prstGeom prst="rect">
            <a:avLst/>
          </a:prstGeom>
          <a:noFill/>
          <a:ln/>
        </p:spPr>
        <p:txBody>
          <a:bodyPr wrap="square" rtlCol="0" anchor="ctr"/>
          <a:lstStyle/>
          <a:p>
            <a:pPr indent="0" marL="0">
              <a:buNone/>
            </a:pPr>
            <a:r>
              <a:rPr lang="en-US" sz="2200" b="1" dirty="0">
                <a:solidFill>
                  <a:srgbClr val="1A1814"/>
                </a:solidFill>
                <a:latin typeface="Cambria" pitchFamily="34" charset="0"/>
                <a:ea typeface="Cambria" pitchFamily="34" charset="-122"/>
                <a:cs typeface="Cambria" pitchFamily="34" charset="-120"/>
              </a:rPr>
              <a:t>Read It. Fork It. Make It Your Own.</a:t>
            </a:r>
            <a:endParaRPr lang="en-US" sz="2200" dirty="0"/>
          </a:p>
        </p:txBody>
      </p:sp>
      <p:sp>
        <p:nvSpPr>
          <p:cNvPr id="10" name="Shape 8"/>
          <p:cNvSpPr/>
          <p:nvPr/>
        </p:nvSpPr>
        <p:spPr>
          <a:xfrm>
            <a:off x="411480" y="1527048"/>
            <a:ext cx="8321040" cy="0"/>
          </a:xfrm>
          <a:prstGeom prst="line">
            <a:avLst/>
          </a:prstGeom>
          <a:noFill/>
          <a:ln w="19050">
            <a:solidFill>
              <a:srgbClr val="97BC62"/>
            </a:solidFill>
            <a:prstDash val="solid"/>
          </a:ln>
        </p:spPr>
      </p:sp>
      <p:pic>
        <p:nvPicPr>
          <p:cNvPr id="11" name="Image 0" descr="preencoded.png">    </p:cNvPr>
          <p:cNvPicPr>
            <a:picLocks noChangeAspect="1"/>
          </p:cNvPicPr>
          <p:nvPr/>
        </p:nvPicPr>
        <p:blipFill>
          <a:blip r:embed="rId1"/>
          <a:stretch>
            <a:fillRect/>
          </a:stretch>
        </p:blipFill>
        <p:spPr>
          <a:xfrm>
            <a:off x="7863840" y="274320"/>
            <a:ext cx="594360" cy="594360"/>
          </a:xfrm>
          <a:prstGeom prst="rect">
            <a:avLst/>
          </a:prstGeom>
        </p:spPr>
      </p:pic>
      <p:sp>
        <p:nvSpPr>
          <p:cNvPr id="12" name="Text 9"/>
          <p:cNvSpPr/>
          <p:nvPr/>
        </p:nvSpPr>
        <p:spPr>
          <a:xfrm>
            <a:off x="411480" y="1664208"/>
            <a:ext cx="8321040" cy="3246120"/>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This program is published under CC0 1.0 Universal: the most complete public domain dedication available under copyright law. All copyright and related rights are waived permanently, irrevocably, worldwide, for any purpose.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Legislators can introduce any or all of these bills under their own names, modify any provision, and use any section as model language. No attribution required. No notice required.</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Advocates can cite any provision as model language for state-level legislation, municipal ordinances, or organizational governance documents.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Community builders can implement the QFN certification criteria and the open-source technical standards now, at the community level, in advance of federal enactment.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No permission required from anyone, ever. The intellectual foundation is Elinor Ostrom's. The institutional proof of concept belongs to the communities that built it. The drafting is offered to whoever will use it.</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320040"/>
            <a:ext cx="1280160" cy="347472"/>
          </a:xfrm>
          <a:prstGeom prst="roundRect">
            <a:avLst>
              <a:gd name="adj" fmla="val 13158"/>
            </a:avLst>
          </a:prstGeom>
          <a:solidFill>
            <a:srgbClr val="23201A"/>
          </a:solidFill>
          <a:ln/>
        </p:spPr>
      </p:sp>
      <p:sp>
        <p:nvSpPr>
          <p:cNvPr id="8" name="Text 6"/>
          <p:cNvSpPr/>
          <p:nvPr/>
        </p:nvSpPr>
        <p:spPr>
          <a:xfrm>
            <a:off x="411480" y="320040"/>
            <a:ext cx="1280160" cy="347472"/>
          </a:xfrm>
          <a:prstGeom prst="rect">
            <a:avLst/>
          </a:prstGeom>
          <a:noFill/>
          <a:ln/>
        </p:spPr>
        <p:txBody>
          <a:bodyPr wrap="square" lIns="0" tIns="0" rIns="0" bIns="0" rtlCol="0" anchor="ctr"/>
          <a:lstStyle/>
          <a:p>
            <a:pPr algn="ctr" indent="0" marL="0">
              <a:buNone/>
            </a:pPr>
            <a:r>
              <a:rPr lang="en-US" sz="1000" b="1" dirty="0">
                <a:solidFill>
                  <a:srgbClr val="97BC62"/>
                </a:solidFill>
                <a:latin typeface="Calibri" pitchFamily="34" charset="0"/>
                <a:ea typeface="Calibri" pitchFamily="34" charset="-122"/>
                <a:cs typeface="Calibri" pitchFamily="34" charset="-120"/>
              </a:rPr>
              <a:t>The Repository</a:t>
            </a:r>
            <a:endParaRPr lang="en-US" sz="1000" dirty="0"/>
          </a:p>
        </p:txBody>
      </p:sp>
      <p:sp>
        <p:nvSpPr>
          <p:cNvPr id="9" name="Text 7"/>
          <p:cNvSpPr/>
          <p:nvPr/>
        </p:nvSpPr>
        <p:spPr>
          <a:xfrm>
            <a:off x="411480" y="777240"/>
            <a:ext cx="8046720" cy="713232"/>
          </a:xfrm>
          <a:prstGeom prst="rect">
            <a:avLst/>
          </a:prstGeom>
          <a:noFill/>
          <a:ln/>
        </p:spPr>
        <p:txBody>
          <a:bodyPr wrap="square" rtlCol="0" anchor="ctr"/>
          <a:lstStyle/>
          <a:p>
            <a:pPr indent="0" marL="0">
              <a:buNone/>
            </a:pPr>
            <a:r>
              <a:rPr lang="en-US" sz="2200" b="1" dirty="0">
                <a:solidFill>
                  <a:srgbClr val="1A1814"/>
                </a:solidFill>
                <a:latin typeface="Cambria" pitchFamily="34" charset="0"/>
                <a:ea typeface="Cambria" pitchFamily="34" charset="-122"/>
                <a:cs typeface="Cambria" pitchFamily="34" charset="-120"/>
              </a:rPr>
              <a:t>Where to Find the Full Text</a:t>
            </a:r>
            <a:endParaRPr lang="en-US" sz="2200" dirty="0"/>
          </a:p>
        </p:txBody>
      </p:sp>
      <p:sp>
        <p:nvSpPr>
          <p:cNvPr id="10" name="Shape 8"/>
          <p:cNvSpPr/>
          <p:nvPr/>
        </p:nvSpPr>
        <p:spPr>
          <a:xfrm>
            <a:off x="411480" y="1527048"/>
            <a:ext cx="8321040" cy="0"/>
          </a:xfrm>
          <a:prstGeom prst="line">
            <a:avLst/>
          </a:prstGeom>
          <a:noFill/>
          <a:ln w="19050">
            <a:solidFill>
              <a:srgbClr val="97BC62"/>
            </a:solidFill>
            <a:prstDash val="solid"/>
          </a:ln>
        </p:spPr>
      </p:sp>
      <p:pic>
        <p:nvPicPr>
          <p:cNvPr id="11" name="Image 0" descr="preencoded.png">    </p:cNvPr>
          <p:cNvPicPr>
            <a:picLocks noChangeAspect="1"/>
          </p:cNvPicPr>
          <p:nvPr/>
        </p:nvPicPr>
        <p:blipFill>
          <a:blip r:embed="rId1"/>
          <a:stretch>
            <a:fillRect/>
          </a:stretch>
        </p:blipFill>
        <p:spPr>
          <a:xfrm>
            <a:off x="7863840" y="274320"/>
            <a:ext cx="594360" cy="594360"/>
          </a:xfrm>
          <a:prstGeom prst="rect">
            <a:avLst/>
          </a:prstGeom>
        </p:spPr>
      </p:pic>
      <p:sp>
        <p:nvSpPr>
          <p:cNvPr id="12" name="Text 9"/>
          <p:cNvSpPr/>
          <p:nvPr/>
        </p:nvSpPr>
        <p:spPr>
          <a:xfrm>
            <a:off x="411480" y="1664208"/>
            <a:ext cx="8321040" cy="3246120"/>
          </a:xfrm>
          <a:prstGeom prst="rect">
            <a:avLst/>
          </a:prstGeom>
          <a:noFill/>
          <a:ln/>
        </p:spPr>
        <p:txBody>
          <a:bodyPr wrap="square" rtlCol="0" anchor="t"/>
          <a:lstStyle/>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All four bills, all five presentations, and supporting materials are at: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github.com/clg1980/LegislativeSequence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The repository contains: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#1-FRDI_Act</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#2-HRCR_Act</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#3-FCSAG_Act</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#4-ISRN_Act</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LICENSE</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Presentation_1-Intro.pptx</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Presentation_2-FRDI_Act.pptx</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Presentation_3-HRCR_Act.pptx</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Presentation_4-FCSAG_Act.pptx</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Presentation_5-ISRN_Act.pptx</a:t>
            </a:r>
            <a:endParaRPr lang="en-US" sz="1350" dirty="0"/>
          </a:p>
          <a:p>
            <a:pPr algn="l" indent="0" marL="0">
              <a:lnSpc>
                <a:spcPct val="88000"/>
              </a:lnSpc>
              <a:buNone/>
            </a:pPr>
            <a:r>
              <a:rPr lang="en-US" sz="1350" dirty="0">
                <a:solidFill>
                  <a:srgbClr val="1A1814"/>
                </a:solidFill>
                <a:latin typeface="Calibri" pitchFamily="34" charset="0"/>
                <a:ea typeface="Calibri" pitchFamily="34" charset="-122"/>
                <a:cs typeface="Calibri" pitchFamily="34" charset="-120"/>
              </a:rPr>
              <a:t>README.md</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256032"/>
            <a:ext cx="8321040" cy="420624"/>
          </a:xfrm>
          <a:prstGeom prst="roundRect">
            <a:avLst>
              <a:gd name="adj" fmla="val 10870"/>
            </a:avLst>
          </a:prstGeom>
          <a:solidFill>
            <a:srgbClr val="23201A"/>
          </a:solidFill>
          <a:ln/>
        </p:spPr>
      </p:sp>
      <p:sp>
        <p:nvSpPr>
          <p:cNvPr id="8" name="Text 6"/>
          <p:cNvSpPr/>
          <p:nvPr/>
        </p:nvSpPr>
        <p:spPr>
          <a:xfrm>
            <a:off x="411480" y="256032"/>
            <a:ext cx="832104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Resources</a:t>
            </a:r>
            <a:endParaRPr lang="en-US" sz="1500" dirty="0"/>
          </a:p>
        </p:txBody>
      </p:sp>
      <p:sp>
        <p:nvSpPr>
          <p:cNvPr id="9" name="Text 7"/>
          <p:cNvSpPr/>
          <p:nvPr/>
        </p:nvSpPr>
        <p:spPr>
          <a:xfrm>
            <a:off x="411480" y="804672"/>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Grounded Solutions Network (CLT sector, national census)  </a:t>
            </a:r>
            <a:pPr indent="0" marL="0">
              <a:buNone/>
            </a:pPr>
            <a:r>
              <a:rPr lang="en-US" sz="950" dirty="0">
                <a:solidFill>
                  <a:srgbClr val="4A4238"/>
                </a:solidFill>
                <a:latin typeface="Courier New" pitchFamily="34" charset="0"/>
                <a:ea typeface="Courier New" pitchFamily="34" charset="-122"/>
                <a:cs typeface="Courier New" pitchFamily="34" charset="-120"/>
              </a:rPr>
              <a:t>groundedsolutions.org</a:t>
            </a:r>
            <a:endParaRPr lang="en-US" sz="1050" dirty="0"/>
          </a:p>
        </p:txBody>
      </p:sp>
      <p:sp>
        <p:nvSpPr>
          <p:cNvPr id="10" name="Text 8"/>
          <p:cNvSpPr/>
          <p:nvPr/>
        </p:nvSpPr>
        <p:spPr>
          <a:xfrm>
            <a:off x="411480" y="1080298"/>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Champlain Housing Trust (Burlington, VT; primary CLT proof of concept)  </a:t>
            </a:r>
            <a:pPr indent="0" marL="0">
              <a:buNone/>
            </a:pPr>
            <a:r>
              <a:rPr lang="en-US" sz="950" dirty="0">
                <a:solidFill>
                  <a:srgbClr val="4A4238"/>
                </a:solidFill>
                <a:latin typeface="Courier New" pitchFamily="34" charset="0"/>
                <a:ea typeface="Courier New" pitchFamily="34" charset="-122"/>
                <a:cs typeface="Courier New" pitchFamily="34" charset="-120"/>
              </a:rPr>
              <a:t>getahome.org</a:t>
            </a:r>
            <a:endParaRPr lang="en-US" sz="1050" dirty="0"/>
          </a:p>
        </p:txBody>
      </p:sp>
      <p:sp>
        <p:nvSpPr>
          <p:cNvPr id="11" name="Text 9"/>
          <p:cNvSpPr/>
          <p:nvPr/>
        </p:nvSpPr>
        <p:spPr>
          <a:xfrm>
            <a:off x="411480" y="1355925"/>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United States Federation of Worker Cooperatives (USFWC)  </a:t>
            </a:r>
            <a:pPr indent="0" marL="0">
              <a:buNone/>
            </a:pPr>
            <a:r>
              <a:rPr lang="en-US" sz="950" dirty="0">
                <a:solidFill>
                  <a:srgbClr val="4A4238"/>
                </a:solidFill>
                <a:latin typeface="Courier New" pitchFamily="34" charset="0"/>
                <a:ea typeface="Courier New" pitchFamily="34" charset="-122"/>
                <a:cs typeface="Courier New" pitchFamily="34" charset="-120"/>
              </a:rPr>
              <a:t>usworker.coop</a:t>
            </a:r>
            <a:endParaRPr lang="en-US" sz="1050" dirty="0"/>
          </a:p>
        </p:txBody>
      </p:sp>
      <p:sp>
        <p:nvSpPr>
          <p:cNvPr id="12" name="Text 10"/>
          <p:cNvSpPr/>
          <p:nvPr/>
        </p:nvSpPr>
        <p:spPr>
          <a:xfrm>
            <a:off x="411480" y="1631551"/>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Democracy at Work Institute (DAWI)  </a:t>
            </a:r>
            <a:pPr indent="0" marL="0">
              <a:buNone/>
            </a:pPr>
            <a:r>
              <a:rPr lang="en-US" sz="950" dirty="0">
                <a:solidFill>
                  <a:srgbClr val="4A4238"/>
                </a:solidFill>
                <a:latin typeface="Courier New" pitchFamily="34" charset="0"/>
                <a:ea typeface="Courier New" pitchFamily="34" charset="-122"/>
                <a:cs typeface="Courier New" pitchFamily="34" charset="-120"/>
              </a:rPr>
              <a:t>institute.coop</a:t>
            </a:r>
            <a:endParaRPr lang="en-US" sz="1050" dirty="0"/>
          </a:p>
        </p:txBody>
      </p:sp>
      <p:sp>
        <p:nvSpPr>
          <p:cNvPr id="13" name="Text 11"/>
          <p:cNvSpPr/>
          <p:nvPr/>
        </p:nvSpPr>
        <p:spPr>
          <a:xfrm>
            <a:off x="411480" y="1907177"/>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NCBA CLUSA (National Cooperative Business Association)  </a:t>
            </a:r>
            <a:pPr indent="0" marL="0">
              <a:buNone/>
            </a:pPr>
            <a:r>
              <a:rPr lang="en-US" sz="950" dirty="0">
                <a:solidFill>
                  <a:srgbClr val="4A4238"/>
                </a:solidFill>
                <a:latin typeface="Courier New" pitchFamily="34" charset="0"/>
                <a:ea typeface="Courier New" pitchFamily="34" charset="-122"/>
                <a:cs typeface="Courier New" pitchFamily="34" charset="-120"/>
              </a:rPr>
              <a:t>ncbaclusa.coop</a:t>
            </a:r>
            <a:endParaRPr lang="en-US" sz="1050" dirty="0"/>
          </a:p>
        </p:txBody>
      </p:sp>
      <p:sp>
        <p:nvSpPr>
          <p:cNvPr id="14" name="Text 12"/>
          <p:cNvSpPr/>
          <p:nvPr/>
        </p:nvSpPr>
        <p:spPr>
          <a:xfrm>
            <a:off x="411480" y="2182803"/>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New Economy Coalition (200+ solidarity economy organizations)  </a:t>
            </a:r>
            <a:pPr indent="0" marL="0">
              <a:buNone/>
            </a:pPr>
            <a:r>
              <a:rPr lang="en-US" sz="950" dirty="0">
                <a:solidFill>
                  <a:srgbClr val="4A4238"/>
                </a:solidFill>
                <a:latin typeface="Courier New" pitchFamily="34" charset="0"/>
                <a:ea typeface="Courier New" pitchFamily="34" charset="-122"/>
                <a:cs typeface="Courier New" pitchFamily="34" charset="-120"/>
              </a:rPr>
              <a:t>neweconomy.net</a:t>
            </a:r>
            <a:endParaRPr lang="en-US" sz="1050" dirty="0"/>
          </a:p>
        </p:txBody>
      </p:sp>
      <p:sp>
        <p:nvSpPr>
          <p:cNvPr id="15" name="Text 13"/>
          <p:cNvSpPr/>
          <p:nvPr/>
        </p:nvSpPr>
        <p:spPr>
          <a:xfrm>
            <a:off x="411480" y="2458430"/>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Mondragon Corporation (Basque Country cooperative federation)  </a:t>
            </a:r>
            <a:pPr indent="0" marL="0">
              <a:buNone/>
            </a:pPr>
            <a:r>
              <a:rPr lang="en-US" sz="950" dirty="0">
                <a:solidFill>
                  <a:srgbClr val="4A4238"/>
                </a:solidFill>
                <a:latin typeface="Courier New" pitchFamily="34" charset="0"/>
                <a:ea typeface="Courier New" pitchFamily="34" charset="-122"/>
                <a:cs typeface="Courier New" pitchFamily="34" charset="-120"/>
              </a:rPr>
              <a:t>mondragon-corporation.com</a:t>
            </a:r>
            <a:endParaRPr lang="en-US" sz="1050" dirty="0"/>
          </a:p>
        </p:txBody>
      </p:sp>
      <p:sp>
        <p:nvSpPr>
          <p:cNvPr id="16" name="Text 14"/>
          <p:cNvSpPr/>
          <p:nvPr/>
        </p:nvSpPr>
        <p:spPr>
          <a:xfrm>
            <a:off x="411480" y="2734056"/>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LabGov / Co-City Protocol (urban commons governance, 200+ cities)  </a:t>
            </a:r>
            <a:pPr indent="0" marL="0">
              <a:buNone/>
            </a:pPr>
            <a:r>
              <a:rPr lang="en-US" sz="950" dirty="0">
                <a:solidFill>
                  <a:srgbClr val="4A4238"/>
                </a:solidFill>
                <a:latin typeface="Courier New" pitchFamily="34" charset="0"/>
                <a:ea typeface="Courier New" pitchFamily="34" charset="-122"/>
                <a:cs typeface="Courier New" pitchFamily="34" charset="-120"/>
              </a:rPr>
              <a:t>labgov.city</a:t>
            </a:r>
            <a:endParaRPr lang="en-US" sz="1050" dirty="0"/>
          </a:p>
        </p:txBody>
      </p:sp>
      <p:sp>
        <p:nvSpPr>
          <p:cNvPr id="17" name="Text 15"/>
          <p:cNvSpPr/>
          <p:nvPr/>
        </p:nvSpPr>
        <p:spPr>
          <a:xfrm>
            <a:off x="411480" y="3009682"/>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Decidim Foundation (participatory governance platform, 400+ cities)  </a:t>
            </a:r>
            <a:pPr indent="0" marL="0">
              <a:buNone/>
            </a:pPr>
            <a:r>
              <a:rPr lang="en-US" sz="950" dirty="0">
                <a:solidFill>
                  <a:srgbClr val="4A4238"/>
                </a:solidFill>
                <a:latin typeface="Courier New" pitchFamily="34" charset="0"/>
                <a:ea typeface="Courier New" pitchFamily="34" charset="-122"/>
                <a:cs typeface="Courier New" pitchFamily="34" charset="-120"/>
              </a:rPr>
              <a:t>decidim.org</a:t>
            </a:r>
            <a:endParaRPr lang="en-US" sz="1050" dirty="0"/>
          </a:p>
        </p:txBody>
      </p:sp>
      <p:sp>
        <p:nvSpPr>
          <p:cNvPr id="18" name="Text 16"/>
          <p:cNvSpPr/>
          <p:nvPr/>
        </p:nvSpPr>
        <p:spPr>
          <a:xfrm>
            <a:off x="411480" y="3285309"/>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RIPESS (Intercontinental Network for Social Solidarity Economy)  </a:t>
            </a:r>
            <a:pPr indent="0" marL="0">
              <a:buNone/>
            </a:pPr>
            <a:r>
              <a:rPr lang="en-US" sz="950" dirty="0">
                <a:solidFill>
                  <a:srgbClr val="4A4238"/>
                </a:solidFill>
                <a:latin typeface="Courier New" pitchFamily="34" charset="0"/>
                <a:ea typeface="Courier New" pitchFamily="34" charset="-122"/>
                <a:cs typeface="Courier New" pitchFamily="34" charset="-120"/>
              </a:rPr>
              <a:t>ripess.org</a:t>
            </a:r>
            <a:endParaRPr lang="en-US" sz="1050" dirty="0"/>
          </a:p>
        </p:txBody>
      </p:sp>
      <p:sp>
        <p:nvSpPr>
          <p:cNvPr id="19" name="Text 17"/>
          <p:cNvSpPr/>
          <p:nvPr/>
        </p:nvSpPr>
        <p:spPr>
          <a:xfrm>
            <a:off x="411480" y="3560935"/>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P2P Foundation (commons-based peer production, global)  </a:t>
            </a:r>
            <a:pPr indent="0" marL="0">
              <a:buNone/>
            </a:pPr>
            <a:r>
              <a:rPr lang="en-US" sz="950" dirty="0">
                <a:solidFill>
                  <a:srgbClr val="4A4238"/>
                </a:solidFill>
                <a:latin typeface="Courier New" pitchFamily="34" charset="0"/>
                <a:ea typeface="Courier New" pitchFamily="34" charset="-122"/>
                <a:cs typeface="Courier New" pitchFamily="34" charset="-120"/>
              </a:rPr>
              <a:t>p2pfoundation.net</a:t>
            </a:r>
            <a:endParaRPr lang="en-US" sz="1050" dirty="0"/>
          </a:p>
        </p:txBody>
      </p:sp>
      <p:sp>
        <p:nvSpPr>
          <p:cNvPr id="20" name="Text 18"/>
          <p:cNvSpPr/>
          <p:nvPr/>
        </p:nvSpPr>
        <p:spPr>
          <a:xfrm>
            <a:off x="411480" y="3836561"/>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Creative Commons  </a:t>
            </a:r>
            <a:pPr indent="0" marL="0">
              <a:buNone/>
            </a:pPr>
            <a:r>
              <a:rPr lang="en-US" sz="950" dirty="0">
                <a:solidFill>
                  <a:srgbClr val="4A4238"/>
                </a:solidFill>
                <a:latin typeface="Courier New" pitchFamily="34" charset="0"/>
                <a:ea typeface="Courier New" pitchFamily="34" charset="-122"/>
                <a:cs typeface="Courier New" pitchFamily="34" charset="-120"/>
              </a:rPr>
              <a:t>creativecommons.org</a:t>
            </a:r>
            <a:endParaRPr lang="en-US" sz="1050" dirty="0"/>
          </a:p>
        </p:txBody>
      </p:sp>
      <p:sp>
        <p:nvSpPr>
          <p:cNvPr id="21" name="Text 19"/>
          <p:cNvSpPr/>
          <p:nvPr/>
        </p:nvSpPr>
        <p:spPr>
          <a:xfrm>
            <a:off x="411480" y="4112187"/>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Ostrom Workshop, Indiana University  </a:t>
            </a:r>
            <a:pPr indent="0" marL="0">
              <a:buNone/>
            </a:pPr>
            <a:r>
              <a:rPr lang="en-US" sz="950" dirty="0">
                <a:solidFill>
                  <a:srgbClr val="4A4238"/>
                </a:solidFill>
                <a:latin typeface="Courier New" pitchFamily="34" charset="0"/>
                <a:ea typeface="Courier New" pitchFamily="34" charset="-122"/>
                <a:cs typeface="Courier New" pitchFamily="34" charset="-120"/>
              </a:rPr>
              <a:t>ostromworkshop.indiana.edu</a:t>
            </a:r>
            <a:endParaRPr lang="en-US" sz="1050" dirty="0"/>
          </a:p>
        </p:txBody>
      </p:sp>
      <p:sp>
        <p:nvSpPr>
          <p:cNvPr id="22" name="Text 20"/>
          <p:cNvSpPr/>
          <p:nvPr/>
        </p:nvSpPr>
        <p:spPr>
          <a:xfrm>
            <a:off x="411480" y="4387814"/>
            <a:ext cx="8321040" cy="266482"/>
          </a:xfrm>
          <a:prstGeom prst="rect">
            <a:avLst/>
          </a:prstGeom>
          <a:noFill/>
          <a:ln/>
        </p:spPr>
        <p:txBody>
          <a:bodyPr wrap="square" rtlCol="0" anchor="ctr"/>
          <a:lstStyle/>
          <a:p>
            <a:pPr indent="0" marL="0">
              <a:buNone/>
            </a:pPr>
            <a:r>
              <a:rPr lang="en-US" sz="1050" dirty="0">
                <a:solidFill>
                  <a:srgbClr val="1A1814"/>
                </a:solidFill>
                <a:latin typeface="Calibri" pitchFamily="34" charset="0"/>
                <a:ea typeface="Calibri" pitchFamily="34" charset="-122"/>
                <a:cs typeface="Calibri" pitchFamily="34" charset="-120"/>
              </a:rPr>
              <a:t>Elinor Ostrom Award  </a:t>
            </a:r>
            <a:pPr indent="0" marL="0">
              <a:buNone/>
            </a:pPr>
            <a:r>
              <a:rPr lang="en-US" sz="950" dirty="0">
                <a:solidFill>
                  <a:srgbClr val="4A4238"/>
                </a:solidFill>
                <a:latin typeface="Courier New" pitchFamily="34" charset="0"/>
                <a:ea typeface="Courier New" pitchFamily="34" charset="-122"/>
                <a:cs typeface="Courier New" pitchFamily="34" charset="-120"/>
              </a:rPr>
              <a:t>elinorostromaward.org</a:t>
            </a:r>
            <a:endParaRPr lang="en-US" sz="1050" dirty="0"/>
          </a:p>
        </p:txBody>
      </p:sp>
      <p:sp>
        <p:nvSpPr>
          <p:cNvPr id="23" name="Text 21"/>
          <p:cNvSpPr/>
          <p:nvPr/>
        </p:nvSpPr>
        <p:spPr>
          <a:xfrm>
            <a:off x="411480" y="4645152"/>
            <a:ext cx="2103120" cy="274320"/>
          </a:xfrm>
          <a:prstGeom prst="rect">
            <a:avLst/>
          </a:prstGeom>
          <a:noFill/>
          <a:ln/>
        </p:spPr>
        <p:txBody>
          <a:bodyPr wrap="square" rtlCol="0" anchor="ctr"/>
          <a:lstStyle/>
          <a:p>
            <a:pPr indent="0" marL="0">
              <a:buNone/>
            </a:pPr>
            <a:r>
              <a:rPr lang="en-US" sz="1050" b="1" dirty="0">
                <a:solidFill>
                  <a:srgbClr val="1A1814"/>
                </a:solidFill>
                <a:latin typeface="Calibri" pitchFamily="34" charset="0"/>
                <a:ea typeface="Calibri" pitchFamily="34" charset="-122"/>
                <a:cs typeface="Calibri" pitchFamily="34" charset="-120"/>
              </a:rPr>
              <a:t>Full bill text &amp; README:</a:t>
            </a:r>
            <a:endParaRPr lang="en-US" sz="1050" dirty="0"/>
          </a:p>
        </p:txBody>
      </p:sp>
      <p:sp>
        <p:nvSpPr>
          <p:cNvPr id="24" name="Text 22"/>
          <p:cNvSpPr/>
          <p:nvPr/>
        </p:nvSpPr>
        <p:spPr>
          <a:xfrm>
            <a:off x="2514600" y="4645152"/>
            <a:ext cx="6217920" cy="274320"/>
          </a:xfrm>
          <a:prstGeom prst="rect">
            <a:avLst/>
          </a:prstGeom>
          <a:noFill/>
          <a:ln/>
        </p:spPr>
        <p:txBody>
          <a:bodyPr wrap="square" rtlCol="0" anchor="ctr"/>
          <a:lstStyle/>
          <a:p>
            <a:pPr indent="0" marL="0">
              <a:buNone/>
            </a:pPr>
            <a:r>
              <a:rPr lang="en-US" sz="1050" dirty="0">
                <a:solidFill>
                  <a:srgbClr val="4A4238"/>
                </a:solidFill>
                <a:latin typeface="Courier New" pitchFamily="34" charset="0"/>
                <a:ea typeface="Courier New" pitchFamily="34" charset="-122"/>
                <a:cs typeface="Courier New" pitchFamily="34" charset="-120"/>
              </a:rPr>
              <a:t>github.com/clg1980/LegislativeSequence</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6F0"/>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256032"/>
            <a:ext cx="8321040" cy="420624"/>
          </a:xfrm>
          <a:prstGeom prst="roundRect">
            <a:avLst>
              <a:gd name="adj" fmla="val 10870"/>
            </a:avLst>
          </a:prstGeom>
          <a:solidFill>
            <a:srgbClr val="23201A"/>
          </a:solidFill>
          <a:ln/>
        </p:spPr>
      </p:sp>
      <p:sp>
        <p:nvSpPr>
          <p:cNvPr id="8" name="Text 6"/>
          <p:cNvSpPr/>
          <p:nvPr/>
        </p:nvSpPr>
        <p:spPr>
          <a:xfrm>
            <a:off x="411480" y="256032"/>
            <a:ext cx="832104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Further Reading</a:t>
            </a:r>
            <a:endParaRPr lang="en-US" sz="1500" dirty="0"/>
          </a:p>
        </p:txBody>
      </p:sp>
      <p:sp>
        <p:nvSpPr>
          <p:cNvPr id="9" name="Text 7"/>
          <p:cNvSpPr/>
          <p:nvPr/>
        </p:nvSpPr>
        <p:spPr>
          <a:xfrm>
            <a:off x="411480" y="804672"/>
            <a:ext cx="8321040" cy="438912"/>
          </a:xfrm>
          <a:prstGeom prst="rect">
            <a:avLst/>
          </a:prstGeom>
          <a:noFill/>
          <a:ln/>
        </p:spPr>
        <p:txBody>
          <a:bodyPr wrap="square" rtlCol="0" anchor="t"/>
          <a:lstStyle/>
          <a:p>
            <a:pPr indent="0" marL="0">
              <a:lnSpc>
                <a:spcPct val="90000"/>
              </a:lnSpc>
              <a:buNone/>
            </a:pPr>
            <a:r>
              <a:rPr lang="en-US" sz="1100" b="1" dirty="0">
                <a:solidFill>
                  <a:srgbClr val="1A1814"/>
                </a:solidFill>
                <a:latin typeface="Cambria" pitchFamily="34" charset="0"/>
                <a:ea typeface="Cambria" pitchFamily="34" charset="-122"/>
                <a:cs typeface="Cambria" pitchFamily="34" charset="-120"/>
              </a:rPr>
              <a:t>Governing the Commons</a:t>
            </a:r>
            <a:pPr indent="0" marL="0">
              <a:lnSpc>
                <a:spcPct val="90000"/>
              </a:lnSpc>
              <a:buNone/>
            </a:pPr>
            <a:r>
              <a:rPr lang="en-US" sz="950" dirty="0">
                <a:solidFill>
                  <a:srgbClr val="4A4238"/>
                </a:solidFill>
                <a:latin typeface="Calibri" pitchFamily="34" charset="0"/>
                <a:ea typeface="Calibri" pitchFamily="34" charset="-122"/>
                <a:cs typeface="Calibri" pitchFamily="34" charset="-120"/>
              </a:rPr>
              <a:t>  (1990, Cambridge University Press),  Elinor Ostrom.</a:t>
            </a:r>
            <a:pPr indent="0" marL="0">
              <a:lnSpc>
                <a:spcPct val="90000"/>
              </a:lnSpc>
              <a:buNone/>
            </a:pPr>
            <a:r>
              <a:rPr lang="en-US" sz="950" dirty="0">
                <a:solidFill>
                  <a:srgbClr val="1A1814"/>
                </a:solidFill>
                <a:latin typeface="Calibri" pitchFamily="34" charset="0"/>
                <a:ea typeface="Calibri" pitchFamily="34" charset="-122"/>
                <a:cs typeface="Calibri" pitchFamily="34" charset="-120"/>
              </a:rPr>
              <a:t>  The foundational work. Eight design principles derived from empirical fieldwork across five continents.</a:t>
            </a:r>
            <a:endParaRPr lang="en-US" sz="1100" dirty="0"/>
          </a:p>
        </p:txBody>
      </p:sp>
      <p:sp>
        <p:nvSpPr>
          <p:cNvPr id="10" name="Text 8"/>
          <p:cNvSpPr/>
          <p:nvPr/>
        </p:nvSpPr>
        <p:spPr>
          <a:xfrm>
            <a:off x="411480" y="1261872"/>
            <a:ext cx="8321040" cy="438912"/>
          </a:xfrm>
          <a:prstGeom prst="rect">
            <a:avLst/>
          </a:prstGeom>
          <a:noFill/>
          <a:ln/>
        </p:spPr>
        <p:txBody>
          <a:bodyPr wrap="square" rtlCol="0" anchor="t"/>
          <a:lstStyle/>
          <a:p>
            <a:pPr indent="0" marL="0">
              <a:lnSpc>
                <a:spcPct val="90000"/>
              </a:lnSpc>
              <a:buNone/>
            </a:pPr>
            <a:r>
              <a:rPr lang="en-US" sz="1100" b="1" dirty="0">
                <a:solidFill>
                  <a:srgbClr val="1A1814"/>
                </a:solidFill>
                <a:latin typeface="Cambria" pitchFamily="34" charset="0"/>
                <a:ea typeface="Cambria" pitchFamily="34" charset="-122"/>
                <a:cs typeface="Cambria" pitchFamily="34" charset="-120"/>
              </a:rPr>
              <a:t>Beyond Markets and States: Polycentric Governance of Complex Economic Systems</a:t>
            </a:r>
            <a:pPr indent="0" marL="0">
              <a:lnSpc>
                <a:spcPct val="90000"/>
              </a:lnSpc>
              <a:buNone/>
            </a:pPr>
            <a:r>
              <a:rPr lang="en-US" sz="950" dirty="0">
                <a:solidFill>
                  <a:srgbClr val="4A4238"/>
                </a:solidFill>
                <a:latin typeface="Calibri" pitchFamily="34" charset="0"/>
                <a:ea typeface="Calibri" pitchFamily="34" charset="-122"/>
                <a:cs typeface="Calibri" pitchFamily="34" charset="-120"/>
              </a:rPr>
              <a:t>  (2009 Nobel Lecture, American Economic Review),  Elinor Ostrom.</a:t>
            </a:r>
            <a:pPr indent="0" marL="0">
              <a:lnSpc>
                <a:spcPct val="90000"/>
              </a:lnSpc>
              <a:buNone/>
            </a:pPr>
            <a:r>
              <a:rPr lang="en-US" sz="950" dirty="0">
                <a:solidFill>
                  <a:srgbClr val="1A1814"/>
                </a:solidFill>
                <a:latin typeface="Calibri" pitchFamily="34" charset="0"/>
                <a:ea typeface="Calibri" pitchFamily="34" charset="-122"/>
                <a:cs typeface="Calibri" pitchFamily="34" charset="-120"/>
              </a:rPr>
              <a:t>  Ostrom's Nobel Prize lecture; the clearest single statement of the polycentric governance argument.</a:t>
            </a:r>
            <a:endParaRPr lang="en-US" sz="1100" dirty="0"/>
          </a:p>
        </p:txBody>
      </p:sp>
      <p:sp>
        <p:nvSpPr>
          <p:cNvPr id="11" name="Text 9"/>
          <p:cNvSpPr/>
          <p:nvPr/>
        </p:nvSpPr>
        <p:spPr>
          <a:xfrm>
            <a:off x="411480" y="1719072"/>
            <a:ext cx="8321040" cy="438912"/>
          </a:xfrm>
          <a:prstGeom prst="rect">
            <a:avLst/>
          </a:prstGeom>
          <a:noFill/>
          <a:ln/>
        </p:spPr>
        <p:txBody>
          <a:bodyPr wrap="square" rtlCol="0" anchor="t"/>
          <a:lstStyle/>
          <a:p>
            <a:pPr indent="0" marL="0">
              <a:lnSpc>
                <a:spcPct val="90000"/>
              </a:lnSpc>
              <a:buNone/>
            </a:pPr>
            <a:r>
              <a:rPr lang="en-US" sz="1100" b="1" dirty="0">
                <a:solidFill>
                  <a:srgbClr val="1A1814"/>
                </a:solidFill>
                <a:latin typeface="Cambria" pitchFamily="34" charset="0"/>
                <a:ea typeface="Cambria" pitchFamily="34" charset="-122"/>
                <a:cs typeface="Cambria" pitchFamily="34" charset="-120"/>
              </a:rPr>
              <a:t>Think Like a Commoner</a:t>
            </a:r>
            <a:pPr indent="0" marL="0">
              <a:lnSpc>
                <a:spcPct val="90000"/>
              </a:lnSpc>
              <a:buNone/>
            </a:pPr>
            <a:r>
              <a:rPr lang="en-US" sz="950" dirty="0">
                <a:solidFill>
                  <a:srgbClr val="4A4238"/>
                </a:solidFill>
                <a:latin typeface="Calibri" pitchFamily="34" charset="0"/>
                <a:ea typeface="Calibri" pitchFamily="34" charset="-122"/>
                <a:cs typeface="Calibri" pitchFamily="34" charset="-120"/>
              </a:rPr>
              <a:t>  (2014, New Society Publishers),  David Bollier.</a:t>
            </a:r>
            <a:pPr indent="0" marL="0">
              <a:lnSpc>
                <a:spcPct val="90000"/>
              </a:lnSpc>
              <a:buNone/>
            </a:pPr>
            <a:r>
              <a:rPr lang="en-US" sz="950" dirty="0">
                <a:solidFill>
                  <a:srgbClr val="1A1814"/>
                </a:solidFill>
                <a:latin typeface="Calibri" pitchFamily="34" charset="0"/>
                <a:ea typeface="Calibri" pitchFamily="34" charset="-122"/>
                <a:cs typeface="Calibri" pitchFamily="34" charset="-120"/>
              </a:rPr>
              <a:t>  The most accessible introduction to commons theory for a non-academic audience.</a:t>
            </a:r>
            <a:endParaRPr lang="en-US" sz="1100" dirty="0"/>
          </a:p>
        </p:txBody>
      </p:sp>
      <p:sp>
        <p:nvSpPr>
          <p:cNvPr id="12" name="Text 10"/>
          <p:cNvSpPr/>
          <p:nvPr/>
        </p:nvSpPr>
        <p:spPr>
          <a:xfrm>
            <a:off x="411480" y="2176272"/>
            <a:ext cx="8321040" cy="438912"/>
          </a:xfrm>
          <a:prstGeom prst="rect">
            <a:avLst/>
          </a:prstGeom>
          <a:noFill/>
          <a:ln/>
        </p:spPr>
        <p:txBody>
          <a:bodyPr wrap="square" rtlCol="0" anchor="t"/>
          <a:lstStyle/>
          <a:p>
            <a:pPr indent="0" marL="0">
              <a:lnSpc>
                <a:spcPct val="90000"/>
              </a:lnSpc>
              <a:buNone/>
            </a:pPr>
            <a:r>
              <a:rPr lang="en-US" sz="1100" b="1" dirty="0">
                <a:solidFill>
                  <a:srgbClr val="1A1814"/>
                </a:solidFill>
                <a:latin typeface="Cambria" pitchFamily="34" charset="0"/>
                <a:ea typeface="Cambria" pitchFamily="34" charset="-122"/>
                <a:cs typeface="Cambria" pitchFamily="34" charset="-120"/>
              </a:rPr>
              <a:t>Peer to Peer: The Commons Manifesto</a:t>
            </a:r>
            <a:pPr indent="0" marL="0">
              <a:lnSpc>
                <a:spcPct val="90000"/>
              </a:lnSpc>
              <a:buNone/>
            </a:pPr>
            <a:r>
              <a:rPr lang="en-US" sz="950" dirty="0">
                <a:solidFill>
                  <a:srgbClr val="4A4238"/>
                </a:solidFill>
                <a:latin typeface="Calibri" pitchFamily="34" charset="0"/>
                <a:ea typeface="Calibri" pitchFamily="34" charset="-122"/>
                <a:cs typeface="Calibri" pitchFamily="34" charset="-120"/>
              </a:rPr>
              <a:t>  (2019, University of Westminster Press),  Michel Bauwens, Vasilis Kostakis &amp; Alex Pazaitis.</a:t>
            </a:r>
            <a:pPr indent="0" marL="0">
              <a:lnSpc>
                <a:spcPct val="90000"/>
              </a:lnSpc>
              <a:buNone/>
            </a:pPr>
            <a:r>
              <a:rPr lang="en-US" sz="950" dirty="0">
                <a:solidFill>
                  <a:srgbClr val="1A1814"/>
                </a:solidFill>
                <a:latin typeface="Calibri" pitchFamily="34" charset="0"/>
                <a:ea typeface="Calibri" pitchFamily="34" charset="-122"/>
                <a:cs typeface="Calibri" pitchFamily="34" charset="-120"/>
              </a:rPr>
              <a:t>  The P2P Foundation framework for commons-based peer production at planetary scale.</a:t>
            </a:r>
            <a:endParaRPr lang="en-US" sz="1100" dirty="0"/>
          </a:p>
        </p:txBody>
      </p:sp>
      <p:sp>
        <p:nvSpPr>
          <p:cNvPr id="13" name="Text 11"/>
          <p:cNvSpPr/>
          <p:nvPr/>
        </p:nvSpPr>
        <p:spPr>
          <a:xfrm>
            <a:off x="411480" y="2633472"/>
            <a:ext cx="8321040" cy="438912"/>
          </a:xfrm>
          <a:prstGeom prst="rect">
            <a:avLst/>
          </a:prstGeom>
          <a:noFill/>
          <a:ln/>
        </p:spPr>
        <p:txBody>
          <a:bodyPr wrap="square" rtlCol="0" anchor="t"/>
          <a:lstStyle/>
          <a:p>
            <a:pPr indent="0" marL="0">
              <a:lnSpc>
                <a:spcPct val="90000"/>
              </a:lnSpc>
              <a:buNone/>
            </a:pPr>
            <a:r>
              <a:rPr lang="en-US" sz="1100" b="1" dirty="0">
                <a:solidFill>
                  <a:srgbClr val="1A1814"/>
                </a:solidFill>
                <a:latin typeface="Cambria" pitchFamily="34" charset="0"/>
                <a:ea typeface="Cambria" pitchFamily="34" charset="-122"/>
                <a:cs typeface="Cambria" pitchFamily="34" charset="-120"/>
              </a:rPr>
              <a:t>Debt: The First 5,000 Years</a:t>
            </a:r>
            <a:pPr indent="0" marL="0">
              <a:lnSpc>
                <a:spcPct val="90000"/>
              </a:lnSpc>
              <a:buNone/>
            </a:pPr>
            <a:r>
              <a:rPr lang="en-US" sz="950" dirty="0">
                <a:solidFill>
                  <a:srgbClr val="4A4238"/>
                </a:solidFill>
                <a:latin typeface="Calibri" pitchFamily="34" charset="0"/>
                <a:ea typeface="Calibri" pitchFamily="34" charset="-122"/>
                <a:cs typeface="Calibri" pitchFamily="34" charset="-120"/>
              </a:rPr>
              <a:t>  (2011, Melville House),  David Graeber.</a:t>
            </a:r>
            <a:pPr indent="0" marL="0">
              <a:lnSpc>
                <a:spcPct val="90000"/>
              </a:lnSpc>
              <a:buNone/>
            </a:pPr>
            <a:r>
              <a:rPr lang="en-US" sz="950" dirty="0">
                <a:solidFill>
                  <a:srgbClr val="1A1814"/>
                </a:solidFill>
                <a:latin typeface="Calibri" pitchFamily="34" charset="0"/>
                <a:ea typeface="Calibri" pitchFamily="34" charset="-122"/>
                <a:cs typeface="Calibri" pitchFamily="34" charset="-120"/>
              </a:rPr>
              <a:t>  The anthropological and historical case against debt as a governance instrument. Context for the commons credit system.</a:t>
            </a:r>
            <a:endParaRPr lang="en-US" sz="1100" dirty="0"/>
          </a:p>
        </p:txBody>
      </p:sp>
      <p:sp>
        <p:nvSpPr>
          <p:cNvPr id="14" name="Text 12"/>
          <p:cNvSpPr/>
          <p:nvPr/>
        </p:nvSpPr>
        <p:spPr>
          <a:xfrm>
            <a:off x="411480" y="3090672"/>
            <a:ext cx="8321040" cy="438912"/>
          </a:xfrm>
          <a:prstGeom prst="rect">
            <a:avLst/>
          </a:prstGeom>
          <a:noFill/>
          <a:ln/>
        </p:spPr>
        <p:txBody>
          <a:bodyPr wrap="square" rtlCol="0" anchor="t"/>
          <a:lstStyle/>
          <a:p>
            <a:pPr indent="0" marL="0">
              <a:lnSpc>
                <a:spcPct val="90000"/>
              </a:lnSpc>
              <a:buNone/>
            </a:pPr>
            <a:r>
              <a:rPr lang="en-US" sz="1100" b="1" dirty="0">
                <a:solidFill>
                  <a:srgbClr val="1A1814"/>
                </a:solidFill>
                <a:latin typeface="Cambria" pitchFamily="34" charset="0"/>
                <a:ea typeface="Cambria" pitchFamily="34" charset="-122"/>
                <a:cs typeface="Cambria" pitchFamily="34" charset="-120"/>
              </a:rPr>
              <a:t>Collective Courage</a:t>
            </a:r>
            <a:pPr indent="0" marL="0">
              <a:lnSpc>
                <a:spcPct val="90000"/>
              </a:lnSpc>
              <a:buNone/>
            </a:pPr>
            <a:r>
              <a:rPr lang="en-US" sz="950" dirty="0">
                <a:solidFill>
                  <a:srgbClr val="4A4238"/>
                </a:solidFill>
                <a:latin typeface="Calibri" pitchFamily="34" charset="0"/>
                <a:ea typeface="Calibri" pitchFamily="34" charset="-122"/>
                <a:cs typeface="Calibri" pitchFamily="34" charset="-120"/>
              </a:rPr>
              <a:t>  (2014, Penn State University Press),  Jessica Gordon Nembhard.</a:t>
            </a:r>
            <a:pPr indent="0" marL="0">
              <a:lnSpc>
                <a:spcPct val="90000"/>
              </a:lnSpc>
              <a:buNone/>
            </a:pPr>
            <a:r>
              <a:rPr lang="en-US" sz="950" dirty="0">
                <a:solidFill>
                  <a:srgbClr val="1A1814"/>
                </a:solidFill>
                <a:latin typeface="Calibri" pitchFamily="34" charset="0"/>
                <a:ea typeface="Calibri" pitchFamily="34" charset="-122"/>
                <a:cs typeface="Calibri" pitchFamily="34" charset="-120"/>
              </a:rPr>
              <a:t>  The definitive history of Black cooperative economics in America. Essential context for the CLT and cooperative movement.</a:t>
            </a:r>
            <a:endParaRPr lang="en-US" sz="1100" dirty="0"/>
          </a:p>
        </p:txBody>
      </p:sp>
      <p:sp>
        <p:nvSpPr>
          <p:cNvPr id="15" name="Text 13"/>
          <p:cNvSpPr/>
          <p:nvPr/>
        </p:nvSpPr>
        <p:spPr>
          <a:xfrm>
            <a:off x="411480" y="3547872"/>
            <a:ext cx="8321040" cy="438912"/>
          </a:xfrm>
          <a:prstGeom prst="rect">
            <a:avLst/>
          </a:prstGeom>
          <a:noFill/>
          <a:ln/>
        </p:spPr>
        <p:txBody>
          <a:bodyPr wrap="square" rtlCol="0" anchor="t"/>
          <a:lstStyle/>
          <a:p>
            <a:pPr indent="0" marL="0">
              <a:lnSpc>
                <a:spcPct val="90000"/>
              </a:lnSpc>
              <a:buNone/>
            </a:pPr>
            <a:r>
              <a:rPr lang="en-US" sz="1100" b="1" dirty="0">
                <a:solidFill>
                  <a:srgbClr val="1A1814"/>
                </a:solidFill>
                <a:latin typeface="Cambria" pitchFamily="34" charset="0"/>
                <a:ea typeface="Cambria" pitchFamily="34" charset="-122"/>
                <a:cs typeface="Cambria" pitchFamily="34" charset="-120"/>
              </a:rPr>
              <a:t>Doughnut Economics</a:t>
            </a:r>
            <a:pPr indent="0" marL="0">
              <a:lnSpc>
                <a:spcPct val="90000"/>
              </a:lnSpc>
              <a:buNone/>
            </a:pPr>
            <a:r>
              <a:rPr lang="en-US" sz="950" dirty="0">
                <a:solidFill>
                  <a:srgbClr val="4A4238"/>
                </a:solidFill>
                <a:latin typeface="Calibri" pitchFamily="34" charset="0"/>
                <a:ea typeface="Calibri" pitchFamily="34" charset="-122"/>
                <a:cs typeface="Calibri" pitchFamily="34" charset="-120"/>
              </a:rPr>
              <a:t>  (2017, Chelsea Green Publishing),  Kate Raworth.</a:t>
            </a:r>
            <a:pPr indent="0" marL="0">
              <a:lnSpc>
                <a:spcPct val="90000"/>
              </a:lnSpc>
              <a:buNone/>
            </a:pPr>
            <a:r>
              <a:rPr lang="en-US" sz="950" dirty="0">
                <a:solidFill>
                  <a:srgbClr val="1A1814"/>
                </a:solidFill>
                <a:latin typeface="Calibri" pitchFamily="34" charset="0"/>
                <a:ea typeface="Calibri" pitchFamily="34" charset="-122"/>
                <a:cs typeface="Calibri" pitchFamily="34" charset="-120"/>
              </a:rPr>
              <a:t>  Post-GDP economics with commons economy as a central pillar. Accessible entry point for the economic architecture.</a:t>
            </a:r>
            <a:endParaRPr lang="en-US" sz="1100" dirty="0"/>
          </a:p>
        </p:txBody>
      </p:sp>
      <p:sp>
        <p:nvSpPr>
          <p:cNvPr id="16" name="Text 14"/>
          <p:cNvSpPr/>
          <p:nvPr/>
        </p:nvSpPr>
        <p:spPr>
          <a:xfrm>
            <a:off x="411480" y="4005072"/>
            <a:ext cx="8321040" cy="438912"/>
          </a:xfrm>
          <a:prstGeom prst="rect">
            <a:avLst/>
          </a:prstGeom>
          <a:noFill/>
          <a:ln/>
        </p:spPr>
        <p:txBody>
          <a:bodyPr wrap="square" rtlCol="0" anchor="t"/>
          <a:lstStyle/>
          <a:p>
            <a:pPr indent="0" marL="0">
              <a:lnSpc>
                <a:spcPct val="90000"/>
              </a:lnSpc>
              <a:buNone/>
            </a:pPr>
            <a:r>
              <a:rPr lang="en-US" sz="1100" b="1" dirty="0">
                <a:solidFill>
                  <a:srgbClr val="1A1814"/>
                </a:solidFill>
                <a:latin typeface="Cambria" pitchFamily="34" charset="0"/>
                <a:ea typeface="Cambria" pitchFamily="34" charset="-122"/>
                <a:cs typeface="Cambria" pitchFamily="34" charset="-120"/>
              </a:rPr>
              <a:t>America Beyond Capitalism</a:t>
            </a:r>
            <a:pPr indent="0" marL="0">
              <a:lnSpc>
                <a:spcPct val="90000"/>
              </a:lnSpc>
              <a:buNone/>
            </a:pPr>
            <a:r>
              <a:rPr lang="en-US" sz="950" dirty="0">
                <a:solidFill>
                  <a:srgbClr val="4A4238"/>
                </a:solidFill>
                <a:latin typeface="Calibri" pitchFamily="34" charset="0"/>
                <a:ea typeface="Calibri" pitchFamily="34" charset="-122"/>
                <a:cs typeface="Calibri" pitchFamily="34" charset="-120"/>
              </a:rPr>
              <a:t>  (2005 / 2nd ed. 2011, Democracy Collaborative Press),  Gar Alperovitz.</a:t>
            </a:r>
            <a:pPr indent="0" marL="0">
              <a:lnSpc>
                <a:spcPct val="90000"/>
              </a:lnSpc>
              <a:buNone/>
            </a:pPr>
            <a:r>
              <a:rPr lang="en-US" sz="950" dirty="0">
                <a:solidFill>
                  <a:srgbClr val="1A1814"/>
                </a:solidFill>
                <a:latin typeface="Calibri" pitchFamily="34" charset="0"/>
                <a:ea typeface="Calibri" pitchFamily="34" charset="-122"/>
                <a:cs typeface="Calibri" pitchFamily="34" charset="-120"/>
              </a:rPr>
              <a:t>  The domestic case for systemic economic transformation through cooperative and commons institutions.</a:t>
            </a:r>
            <a:endParaRPr lang="en-US" sz="1100" dirty="0"/>
          </a:p>
        </p:txBody>
      </p:sp>
      <p:sp>
        <p:nvSpPr>
          <p:cNvPr id="17" name="Text 15"/>
          <p:cNvSpPr/>
          <p:nvPr/>
        </p:nvSpPr>
        <p:spPr>
          <a:xfrm>
            <a:off x="411480" y="4462272"/>
            <a:ext cx="8321040" cy="438912"/>
          </a:xfrm>
          <a:prstGeom prst="rect">
            <a:avLst/>
          </a:prstGeom>
          <a:noFill/>
          <a:ln/>
        </p:spPr>
        <p:txBody>
          <a:bodyPr wrap="square" rtlCol="0" anchor="t"/>
          <a:lstStyle/>
          <a:p>
            <a:pPr indent="0" marL="0">
              <a:lnSpc>
                <a:spcPct val="90000"/>
              </a:lnSpc>
              <a:buNone/>
            </a:pPr>
            <a:r>
              <a:rPr lang="en-US" sz="1100" b="1" dirty="0">
                <a:solidFill>
                  <a:srgbClr val="1A1814"/>
                </a:solidFill>
                <a:latin typeface="Cambria" pitchFamily="34" charset="0"/>
                <a:ea typeface="Cambria" pitchFamily="34" charset="-122"/>
                <a:cs typeface="Cambria" pitchFamily="34" charset="-120"/>
              </a:rPr>
              <a:t>Entangled Life</a:t>
            </a:r>
            <a:pPr indent="0" marL="0">
              <a:lnSpc>
                <a:spcPct val="90000"/>
              </a:lnSpc>
              <a:buNone/>
            </a:pPr>
            <a:r>
              <a:rPr lang="en-US" sz="950" dirty="0">
                <a:solidFill>
                  <a:srgbClr val="4A4238"/>
                </a:solidFill>
                <a:latin typeface="Calibri" pitchFamily="34" charset="0"/>
                <a:ea typeface="Calibri" pitchFamily="34" charset="-122"/>
                <a:cs typeface="Calibri" pitchFamily="34" charset="-120"/>
              </a:rPr>
              <a:t>  (2020, Random House),  Merlin Sheldrake.</a:t>
            </a:r>
            <a:pPr indent="0" marL="0">
              <a:lnSpc>
                <a:spcPct val="90000"/>
              </a:lnSpc>
              <a:buNone/>
            </a:pPr>
            <a:r>
              <a:rPr lang="en-US" sz="950" dirty="0">
                <a:solidFill>
                  <a:srgbClr val="1A1814"/>
                </a:solidFill>
                <a:latin typeface="Calibri" pitchFamily="34" charset="0"/>
                <a:ea typeface="Calibri" pitchFamily="34" charset="-122"/>
                <a:cs typeface="Calibri" pitchFamily="34" charset="-120"/>
              </a:rPr>
              <a:t>  The science of mycorrhizal networks as a biological parallel to the polycentric federated mesh architecture. Recommended for the intellectually curious.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A Commons Legislative Program for the United States</dc:title>
  <dc:subject>PptxGenJS Presentation</dc:subject>
  <dc:creator>Curtis L. Gates</dc:creator>
  <cp:lastModifiedBy>Curtis L. Gates</cp:lastModifiedBy>
  <cp:revision>1</cp:revision>
  <dcterms:created xsi:type="dcterms:W3CDTF">2026-07-30T16:30:11Z</dcterms:created>
  <dcterms:modified xsi:type="dcterms:W3CDTF">2026-07-30T16:30:11Z</dcterms:modified>
</cp:coreProperties>
</file>