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Emphasize at the outset: this bill is architecturally dependent on the FRDI Act. The restorative justice system it builds requires the material floor the FRDI Act provides. Without commons membership, there is no alternative to offer people completing accountability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anchors the HRCR Act in five distinct constitutional provisions. Each Finding corresponds to a specific operative title or section of the bill. The constitutional case is not aspirational — each amendment establishes a specific, actionable obligation that the bill's operative provisions fulfill.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is the Eighth Amendment anchor. 'Evolving standards of decency' is the Supreme Court's own language from Trop v. Dulles (1958) and its progeny. The transformative justice architecture of Title II is the legislative expression of what proportional, dignity-consistent accountability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Harm Repair Agreement and Accountability Pod together operationalize the Eighth Amendment finding. Proportionality is built into the architecture: the repair obligation is set by the harmed party and the pod, not by a mandatory minimum sentencing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 is the Thirteenth Amendment anchor. The 'punishment for crime' exception is the single most important unresolved constitutional provision in the criminal justice context. The decommissioning of federal correctional facilities eliminates the institutional infrastructure through which this exception has been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decommissioning schedule is the structural answer to the 13th Amendment finding. The Resilience Campus conversion transforms the physical infrastructure of coerced labor into cooperatively governed workplaces. The Tri-Partite Council ensures Reclaiming Stewards hold governance rights in the institutions that serve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is the Fourteenth Amendment anchor. The documented disparities are empirically established facts in the criminological literature, not contested claims. The equal protection violation is structural: the disparity is a property of the system, not of individual decision-makers.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mechanisms address the equal protection finding: abolishing the monetary extraction system (§ 201) and prohibiting the algorithmic amplification of racial disparity (§ 304). The predictive policing prohibition is particularly significant: these systems have been shown to encode and perpetuate the very disparities Finding 3 identifies.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is the Fifth Amendment anchor for the abolition of monetary assessments. Civil asset forfeiture — taking property without conviction, is the most direct Fifth Amendment violation. The fee and fine system affecting persons who have not been convicted is a close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201 is one of the most immediately impactful provisions in the Act. Outstanding federal fines and fees are discharged on enactment. Civil asset forfeiture — which has allowed federal agencies to take property from people never charged with a crime — is abolished. The replacement (Reparative Debt in Commons Credits) is non-punitive, non-incarcerating, and interest-free.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5 is the First Amendment anchor. This is the least-litigated constitutional basis in criminal justice reform, and therefore the freshest argument. The First Amendment's protection of associational freedom applies to the family and community relationships that incarceration severs.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commons membership (§ 103) is the associational repair mechanism: it provides the material foundation for community reintegration on day one. The Second Look Mandate (§ 104) addresses the proportionality dimension: extended separation from community requires periodic re-justification, not automatic continuation.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makes the empirical case. Each finding is grounded in the criminological literature, not in ideology. The punitive system fails on its own terms: it does not reduce recidivism, does not deter crime, costs $80 billion annually with no measurable benefit, deepens community harm, and generates institutional incentives for its own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6 establishes the scale. 'More than any other nation on earth' is a fact that lands differently depending on audience — for a conservative audience, frame it as a massive government program that demonstrably fails to achieve its stated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mandatory decommissioning schedule is the structural answer to the scale finding. It is not a goal or a target; it is a legislatively mandated timeline that removes the infrastructure of mass incarceration regardless of individual facility lobbying or political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7 is the recidivism finding. This is the most politically devastating finding in the Act for anyone who defends the current system on public safety grounds. The system fails on its own stated terms: it does not keep people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mechanisms together address the recidivism finding. The prosecutorial cooperation provision (§ 209) is new in the current version and is the most significant addition for serious harm cases — it provides a pathway for violent offenses that the restorative system can address without pretending that all serious harm can be handled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8 is the fiscal argument. $80 billion annually producing no measurable net reduction in harm is a government program failure by any metric. For a conservative audience: this is the most expensive failed government program in American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fiscal argument is also the reinvestment argument. The $80 billion currently spent on incarceration is redirected to commons infrastructure. The Resilience Campus conversion is the most direct expression of this: the same facilities that currently cost money become assets that generate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9 is the community harm argument. Incarceration is not a neutral response to crime: it actively worsens the conditions that generate crime. This is the circular logic of mass incarceration: it deepens the problem it claims to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 is one of the most important provisions in the Act precisely because it is administrative rather than operative. It states plainly in law what Finding 9 states in the Findings: you cannot address community harm without addressing its material causes. The two Acts are a single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10 is the profit motive finding. Private prison companies lobby for longer sentences, more mandatory minimums, and fewer alternatives to incarceration — because their revenue depends on incarcerated population. The structural conflict of interest is irreconcilable.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decommissioning schedule eliminates private prison contracts on a mandatory timeline. The conforming amendments ensure no new contracts can be awarded. Together they remove the profit motive from the federal system structurally, not through regulation of existing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makes the affirmative case. Transformative justice approaches, material security as crime prevention, and indigenous peacemaking traditions are not theoretical alternatives. They are demonstrated, empirically validated practices whose effectiveness exceeds that of the system they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11 is the affirmative effectiveness argument. Transformative justice is not an aspiration. It is a practice with a demonstrated empirical track record exceeding that of the punitive system on its own stated metric: reducing subsequent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interlocking mechanisms operationalize the transformative justice finding. The prosecutorial cooperation provision (§ 209) is the bridge for serious harm cases — it uses the Common Justice model to demonstrate that restorative accountability is viable even for violent offenses.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12 connects the HRCR Act's governance architecture directly to the Ostrom Standards established in the FRDI Act. The Accountability Pod, the Peace Keeper system, and the Transformative Justice Centers are all governed under the same eight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Ostrom Standards are the operative governance standard for every community safety institution in this Act. The Accountability Pod, the DAO, and the Peace Keeper are all governed by the same eight principles that govern CLTs and cooperatives under the FRDI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13 is the material security finding. This is the most important empirical claim in the Act. The causal relationship between poverty and harmful behavior is not contested in the criminological literature. The question is whether you address the cause or the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 is the statutory expression of Finding 13: the two Acts are a single program. Restorative justice without material security is not a justice system. It is the same coercive system with a different vocabulary. The FRDI Act's material floor is what makes the HRCR Act's restorative architecture genuine rather than performative.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14 is the indigenous traditions finding. This is both an empirical claim (indigenous peacemaking works) and a cultural respect principle (the Act draws on these traditions without imposing the Act's specific forms on communities with their own practices). Standard 2 Local Congruence — governance rules must match local conditions — is directly operative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Congruence (Standard 2) is the operative principle for both sections: the Act establishes the framework and the capitalization, not the specific form. Indigenous communities whose own traditions differ from the Act's default restorative architecture retain the right to govern their own accountability processes under their own traditions.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IV makes the systemic argument. Harmful behavior is substantially a product of material and social conditions. Any justice system oriented toward the genuine reduction of harm must address those conditions. Findings 15–17 establish the causal relationship between deprivation, untreated health conditions, and harmful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15 is the systemic causes thesis. The key phrase is 'do not excuse individual responsibility' — the Act does not eliminate accountability. It contextualizes accountability within a framework that addresses the conditions that generate harmful behavior, rather than treating harmful behavior as a free-floating individual moral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Decriminalization (§ 404) and immediate commons membership (§ 103) together address the systemic causes finding. One removes criminal penalties for health conditions. The other provides the material floor that removes the conditions of deprivation that generate both health crises and harmful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16 is the explicit dependency finding. This is the clearest statement in the Act that the HRCR Act and the FRDI Act are a single program. The Guaranteed Provision Standard is not background context for the HRCR Act. It is the mechanism through which the HRCR Act's restorative framework operates.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 is architecturally unusual: a provision that explicitly conditions an entire Act's implementation on a different Act's prior enactment. It is the legislative expression of the program's core thesis: material security and restorative justice are the same project, not two separate reforms.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17 is the health decriminalization finding. The key framing: decriminalization is not the absence of accountability. It is the routing of health conditions to health responses and harmful conduct to restorative accountability rather than punitive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Decriminalization (§ 404) + Transformative Justice Centers (§ 401) + Harm Repair Agreements (§ 204) is the three-part mechanism for Finding 17. Health conditions go to health responses. Harmful conduct goes to restorative accountability. The conflation that has driven mass incarceration of people with mental health and substance use conditions is structurally 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addresses the historical dimension. The punitive system has not only failed to provide reparative recognition to communities systematically harmed by governmental policy — it has in many cases deepened and extended that harm. Findings 18 and 19 establish the framework for institutional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18 is the historical harm finding. The list of specifically named harms — indigenous displacement, slavery, Japanese internment, discriminatory housing and lending, criminal enforcement — is an enumeration of documented, judicially recognized, or legislatively acknowledged governmental policy failures. These are not contested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Reparative Justice Commission and the Reparative Debt Framework together operationalize Finding 18. Key distinction: reparative recognition for historical institutional harm is handled through the commission process, not through individual criminal accountability. The mechanism is the commons credit settlement architecture — transferring productive capacity and governance rights, not cash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19 draws the structural distinction between individual accountability (Harm Repair Agreements for individual conduct) and institutional accountability (Reparative Justice Commission for historical policy-driven harm). The mechanisms are different because the harms are different in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Reparative Stewardship Credits (§ 203) are the operative mechanism: transferred productive capacity and governance rights denominated in commons credits. The DAO (§ 206) ensures affected communities govern the allocation. The form of reparation matches the nature of the harm: structural deprivation of productive capacity is addressed through the restoration of productive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20 is the prefigurative argument for the HRCR Act. Every institution this Act proposes to scale already exists. LEAD programs, Bay Area Transformative Justice Collective, Common Justice, Portugal's decriminalization model, and indigenous peacemaking circles are all operational. The Act provides legal recognition and capitalization, not institutional invention.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20 is the summary argument. The answer to 'has this been tried?' is yes, in every relevant dimension. LEAD for diversion, Common Justice for serious harm, Bay Area TJC for community accountability, Portugal for decriminalization, tribal peacemaking for the full restorative tradition. The Act scales what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operationalize Finding 20: the Community Mediation Network (§ 402) recognizes existing practitioners, the Jurisdictional Transfer Protocol (§ 303) provides the legal bridge from the existing system, and Proto-QFN Status (FRDI § 1001) gives immediate recognition to organizations already doing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organizations directly named in this Act or primary institutional homes for the program's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405B"/>
        </a:solidFill>
      </p:bgPr>
    </p:bg>
    <p:spTree>
      <p:nvGrpSpPr>
        <p:cNvPr id="1" name=""/>
        <p:cNvGrpSpPr/>
        <p:nvPr/>
      </p:nvGrpSpPr>
      <p:grpSpPr>
        <a:xfrm>
          <a:off x="0" y="0"/>
          <a:ext cx="0" cy="0"/>
          <a:chOff x="0" y="0"/>
          <a:chExt cx="0" cy="0"/>
        </a:xfrm>
      </p:grpSpPr>
      <p:sp>
        <p:nvSpPr>
          <p:cNvPr id="2" name="Text 0"/>
          <p:cNvSpPr/>
          <p:nvPr/>
        </p:nvSpPr>
        <p:spPr>
          <a:xfrm>
            <a:off x="457200" y="548640"/>
            <a:ext cx="8229600" cy="640080"/>
          </a:xfrm>
          <a:prstGeom prst="rect">
            <a:avLst/>
          </a:prstGeom>
          <a:noFill/>
          <a:ln/>
        </p:spPr>
        <p:txBody>
          <a:bodyPr wrap="square" rtlCol="0" anchor="ctr"/>
          <a:lstStyle/>
          <a:p>
            <a:pPr algn="ctr" indent="0" marL="0">
              <a:buNone/>
            </a:pPr>
            <a:r>
              <a:rPr lang="en-US" sz="1400" b="1" spc="600" kern="0" dirty="0">
                <a:solidFill>
                  <a:srgbClr val="F2CC8F"/>
                </a:solidFill>
                <a:latin typeface="Calibri" pitchFamily="34" charset="0"/>
                <a:ea typeface="Calibri" pitchFamily="34" charset="-122"/>
                <a:cs typeface="Calibri" pitchFamily="34" charset="-120"/>
              </a:rPr>
              <a:t>HRCR Act</a:t>
            </a:r>
            <a:endParaRPr lang="en-US" sz="1400" dirty="0"/>
          </a:p>
        </p:txBody>
      </p:sp>
      <p:sp>
        <p:nvSpPr>
          <p:cNvPr id="3" name="Text 1"/>
          <p:cNvSpPr/>
          <p:nvPr/>
        </p:nvSpPr>
        <p:spPr>
          <a:xfrm>
            <a:off x="457200" y="1188720"/>
            <a:ext cx="8229600" cy="13716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Human Reclamation and</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Community Restorative Act</a:t>
            </a:r>
            <a:endParaRPr lang="en-US" sz="3800" dirty="0"/>
          </a:p>
        </p:txBody>
      </p:sp>
      <p:sp>
        <p:nvSpPr>
          <p:cNvPr id="4" name="Shape 2"/>
          <p:cNvSpPr/>
          <p:nvPr/>
        </p:nvSpPr>
        <p:spPr>
          <a:xfrm>
            <a:off x="2286000" y="2743200"/>
            <a:ext cx="4572000" cy="0"/>
          </a:xfrm>
          <a:prstGeom prst="line">
            <a:avLst/>
          </a:prstGeom>
          <a:noFill/>
          <a:ln w="25400">
            <a:solidFill>
              <a:srgbClr val="F2CC8F"/>
            </a:solidFill>
            <a:prstDash val="solid"/>
          </a:ln>
        </p:spPr>
      </p:sp>
      <p:sp>
        <p:nvSpPr>
          <p:cNvPr id="5" name="Text 3"/>
          <p:cNvSpPr/>
          <p:nvPr/>
        </p:nvSpPr>
        <p:spPr>
          <a:xfrm>
            <a:off x="457200" y="2926080"/>
            <a:ext cx="8229600" cy="457200"/>
          </a:xfrm>
          <a:prstGeom prst="rect">
            <a:avLst/>
          </a:prstGeom>
          <a:noFill/>
          <a:ln/>
        </p:spPr>
        <p:txBody>
          <a:bodyPr wrap="square" rtlCol="0" anchor="ctr"/>
          <a:lstStyle/>
          <a:p>
            <a:pPr algn="ctr" indent="0" marL="0">
              <a:buNone/>
            </a:pPr>
            <a:r>
              <a:rPr lang="en-US" sz="1600" i="1" dirty="0">
                <a:solidFill>
                  <a:srgbClr val="F2CC8F"/>
                </a:solidFill>
                <a:latin typeface="Calibri" pitchFamily="34" charset="0"/>
                <a:ea typeface="Calibri" pitchFamily="34" charset="-122"/>
                <a:cs typeface="Calibri" pitchFamily="34" charset="-120"/>
              </a:rPr>
              <a:t>A Polycentric Commons Legislative Program — Vol. II</a:t>
            </a:r>
            <a:endParaRPr lang="en-US" sz="1600" dirty="0"/>
          </a:p>
        </p:txBody>
      </p:sp>
      <p:sp>
        <p:nvSpPr>
          <p:cNvPr id="6" name="Text 4"/>
          <p:cNvSpPr/>
          <p:nvPr/>
        </p:nvSpPr>
        <p:spPr>
          <a:xfrm>
            <a:off x="914400" y="3520440"/>
            <a:ext cx="7315200" cy="457200"/>
          </a:xfrm>
          <a:prstGeom prst="rect">
            <a:avLst/>
          </a:prstGeom>
          <a:noFill/>
          <a:ln/>
        </p:spPr>
        <p:txBody>
          <a:bodyPr wrap="square" rtlCol="0" anchor="ctr"/>
          <a:lstStyle/>
          <a:p>
            <a:pPr algn="ctr" indent="0" marL="0">
              <a:buNone/>
            </a:pPr>
            <a:r>
              <a:rPr lang="en-US" sz="1300" dirty="0">
                <a:solidFill>
                  <a:srgbClr val="F4F1DE"/>
                </a:solidFill>
                <a:latin typeface="Calibri" pitchFamily="34" charset="0"/>
                <a:ea typeface="Calibri" pitchFamily="34" charset="-122"/>
                <a:cs typeface="Calibri" pitchFamily="34" charset="-120"/>
              </a:rPr>
              <a:t>Dependent upon and architecturally integrated with the FRDI Act (Vol. I)</a:t>
            </a:r>
            <a:endParaRPr lang="en-US" sz="1300" dirty="0"/>
          </a:p>
        </p:txBody>
      </p:sp>
      <p:sp>
        <p:nvSpPr>
          <p:cNvPr id="7" name="Text 5"/>
          <p:cNvSpPr/>
          <p:nvPr/>
        </p:nvSpPr>
        <p:spPr>
          <a:xfrm>
            <a:off x="914400" y="3977640"/>
            <a:ext cx="7315200" cy="548640"/>
          </a:xfrm>
          <a:prstGeom prst="rect">
            <a:avLst/>
          </a:prstGeom>
          <a:noFill/>
          <a:ln/>
        </p:spPr>
        <p:txBody>
          <a:bodyPr wrap="square" rtlCol="0" anchor="ctr"/>
          <a:lstStyle/>
          <a:p>
            <a:pPr algn="ctr" indent="0" marL="0">
              <a:buNone/>
            </a:pPr>
            <a:r>
              <a:rPr lang="en-US" sz="1200" dirty="0">
                <a:solidFill>
                  <a:srgbClr val="F4F1DE"/>
                </a:solidFill>
                <a:latin typeface="Calibri" pitchFamily="34" charset="0"/>
                <a:ea typeface="Calibri" pitchFamily="34" charset="-122"/>
                <a:cs typeface="Calibri" pitchFamily="34" charset="-120"/>
              </a:rPr>
              <a:t>Built on the Governance Design Principles of Elinor Ostrom</a:t>
            </a:r>
            <a:endParaRPr lang="en-US" sz="1200" dirty="0"/>
          </a:p>
          <a:p>
            <a:pPr algn="ctr" indent="0" marL="0">
              <a:buNone/>
            </a:pPr>
            <a:r>
              <a:rPr lang="en-US" sz="1200" dirty="0">
                <a:solidFill>
                  <a:srgbClr val="F4F1DE"/>
                </a:solidFill>
                <a:latin typeface="Calibri" pitchFamily="34" charset="0"/>
                <a:ea typeface="Calibri" pitchFamily="34" charset="-122"/>
                <a:cs typeface="Calibri" pitchFamily="34" charset="-120"/>
              </a:rPr>
              <a:t>Nobel Laureate in Economics, 2009</a:t>
            </a:r>
            <a:endParaRPr lang="en-US" sz="1200" dirty="0"/>
          </a:p>
        </p:txBody>
      </p:sp>
      <p:sp>
        <p:nvSpPr>
          <p:cNvPr id="8" name="Text 6"/>
          <p:cNvSpPr/>
          <p:nvPr/>
        </p:nvSpPr>
        <p:spPr>
          <a:xfrm>
            <a:off x="457200" y="4663440"/>
            <a:ext cx="8229600" cy="365760"/>
          </a:xfrm>
          <a:prstGeom prst="rect">
            <a:avLst/>
          </a:prstGeom>
          <a:noFill/>
          <a:ln/>
        </p:spPr>
        <p:txBody>
          <a:bodyPr wrap="square" rtlCol="0" anchor="ctr"/>
          <a:lstStyle/>
          <a:p>
            <a:pPr algn="ctr" indent="0" marL="0">
              <a:buNone/>
            </a:pPr>
            <a:r>
              <a:rPr lang="en-US" sz="1100" dirty="0">
                <a:solidFill>
                  <a:srgbClr val="9B7B6A"/>
                </a:solidFill>
                <a:latin typeface="Courier New" pitchFamily="34" charset="0"/>
                <a:ea typeface="Courier New" pitchFamily="34" charset="-122"/>
                <a:cs typeface="Courier New" pitchFamily="34" charset="-120"/>
              </a:rPr>
              <a:t>github.com/clg1980/LegislativeSequence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07A5F"/>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Constitutional</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Basis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4F1DE"/>
                </a:solidFill>
                <a:latin typeface="Calibri" pitchFamily="34" charset="0"/>
                <a:ea typeface="Calibri" pitchFamily="34" charset="-122"/>
                <a:cs typeface="Calibri" pitchFamily="34" charset="-120"/>
              </a:rPr>
              <a:t>Findings 1–5: Five constitutional amendments, five operative mandates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Eighth Amendment: Proportionality and Human Dignity</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Eighth Amendment prohibits cruel and unusual punishment, establishing that the severity of any penal response must bear a proportional relationship to the harm addressed, and that no system of punishment may operate in a manner inconsistent with the evolving standards of decency that mark the progress of a maturing society.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punitive incarceration system, as currently practiced, fails both requirements: it imposes disproportionate sentences for nonviolent conduct and operates in conditions that no contemporary standard of decency can sustain.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 → Title II § 204, 205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204 establishes the Harm Repair Agreement: a voluntary, documented agreement between a Reclaiming Steward and the person or community harmed, specifying acts of repair, service, or material restitution, denominated in Commons Credits at the Service Resonance Rate, and constituting the primary instrument through which accountability is assessed and discharged.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205 establishes the Accountability Pod: the peer-governed restorative body that facilitates Harm Repair Agreements, ensuring both parties participate voluntarily, that the process is victim-centered, and that the terms of repair bear a direct relationship to the harm caused — not to a sentencing guideline divorced from the specific harm.</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204 · § 205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Thirteenth Amendment: Prison Labor and Involuntary Servitude</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Thirteenth Amendment abolishes involuntary servitude except as punishment for crime: a clause whose historical application to prison labor has perpetuated a system of coerced work that concentrates economic benefit in private contractors and governmental entities at the expense of incarcerated persons and their communities.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This carve-out has functioned, in practice, as a constitutional authorization for the exploitation of incarcerated people as a captive labor force.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2 → Title I § 101, 102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101 establishes the Federal Correctional Decommissioning Schedule: a mandatory, phased timeline for the closure and conversion of all federal correctional facilities, beginning with those operating at populations below fifty percent of stated capacity, eliminating the institutional infrastructure through which the Thirteenth Amendment's labor exception has been exploited.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102 establishes the Resilience Campus Conversion: closed federal correctional facilities are converted to commons infrastructure governed by a Tri-Partite Council with equal representation from Reclaiming Stewards, surrounding community members, and cooperative enterprise representatives — converting coerced labor institutions into democratic cooperative workplaces.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 § 101 · § 102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Fourteenth Amendment: Equal Protection and Documented Disparity</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Fourteenth Amendment guarantees to all persons equal protection under the law. The documented racial, economic, and geographic disparities in the application of criminal law — including disparities in arrest rates, charging decisions, plea bargain outcomes, sentencing lengths, and conditions of confinement — constitute a systemic denial of equal protection that no legitimate system of law may sustain.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3 → Title II § 201, Title III § 304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201 abolishes the system of monetary assessments: fines, fees, surcharges, and civil asset forfeiture, imposed in connection with federal criminal proceedings, removing the primary mechanism through which wealth extraction from low-income communities of color has operated under judicial cover.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304 prohibits Predictive Policing Systems and Algorithmic Risk Assessment instruments within the Qualified Federated Network: no software, algorithm, or scoring instrument using demographic, geographic, or prior contact data to predict future harmful conduct may be deployed, purchased, or used by any entity operating within the network. Predictive systems have demonstrably amplified existing racial disparities in enforcement.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201 · Title III § 304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Fifth Amendment: Due Process and Monetary Extraction</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Fifth Amendment prohibits the taking of property without due process of law and without just compensation. The system of monetary assessments imposed in connection with criminal proceedings — fines, fees, surcharges, and civil asset forfeiture — has, in application, operated as a mechanism for extracting wealth from persons who have not been convicted of any offense and from communities that can least afford such extraction, without any relationship to the repair of harm.</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4 → Title II § 201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201 establishes the Abolition of Extractive Monetary Assessments in federal criminal proceedings: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 All outstanding federal criminal fines, fees, and surcharges imposed as conditions of probation, parole, or supervision are discharged as of the effective date.</a:t>
            </a: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 Civil asset forfeiture is abolished for federal proceedings: no federal agency may seize property without a criminal conviction in the underlying case.</a:t>
            </a: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 The imposition of fines and fees as conditions of plea agreements, probation, or parole is prospectively prohibited.</a:t>
            </a: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 Reparative Debt, the only financial obligation this Act authorizes, is denominated in Commons Credits, not dollars, is not enforceable through incarceration, and does not accrue interest.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First Amendment: Association, Conscience, and Proportionality</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First Amendment guarantees the freedom of association and the freedom of conscience. Systems of mass incarceration that separate persons from their families and communities for extended periods impose burdens on associational freedom that, when imposed without proportional justification, cannot be sustained under a constitution committed to human dignity.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separation of people from their communities is not a neutral consequence of punishment. It is a specific harm imposed on families and communities who have caused no harm.</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5 → Title I § 103, 104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103 establishes Federated Commons Membership Upon Release: every person completing a period of federal supervision receives immediate, unconditional, and permanent Federated Commons Membership, including housing, nutrition, healthcare, and connectivity, on the day of release. No waiting period, no eligibility determination, no supervision conditions. The associational bonds severed by incarceration are repaired by immediate material security and community integration.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104 establishes the Second Look Mandate: any person serving a federal sentence of more than ten years may petition for review after serving eight years, with a presumption in favor of release unless the reviewing court makes specific findings of continued danger to identified individuals.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 § 103 · § 104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07A5F"/>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Failure of</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Punitive Incarceration</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4F1DE"/>
                </a:solidFill>
                <a:latin typeface="Calibri" pitchFamily="34" charset="0"/>
                <a:ea typeface="Calibri" pitchFamily="34" charset="-122"/>
                <a:cs typeface="Calibri" pitchFamily="34" charset="-120"/>
              </a:rPr>
              <a:t>Findings 6–10: The empirical case against the current system</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Scale: Two Million Incarcerated, Seven Million Supervised</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United States incarcerates more people per capita than any other nation on earth. Approximately two million persons are held in federal, state, and local correctional facilities, and approximately five million additional persons are under probation or parole supervision — a total supervised population exceeding the combined population of the twenty smallest states.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This scale of supervision is not a product of a uniquely dangerous population. It is a product of a uniquely punitive policy architecture.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6 → Title I § 101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101 establishes the Federal Correctional Decommissioning Schedule: a phased, mandatory reduction in the federal incarcerated population through a combination of sentence review (the Second Look Mandate of § 104), diversion of new cases to restorative processes (Title II), and the physical decommissioning of facilities as populations decline.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decommissioning schedule is mandatory, not aspirational. Facilities are decommissioned on a legislatively mandated timeline, beginning with those operating below fifty percent of stated capacity, with a final transition date establishing the complete conversion of all remaining federal correctional infrastructure to Resilience Campus status.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 § 101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7</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Recidivism: Incarceration Does Not Reduce It</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empirical evidence accumulated over decades of criminological research demonstrates that incarceration, as currently practiced, does not reduce recidivism. Persons released from incarceration reoffend at rates substantially higher than comparable populations who receive community-based intervention, restorative processes, or no intervention at all.</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deterrent effect of incarceration on potential offenders is marginal and significantly weaker than the deterrent effect of swift, certain, and community-grounded accountability.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7 → Title II § 204, 205, 209; Title IV § 401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204 and 205 establish Harm Repair Agreements and the Accountability Pod as the primary accountability mechanism, producing the 'swift, certain, and community-grounded accountability' that the criminological literature identifies as genuinely deterrent.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209 establishes Prosecutorial Cooperation for Serious Harm Diversion: a voluntary model protocol through which QFNs may establish standing diversion agreements with local prosecutors for serious and violent offenses, using Common Justice's Brooklyn and Bronx model as the proof of concept.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401 establishes Transformative Justice Centers in each QFN: permanent, community-governed institutions providing the support infrastructure for persons navigating accountability processes.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204 · § 205 · § 209 · Title IV § 401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8</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$80 Billion Annually: No Measurable Net Reduction in Harm</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financial cost of incarceration to federal, state, and local governments exceeds eighty billion dollars annually. This expenditure generates no measurable net reduction in harm, produces substantial economic and social harm to incarcerated persons and their communities, and diverts resources from the material and social investments — housing, nutrition, healthcare, education, and meaningful work — that empirical evidence identifies as the primary drivers of genuine community safety.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8 → Title I § 101, 102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Federal Correctional Decommissioning Schedule (§ 101) systematically reduces the incarcerated population, directly reducing the $80 billion annual expenditure as facilities close.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Resilience Campus Conversion (§ 102) redirects the physical infrastructure of incarceration — the facilities, land, and equipment — to commons use, converting a cost center into a productive asset. Former correctional facilities become cooperative housing, healthcare centers, educational campuses, and small enterprise incubators, generating community value rather than consuming public funds.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Authorization of Appropriations (§ 505) redirects a portion of the savings from decommissioning to Bootstrap Grant capitalization through the FRDI Act, ensuring that the resources freed by ending mass incarceration are invested in the material security infrastructure that replaces it.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 § 101 · § 102 · Title V § 505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Community Harm: Incarceration Deepens the Conditions That Generate It</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communities most affected by incarceration are also the communities most affected by disinvestment. Mass incarceration has operated as a mechanism for removing persons from communities already facing the structural conditions that generate harmful behavior — poverty, housing insecurity, food insecurity, unemployment, and the absence of meaningful social participation — rather than addressing those conditions.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Removing individuals from communities in crisis deepens the crisis, concentrating harm in the individuals removed and the families and communities left behind.</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9 → Title I § 103, Title V § 501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103 establishes immediate, unconditional Federated Commons Membership upon release, ensuring that every person completing federal supervision returns to a community with a functioning material floor rather than to the conditions of deprivation that generated contact with the justice system in the first place.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501 establishes the explicit statutory dependency of the HRCR Act on the FRDI Act: the restorative justice architecture of this Act is formally inseparable from the material security infrastructure of the FRDI Act. Congress acknowledges, in operative statutory language, that addressing community harm without addressing the material conditions that generate it is not a justice policy. It is a containment policy.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 § 103 · Title V § 501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Profit Motive: Institutional Incentives for Expansion</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Private entities currently profit from the incarceration of human beings through contracts for the operation of correctional facilities, the provision of services to incarcerated persons at above-market rates, and the employment of incarcerated labor at below-subsistence compensation.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This profit motive creates institutional incentives for the perpetuation and expansion of incarceration that are irreconcilable with the goal of a justice system oriented toward the reduction of harm.</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10 → Title I § 101, Title V § 504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101's Federal Correctional Decommissioning Schedule terminates federal contracts with private correctional operators on a mandatory timeline, eliminating the institutional infrastructure through which the private profit motive operates in the federal system.</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504's Conforming Amendments include amendments to the federal contracting statutes prohibiting the award of new federal correctional contracts to private operators after the effective date, and prohibiting the renewal of existing contracts. Federal correctional operations are returned to governmental accountability during the decommissioning period before full conversion to Resilience Campus status.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 § 101 · Title V § 504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07A5F"/>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Evidence for</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Transformative Justice</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4F1DE"/>
                </a:solidFill>
                <a:latin typeface="Calibri" pitchFamily="34" charset="0"/>
                <a:ea typeface="Calibri" pitchFamily="34" charset="-122"/>
                <a:cs typeface="Calibri" pitchFamily="34" charset="-120"/>
              </a:rPr>
              <a:t>Findings 11–14: What actually works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Transformative Justice Works: The Empirical Record</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Transformative justice approaches — including restorative circles, harm repair agreements, community accountability processes, and the sustained provision of material security as an alternative to punitive response — have demonstrated in domestic and international practice that communities can address harm effectively, repair relationships between those who have caused harm and those who have experienced it, and reintegrate participants into community life at substantially lower rates of subsequent harm than punitive alternatives.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11 → Title II § 204, 205, 209; Title IV § 401, 402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Sections 204 and 205 establish the Harm Repair Agreement and Accountability Pod as the primary accountability mechanism for the federal restorative system.</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209 establishes Prosecutorial Cooperation for Serious Harm Diversion: building on the Common Justice model, QFNs may establish standing diversion agreements with local prosecutors for serious and violent offenses, creating a formal pathway for restorative accountability in cases that would previously have been automatically prosecuted.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401 establishes Transformative Justice Centers as permanent community institutions providing facilitation, training, and support infrastructure for accountability processes.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402 establishes the Community Mediation Network, providing accessible, community-governed conflict resolution before matters escalate to harm requiring formal accountability processes.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204 · § 205 · § 209 · Title IV § 401 · § 402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Ostrom's Design Principles as the Governance Architecture</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empirical research of Nobel laureate Elinor Ostrom demonstrated that communities are capable of governing themselves and resolving conflicts sustainably, provided that governance structures meet defined design principles — including collective decision-making, effective monitoring, accessible conflict resolution, and recognized community autonomy.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These principles, codified as the Ostrom Standards of Stewardship under the Federal Resilience and Decentralization Initiatives Act, provide the governance architecture for the community safety institutions established by this Act.</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12 → Title II § 205, 206; Title III § 301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205 establishes the Accountability Pod under the Ostrom Standards: a locally constituted, peer-elected body governing restorative accountability processes within the QFN, with defined boundaries (Standard 1), governance rules set by members (Standard 3), peer monitoring of the accountability process (Standard 4), and graduated responses to process violations (Standard 5).</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206 establishes the HRCR-specific provisions of the Accountability Coordination DAO, building on Title VIII of the FRDI Act and extending the DAO's governance to the accountability and safety functions of the HRCR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301 establishes the Peace Keeper: a certified, non-armed community safety responder trained in de-escalation and restorative facilitation, operating under the governance authority of the Accountability Coordination DAO.</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205 · § 206 · Title III § 301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Material Security Is the Most Powerful Crime Prevention</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Nations and jurisdictions that have invested in material security — stable housing, adequate nutrition, accessible healthcare, meaningful employment, and genuine social participation — as the primary response to community harm have achieved substantially lower rates of harmful behavior than jurisdictions oriented primarily toward punitive response.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causal relationship between material deprivation and harmful behavior is among the most robustly established findings in social science.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13 → Title V § 501, Title I §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501 establishes the explicit statutory dependency of this Act on the FRDI Act's Guaranteed Provision Standard: the restorative justice framework established by this Act presupposes that every Commons Member has access to housing, nutrition, healthcare, and meaningful work. Without the material floor, restorative accountability processes cannot function as designed — because the coercive leverage of material deprivation that currently drives plea bargains and compliance with punitive conditions remains intact.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103's immediate commons membership upon release is the direct application: the material conditions that generate harmful behavior are addressed on the day of release, not deferred to a reentry services waitlist.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V § 501 · Title I § 103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Indigenous Peacemaking Traditions: Governance Knowledge That Predates the Punitive System</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Indigenous communities throughout the United States and internationally have maintained traditions of restorative and transformative justice that predate the punitive system and that have demonstrated sustained effectiveness in addressing harm, repairing relationships, and maintaining community cohesion.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These traditions represent a body of governance knowledge that the transformative justice architecture established by this Act draws upon and honors, without imposing uniformity upon communities whose own traditions may differ.</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14 → Title IV § 401, 402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401 establishes Transformative Justice Centers as QFN institutions that draw on and integrate indigenous peacemaking practices alongside other restorative traditions, with governance under Standard 2 (Local Congruence) ensuring that each center's specific practices reflect the traditions and conditions of its community rather than a nationally uniform protocol.</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402 establishes the Community Mediation Network with specific recognition of tribal peacemaking circles as an established model for the mediation and conflict resolution functions of the network, and with provisions ensuring that tribal justice systems operating within or adjacent to QFN boundaries retain their jurisdictional authority and are not subordinated to the Act's restorative architecture.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IV § 401 · § 402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07A5F"/>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Systemic</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Causes of Harm</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4F1DE"/>
                </a:solidFill>
                <a:latin typeface="Calibri" pitchFamily="34" charset="0"/>
                <a:ea typeface="Calibri" pitchFamily="34" charset="-122"/>
                <a:cs typeface="Calibri" pitchFamily="34" charset="-120"/>
              </a:rPr>
              <a:t>Findings 15–17: Addressing causes, not symptoms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Material and Social Conditions That Generate Harmful Behavior</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harmful behaviors that the justice system addresses are substantially products of the material and social conditions in which those behaviors occur. Housing insecurity, food insecurity, untreated mental health conditions, substance use disorders, economic exclusion, and the experience of historical and ongoing injustice do not excuse individual responsibility for harmful conduct, but they establish that any justice system oriented toward the genuine reduction of harm must address those conditions rather than responding only to their behavioral expressions.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15 → Title IV § 404, Title I §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404 establishes Substance Use and Mental Health Decriminalization: substance use is reclassified as a health matter rather than a criminal matter throughout the federal system. Persons whose conduct stems from untreated mental health conditions or substance use disorders are directed to the healthcare commons rather than the carceral system, with treatment provided through the cooperative healthcare network established under the FRDI Act's Guaranteed Provision Standard.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103's immediate commons membership addresses the material conditions — housing, nutrition, healthcare, meaningful work — that Finding 15 identifies as the structural generators of harmful conduct, on the day of release and prospectively for all Commons Members.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IV § 404 · Title I § 103</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FRDI Dependency: Material Security and Restorative Justice Are the Same Project</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Guaranteed Provision Standard established under the Federal Resilience and Decentralization Initiatives Act — providing every Commons Member with permanent housing, adequate nutrition, accessible healthcare, connectivity, and access to the knowledge commons — constitutes the most powerful available intervention against the material conditions that generate harmful behavior.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transformative justice framework established by this Act is inseparable from and dependent upon the material security infrastructure established by that Act.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16 → Title V § 501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501 establishes the Dependency on the FRDI Act in operative statutory language: the Titles of this Act presuppose the enactment and implementation of the Federal Resilience and Decentralization Initiatives Act, and each operative provision of this Act that references the Guaranteed Provision Standard, Federated Commons Membership, Qualified Federated Networks, or the Ostrom Standards of Stewardship is conditioned upon the existence and functionality of those institutions as established under that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This provision ensures that the HRCR Act cannot be read as a standalone criminal justice reform bill divorced from its material security foundation. It is a joint program or it is nothing.</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V § 501</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17</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Mental Health and Substance Use: Health Matters, Not Criminal Matters</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Mental health conditions and substance use disorders, when untreated or inadequately treated, contribute substantially to the behaviors that bring persons into contact with the justice system. The treatment of these conditions as criminal matters rather than health matters has produced decades of demonstrably counterproductive outcomes.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This Act establishes a framework for addressing these conditions as health matters, through the cooperative healthcare commons, while maintaining community accountability for harmful conduct through restorative rather than punitive processes.</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17 → Title IV § 404, 401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404 establishes Substance Use and Mental Health Decriminalization: federal criminal penalties for personal use, possession, and low-level distribution of controlled substances are repealed. Persons in crisis are directed to Transformative Justice Centers (§ 401) for health assessment and care through the cooperative healthcare commons, rather than to correctional facilities.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Accountability for harmful conduct committed in connection with substance use or untreated mental health conditions is addressed through Harm Repair Agreements (§ 204) that distinguish the health condition from the harmful conduct, addressing both without conflating them or using criminal processing to address what is fundamentally a health matter.</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IV § 404 · § 401 · Title II § 204</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07A5F"/>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Reparative Justice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Historical Harm</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4F1DE"/>
                </a:solidFill>
                <a:latin typeface="Calibri" pitchFamily="34" charset="0"/>
                <a:ea typeface="Calibri" pitchFamily="34" charset="-122"/>
                <a:cs typeface="Calibri" pitchFamily="34" charset="-120"/>
              </a:rPr>
              <a:t>Findings 18–19: Institutional accountability for policy-driven harm</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18</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Communities Are Owed Reparative Recognition for Policy-Driven Harm</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Communities that have been the systematic victims of governmental policies producing demonstrable material harm — including the forced displacement of indigenous peoples, the enslavement of African Americans and the subsequent century of economic exclusion enforced through law, the internment of Japanese Americans, and the systematic underdevelopment of communities of color through racially discriminatory housing, lending, and criminal enforcement policies — are owed reparative recognition that the punitive justice system has not only failed to provide but has, in many cases, deepened and extended.</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18 → Title II § 202, 203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202 establishes the Reparative Justice Commission: an independent body charged with assessing historical Reparative Debt owed by governmental and institutional actors to communities subject to systematic policy-driven harm, developing community-specific frameworks for reparative recognition, and determining the appropriate issuance of Reparative Stewardship Credits pursuant to Section 606 of the FRDI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203 establishes the Reparative Debt Framework: a structured process through which the Commission's determinations are implemented through the commons credit settlement architecture, converting historical debt from an abstract moral claim into a specific, denominated, and dischargeable obligation — without routing it through the individual criminal accountability process.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202 · § 203</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Reparative Framework: Structural Difference from Individual Accountability</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The reparative framework established by this Act addresses historical institutional harm through mechanisms that are structurally different from individual criminal accountability. Reparative Debt owed to communities is discharged through the transfer of productive capacity and governance rights, through the commons credit settlement architecture established in conjunction with the Federal Resilience and Decentralization Initiatives Act, and through the community-governed reparative justice proceedings of the Accountability Coordination DAO established under Title II of this Act.</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19 → Title II § 202, 203, 206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202's Reparative Justice Commission assesses and determines historical Reparative Debt at the institutional and governmental level, distinguishing it structurally from the individual Reparative Debt addressed through Harm Repair Agreements.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203's Reparative Debt Framework converts Commission determinations into Reparative Stewardship Credits — commons credits denominated in productive capacity transferred to the affected communities, not dollar-denominated cash payments — ensuring that reparative recognition takes the form of material capacity and governance rights rather than a one-time transfer that leaves structural conditions unchanged.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206's Accountability Coordination DAO provides the community-governed mechanism through which affected communities participate in determining how reparative credits are allocated and utilized.</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II § 202 · § 203 · § 206</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07A5F"/>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VI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This Act Does Not</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Create a New System</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4F1DE"/>
                </a:solidFill>
                <a:latin typeface="Calibri" pitchFamily="34" charset="0"/>
                <a:ea typeface="Calibri" pitchFamily="34" charset="-122"/>
                <a:cs typeface="Calibri" pitchFamily="34" charset="-120"/>
              </a:rPr>
              <a:t>Finding 20: The institutions already exist and already work</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5C4033"/>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The Restorative Institutions Already Exist Throughout the United States</a:t>
            </a:r>
            <a:endParaRPr lang="en-US" sz="2200" dirty="0"/>
          </a:p>
        </p:txBody>
      </p:sp>
      <p:sp>
        <p:nvSpPr>
          <p:cNvPr id="5" name="Shape 3"/>
          <p:cNvSpPr/>
          <p:nvPr/>
        </p:nvSpPr>
        <p:spPr>
          <a:xfrm>
            <a:off x="457200" y="1554480"/>
            <a:ext cx="8229600" cy="0"/>
          </a:xfrm>
          <a:prstGeom prst="line">
            <a:avLst/>
          </a:prstGeom>
          <a:noFill/>
          <a:ln w="1905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Community accountability circles, restorative conferencing programs, CLTs serving formerly incarcerated persons, peer support and reentry cooperative enterprises, and community health networks serving justice-involved populations already exist.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LEAD programs (Seattle, Santa Fe, Albany, and dozens of others) demonstrate that pre-arrest diversion substantially reduces recidivism. The Bay Area Transformative Justice Collective demonstrates community accountability without police or carceral systems. Common Justice demonstrates serious harm diversion in Brooklyn and the Bronx. Portugal's 2001 decriminalization policy demonstrates sustained reductions in drug-related harms. Peacemaking circles in tribal justice systems demonstrate restorative accountability that predates the punitive system.</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This Act removes the barriers, provides the infrastructure, and supplies the capitalization necessary for these institutions to function at scale.</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DE8D0"/>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7A5C4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7A5C4E"/>
                </a:solidFill>
                <a:latin typeface="Calibri" pitchFamily="34" charset="0"/>
                <a:ea typeface="Calibri" pitchFamily="34" charset="-122"/>
                <a:cs typeface="Calibri" pitchFamily="34" charset="-120"/>
              </a:rPr>
              <a:t>Finding 20 → Title IV § 402; Title III § 303; Title X § 1001 (FRDI)</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1C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7A5C4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402 establishes the Community Mediation Network, providing formal recognition, technical assistance, and capitalization for existing community mediation and restorative conferencing programs operating through state court systems and community organizations — building the practitioner infrastructure at scale without displacing the local organizations that have developed it.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Section 303 establishes the Jurisdictional Transfer Protocol: a structured process by which cases initially handled by law enforcement are transferred to QFN accountability processes, providing the formal legal bridge between the existing criminal justice system and the restorative institutions this Act capitalizes.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2A1F1A"/>
                </a:solidFill>
                <a:latin typeface="Calibri" pitchFamily="34" charset="0"/>
                <a:ea typeface="Calibri" pitchFamily="34" charset="-122"/>
                <a:cs typeface="Calibri" pitchFamily="34" charset="-120"/>
              </a:rPr>
              <a:t>Proto-QFN Status under Section 1001 of the FRDI Act provides immediate recognition for existing restorative organizations, granting them access to commons infrastructure and legal safe harbors before full certification — ensuring that the institutions already doing this work are the first to benefit from the Act's legal architecture.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7A5C4E"/>
                </a:solidFill>
                <a:latin typeface="Courier New" pitchFamily="34" charset="0"/>
                <a:ea typeface="Courier New" pitchFamily="34" charset="-122"/>
                <a:cs typeface="Courier New" pitchFamily="34" charset="-120"/>
              </a:rPr>
              <a:t>Title IV § 402 · Title III § 303 · FRDI Title X § 1001</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3D405B"/>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Resources</a:t>
            </a:r>
            <a:endParaRPr lang="en-US" sz="1500" dirty="0"/>
          </a:p>
        </p:txBody>
      </p:sp>
      <p:sp>
        <p:nvSpPr>
          <p:cNvPr id="9" name="Text 7"/>
          <p:cNvSpPr/>
          <p:nvPr/>
        </p:nvSpPr>
        <p:spPr>
          <a:xfrm>
            <a:off x="411480" y="804672"/>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Common Justice (Brooklyn &amp; Bronx; serious harm diversion model)  </a:t>
            </a:r>
            <a:pPr indent="0" marL="0">
              <a:buNone/>
            </a:pPr>
            <a:r>
              <a:rPr lang="en-US" sz="950" dirty="0">
                <a:solidFill>
                  <a:srgbClr val="6B4C3B"/>
                </a:solidFill>
                <a:latin typeface="Courier New" pitchFamily="34" charset="0"/>
                <a:ea typeface="Courier New" pitchFamily="34" charset="-122"/>
                <a:cs typeface="Courier New" pitchFamily="34" charset="-120"/>
              </a:rPr>
              <a:t>commonjustice.org</a:t>
            </a:r>
            <a:endParaRPr lang="en-US" sz="1050" dirty="0"/>
          </a:p>
        </p:txBody>
      </p:sp>
      <p:sp>
        <p:nvSpPr>
          <p:cNvPr id="10" name="Text 8"/>
          <p:cNvSpPr/>
          <p:nvPr/>
        </p:nvSpPr>
        <p:spPr>
          <a:xfrm>
            <a:off x="411480" y="1049731"/>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Bay Area Transformative Justice Collective  </a:t>
            </a:r>
            <a:pPr indent="0" marL="0">
              <a:buNone/>
            </a:pPr>
            <a:r>
              <a:rPr lang="en-US" sz="950" dirty="0">
                <a:solidFill>
                  <a:srgbClr val="6B4C3B"/>
                </a:solidFill>
                <a:latin typeface="Courier New" pitchFamily="34" charset="0"/>
                <a:ea typeface="Courier New" pitchFamily="34" charset="-122"/>
                <a:cs typeface="Courier New" pitchFamily="34" charset="-120"/>
              </a:rPr>
              <a:t>batjc.org</a:t>
            </a:r>
            <a:endParaRPr lang="en-US" sz="1050" dirty="0"/>
          </a:p>
        </p:txBody>
      </p:sp>
      <p:sp>
        <p:nvSpPr>
          <p:cNvPr id="11" name="Text 9"/>
          <p:cNvSpPr/>
          <p:nvPr/>
        </p:nvSpPr>
        <p:spPr>
          <a:xfrm>
            <a:off x="411480" y="1294790"/>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LEAD National Support Bureau (Law Enforcement Assisted Diversion)  </a:t>
            </a:r>
            <a:pPr indent="0" marL="0">
              <a:buNone/>
            </a:pPr>
            <a:r>
              <a:rPr lang="en-US" sz="950" dirty="0">
                <a:solidFill>
                  <a:srgbClr val="6B4C3B"/>
                </a:solidFill>
                <a:latin typeface="Courier New" pitchFamily="34" charset="0"/>
                <a:ea typeface="Courier New" pitchFamily="34" charset="-122"/>
                <a:cs typeface="Courier New" pitchFamily="34" charset="-120"/>
              </a:rPr>
              <a:t>leadbureau.org</a:t>
            </a:r>
            <a:endParaRPr lang="en-US" sz="1050" dirty="0"/>
          </a:p>
        </p:txBody>
      </p:sp>
      <p:sp>
        <p:nvSpPr>
          <p:cNvPr id="12" name="Text 10"/>
          <p:cNvSpPr/>
          <p:nvPr/>
        </p:nvSpPr>
        <p:spPr>
          <a:xfrm>
            <a:off x="411480" y="1539850"/>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Transform Harm (transformative justice resources hub)  </a:t>
            </a:r>
            <a:pPr indent="0" marL="0">
              <a:buNone/>
            </a:pPr>
            <a:r>
              <a:rPr lang="en-US" sz="950" dirty="0">
                <a:solidFill>
                  <a:srgbClr val="6B4C3B"/>
                </a:solidFill>
                <a:latin typeface="Courier New" pitchFamily="34" charset="0"/>
                <a:ea typeface="Courier New" pitchFamily="34" charset="-122"/>
                <a:cs typeface="Courier New" pitchFamily="34" charset="-120"/>
              </a:rPr>
              <a:t>transformharm.org</a:t>
            </a:r>
            <a:endParaRPr lang="en-US" sz="1050" dirty="0"/>
          </a:p>
        </p:txBody>
      </p:sp>
      <p:sp>
        <p:nvSpPr>
          <p:cNvPr id="13" name="Text 11"/>
          <p:cNvSpPr/>
          <p:nvPr/>
        </p:nvSpPr>
        <p:spPr>
          <a:xfrm>
            <a:off x="411480" y="1784909"/>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Critical Resistance (decarceration and abolition)  </a:t>
            </a:r>
            <a:pPr indent="0" marL="0">
              <a:buNone/>
            </a:pPr>
            <a:r>
              <a:rPr lang="en-US" sz="950" dirty="0">
                <a:solidFill>
                  <a:srgbClr val="6B4C3B"/>
                </a:solidFill>
                <a:latin typeface="Courier New" pitchFamily="34" charset="0"/>
                <a:ea typeface="Courier New" pitchFamily="34" charset="-122"/>
                <a:cs typeface="Courier New" pitchFamily="34" charset="-120"/>
              </a:rPr>
              <a:t>criticalresistance.org</a:t>
            </a:r>
            <a:endParaRPr lang="en-US" sz="1050" dirty="0"/>
          </a:p>
        </p:txBody>
      </p:sp>
      <p:sp>
        <p:nvSpPr>
          <p:cNvPr id="14" name="Text 12"/>
          <p:cNvSpPr/>
          <p:nvPr/>
        </p:nvSpPr>
        <p:spPr>
          <a:xfrm>
            <a:off x="411480" y="2029968"/>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Prison Policy Initiative (incarceration data and policy analysis)  </a:t>
            </a:r>
            <a:pPr indent="0" marL="0">
              <a:buNone/>
            </a:pPr>
            <a:r>
              <a:rPr lang="en-US" sz="950" dirty="0">
                <a:solidFill>
                  <a:srgbClr val="6B4C3B"/>
                </a:solidFill>
                <a:latin typeface="Courier New" pitchFamily="34" charset="0"/>
                <a:ea typeface="Courier New" pitchFamily="34" charset="-122"/>
                <a:cs typeface="Courier New" pitchFamily="34" charset="-120"/>
              </a:rPr>
              <a:t>prisonpolicy.org</a:t>
            </a:r>
            <a:endParaRPr lang="en-US" sz="1050" dirty="0"/>
          </a:p>
        </p:txBody>
      </p:sp>
      <p:sp>
        <p:nvSpPr>
          <p:cNvPr id="15" name="Text 13"/>
          <p:cNvSpPr/>
          <p:nvPr/>
        </p:nvSpPr>
        <p:spPr>
          <a:xfrm>
            <a:off x="411480" y="2275027"/>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Vera Institute of Justice (incarceration research and reform)  </a:t>
            </a:r>
            <a:pPr indent="0" marL="0">
              <a:buNone/>
            </a:pPr>
            <a:r>
              <a:rPr lang="en-US" sz="950" dirty="0">
                <a:solidFill>
                  <a:srgbClr val="6B4C3B"/>
                </a:solidFill>
                <a:latin typeface="Courier New" pitchFamily="34" charset="0"/>
                <a:ea typeface="Courier New" pitchFamily="34" charset="-122"/>
                <a:cs typeface="Courier New" pitchFamily="34" charset="-120"/>
              </a:rPr>
              <a:t>vera.org</a:t>
            </a:r>
            <a:endParaRPr lang="en-US" sz="1050" dirty="0"/>
          </a:p>
        </p:txBody>
      </p:sp>
      <p:sp>
        <p:nvSpPr>
          <p:cNvPr id="16" name="Text 14"/>
          <p:cNvSpPr/>
          <p:nvPr/>
        </p:nvSpPr>
        <p:spPr>
          <a:xfrm>
            <a:off x="411480" y="2520086"/>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Restorative Justice Project (national training and technical assistance)  </a:t>
            </a:r>
            <a:pPr indent="0" marL="0">
              <a:buNone/>
            </a:pPr>
            <a:r>
              <a:rPr lang="en-US" sz="950" dirty="0">
                <a:solidFill>
                  <a:srgbClr val="6B4C3B"/>
                </a:solidFill>
                <a:latin typeface="Courier New" pitchFamily="34" charset="0"/>
                <a:ea typeface="Courier New" pitchFamily="34" charset="-122"/>
                <a:cs typeface="Courier New" pitchFamily="34" charset="-120"/>
              </a:rPr>
              <a:t>restorativejustice.org</a:t>
            </a:r>
            <a:endParaRPr lang="en-US" sz="1050" dirty="0"/>
          </a:p>
        </p:txBody>
      </p:sp>
      <p:sp>
        <p:nvSpPr>
          <p:cNvPr id="17" name="Text 15"/>
          <p:cNvSpPr/>
          <p:nvPr/>
        </p:nvSpPr>
        <p:spPr>
          <a:xfrm>
            <a:off x="411480" y="2765146"/>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National Council for Incarcerated and Formerly Incarcerated Women and Girls  </a:t>
            </a:r>
            <a:pPr indent="0" marL="0">
              <a:buNone/>
            </a:pPr>
            <a:r>
              <a:rPr lang="en-US" sz="950" dirty="0">
                <a:solidFill>
                  <a:srgbClr val="6B4C3B"/>
                </a:solidFill>
                <a:latin typeface="Courier New" pitchFamily="34" charset="0"/>
                <a:ea typeface="Courier New" pitchFamily="34" charset="-122"/>
                <a:cs typeface="Courier New" pitchFamily="34" charset="-120"/>
              </a:rPr>
              <a:t>nationalcouncil.us</a:t>
            </a:r>
            <a:endParaRPr lang="en-US" sz="1050" dirty="0"/>
          </a:p>
        </p:txBody>
      </p:sp>
      <p:sp>
        <p:nvSpPr>
          <p:cNvPr id="18" name="Text 16"/>
          <p:cNvSpPr/>
          <p:nvPr/>
        </p:nvSpPr>
        <p:spPr>
          <a:xfrm>
            <a:off x="411480" y="3010205"/>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National Juvenile Justice Network  </a:t>
            </a:r>
            <a:pPr indent="0" marL="0">
              <a:buNone/>
            </a:pPr>
            <a:r>
              <a:rPr lang="en-US" sz="950" dirty="0">
                <a:solidFill>
                  <a:srgbClr val="6B4C3B"/>
                </a:solidFill>
                <a:latin typeface="Courier New" pitchFamily="34" charset="0"/>
                <a:ea typeface="Courier New" pitchFamily="34" charset="-122"/>
                <a:cs typeface="Courier New" pitchFamily="34" charset="-120"/>
              </a:rPr>
              <a:t>njjn.org</a:t>
            </a:r>
            <a:endParaRPr lang="en-US" sz="1050" dirty="0"/>
          </a:p>
        </p:txBody>
      </p:sp>
      <p:sp>
        <p:nvSpPr>
          <p:cNvPr id="19" name="Text 17"/>
          <p:cNvSpPr/>
          <p:nvPr/>
        </p:nvSpPr>
        <p:spPr>
          <a:xfrm>
            <a:off x="411480" y="3255264"/>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Innocence Project (wrongful conviction review)  </a:t>
            </a:r>
            <a:pPr indent="0" marL="0">
              <a:buNone/>
            </a:pPr>
            <a:r>
              <a:rPr lang="en-US" sz="950" dirty="0">
                <a:solidFill>
                  <a:srgbClr val="6B4C3B"/>
                </a:solidFill>
                <a:latin typeface="Courier New" pitchFamily="34" charset="0"/>
                <a:ea typeface="Courier New" pitchFamily="34" charset="-122"/>
                <a:cs typeface="Courier New" pitchFamily="34" charset="-120"/>
              </a:rPr>
              <a:t>innocenceproject.org</a:t>
            </a:r>
            <a:endParaRPr lang="en-US" sz="1050" dirty="0"/>
          </a:p>
        </p:txBody>
      </p:sp>
      <p:sp>
        <p:nvSpPr>
          <p:cNvPr id="20" name="Text 18"/>
          <p:cNvSpPr/>
          <p:nvPr/>
        </p:nvSpPr>
        <p:spPr>
          <a:xfrm>
            <a:off x="411480" y="3500323"/>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Drug Policy Alliance (decriminalization research and advocacy)  </a:t>
            </a:r>
            <a:pPr indent="0" marL="0">
              <a:buNone/>
            </a:pPr>
            <a:r>
              <a:rPr lang="en-US" sz="950" dirty="0">
                <a:solidFill>
                  <a:srgbClr val="6B4C3B"/>
                </a:solidFill>
                <a:latin typeface="Courier New" pitchFamily="34" charset="0"/>
                <a:ea typeface="Courier New" pitchFamily="34" charset="-122"/>
                <a:cs typeface="Courier New" pitchFamily="34" charset="-120"/>
              </a:rPr>
              <a:t>drugpolicy.org</a:t>
            </a:r>
            <a:endParaRPr lang="en-US" sz="1050" dirty="0"/>
          </a:p>
        </p:txBody>
      </p:sp>
      <p:sp>
        <p:nvSpPr>
          <p:cNvPr id="21" name="Text 19"/>
          <p:cNvSpPr/>
          <p:nvPr/>
        </p:nvSpPr>
        <p:spPr>
          <a:xfrm>
            <a:off x="411480" y="3745382"/>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Ostrom Workshop, Indiana University (governance design principles)  </a:t>
            </a:r>
            <a:pPr indent="0" marL="0">
              <a:buNone/>
            </a:pPr>
            <a:r>
              <a:rPr lang="en-US" sz="950" dirty="0">
                <a:solidFill>
                  <a:srgbClr val="6B4C3B"/>
                </a:solidFill>
                <a:latin typeface="Courier New" pitchFamily="34" charset="0"/>
                <a:ea typeface="Courier New" pitchFamily="34" charset="-122"/>
                <a:cs typeface="Courier New" pitchFamily="34" charset="-120"/>
              </a:rPr>
              <a:t>ostromworkshop.indiana.edu</a:t>
            </a:r>
            <a:endParaRPr lang="en-US" sz="1050" dirty="0"/>
          </a:p>
        </p:txBody>
      </p:sp>
      <p:sp>
        <p:nvSpPr>
          <p:cNvPr id="22" name="Text 20"/>
          <p:cNvSpPr/>
          <p:nvPr/>
        </p:nvSpPr>
        <p:spPr>
          <a:xfrm>
            <a:off x="411480" y="3990442"/>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Albert Einstein Institution (nonviolent action research)  </a:t>
            </a:r>
            <a:pPr indent="0" marL="0">
              <a:buNone/>
            </a:pPr>
            <a:r>
              <a:rPr lang="en-US" sz="950" dirty="0">
                <a:solidFill>
                  <a:srgbClr val="6B4C3B"/>
                </a:solidFill>
                <a:latin typeface="Courier New" pitchFamily="34" charset="0"/>
                <a:ea typeface="Courier New" pitchFamily="34" charset="-122"/>
                <a:cs typeface="Courier New" pitchFamily="34" charset="-120"/>
              </a:rPr>
              <a:t>aeinstein.org</a:t>
            </a:r>
            <a:endParaRPr lang="en-US" sz="1050" dirty="0"/>
          </a:p>
        </p:txBody>
      </p:sp>
      <p:sp>
        <p:nvSpPr>
          <p:cNvPr id="23" name="Text 21"/>
          <p:cNvSpPr/>
          <p:nvPr/>
        </p:nvSpPr>
        <p:spPr>
          <a:xfrm>
            <a:off x="411480" y="4235501"/>
            <a:ext cx="8321040" cy="235915"/>
          </a:xfrm>
          <a:prstGeom prst="rect">
            <a:avLst/>
          </a:prstGeom>
          <a:noFill/>
          <a:ln/>
        </p:spPr>
        <p:txBody>
          <a:bodyPr wrap="square" rtlCol="0" anchor="ctr"/>
          <a:lstStyle/>
          <a:p>
            <a:pPr indent="0" marL="0">
              <a:buNone/>
            </a:pPr>
            <a:r>
              <a:rPr lang="en-US" sz="1050" dirty="0">
                <a:solidFill>
                  <a:srgbClr val="2A1F1A"/>
                </a:solidFill>
                <a:latin typeface="Calibri" pitchFamily="34" charset="0"/>
                <a:ea typeface="Calibri" pitchFamily="34" charset="-122"/>
                <a:cs typeface="Calibri" pitchFamily="34" charset="-120"/>
              </a:rPr>
              <a:t>Canvas (Centre for Applied Nonviolent Action and Strategies)  </a:t>
            </a:r>
            <a:pPr indent="0" marL="0">
              <a:buNone/>
            </a:pPr>
            <a:r>
              <a:rPr lang="en-US" sz="950" dirty="0">
                <a:solidFill>
                  <a:srgbClr val="6B4C3B"/>
                </a:solidFill>
                <a:latin typeface="Courier New" pitchFamily="34" charset="0"/>
                <a:ea typeface="Courier New" pitchFamily="34" charset="-122"/>
                <a:cs typeface="Courier New" pitchFamily="34" charset="-120"/>
              </a:rPr>
              <a:t>canvasopedia.org</a:t>
            </a:r>
            <a:endParaRPr lang="en-US" sz="1050" dirty="0"/>
          </a:p>
        </p:txBody>
      </p:sp>
      <p:sp>
        <p:nvSpPr>
          <p:cNvPr id="24" name="Text 22"/>
          <p:cNvSpPr/>
          <p:nvPr/>
        </p:nvSpPr>
        <p:spPr>
          <a:xfrm>
            <a:off x="411480" y="4526280"/>
            <a:ext cx="2194560" cy="256032"/>
          </a:xfrm>
          <a:prstGeom prst="rect">
            <a:avLst/>
          </a:prstGeom>
          <a:noFill/>
          <a:ln/>
        </p:spPr>
        <p:txBody>
          <a:bodyPr wrap="square" rtlCol="0" anchor="ctr"/>
          <a:lstStyle/>
          <a:p>
            <a:pPr indent="0" marL="0">
              <a:buNone/>
            </a:pPr>
            <a:r>
              <a:rPr lang="en-US" sz="1000" b="1" dirty="0">
                <a:solidFill>
                  <a:srgbClr val="2A1F1A"/>
                </a:solidFill>
                <a:latin typeface="Calibri" pitchFamily="34" charset="0"/>
                <a:ea typeface="Calibri" pitchFamily="34" charset="-122"/>
                <a:cs typeface="Calibri" pitchFamily="34" charset="-120"/>
              </a:rPr>
              <a:t>Full bill text &amp; README:</a:t>
            </a:r>
            <a:endParaRPr lang="en-US" sz="1000" dirty="0"/>
          </a:p>
        </p:txBody>
      </p:sp>
      <p:sp>
        <p:nvSpPr>
          <p:cNvPr id="25" name="Text 23"/>
          <p:cNvSpPr/>
          <p:nvPr/>
        </p:nvSpPr>
        <p:spPr>
          <a:xfrm>
            <a:off x="2606040" y="4526280"/>
            <a:ext cx="6126480" cy="256032"/>
          </a:xfrm>
          <a:prstGeom prst="rect">
            <a:avLst/>
          </a:prstGeom>
          <a:noFill/>
          <a:ln/>
        </p:spPr>
        <p:txBody>
          <a:bodyPr wrap="square" rtlCol="0" anchor="ctr"/>
          <a:lstStyle/>
          <a:p>
            <a:pPr indent="0" marL="0">
              <a:buNone/>
            </a:pPr>
            <a:r>
              <a:rPr lang="en-US" sz="1000" dirty="0">
                <a:solidFill>
                  <a:srgbClr val="6B4C3B"/>
                </a:solidFill>
                <a:latin typeface="Courier New" pitchFamily="34" charset="0"/>
                <a:ea typeface="Courier New" pitchFamily="34" charset="-122"/>
                <a:cs typeface="Courier New" pitchFamily="34" charset="-120"/>
              </a:rPr>
              <a:t>github.com/clg1980/LegislativeSequence</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3D405B"/>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Further Reading</a:t>
            </a:r>
            <a:endParaRPr lang="en-US" sz="1500" dirty="0"/>
          </a:p>
        </p:txBody>
      </p:sp>
      <p:sp>
        <p:nvSpPr>
          <p:cNvPr id="9" name="Text 7"/>
          <p:cNvSpPr/>
          <p:nvPr/>
        </p:nvSpPr>
        <p:spPr>
          <a:xfrm>
            <a:off x="411480" y="8046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Governing the Commons</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(1990, Cambridge University Press),  Elinor Ostrom.</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governance design principles codified as the Ostrom Standards of Stewardship throughout this Act.</a:t>
            </a:r>
            <a:endParaRPr lang="en-US" sz="1100" dirty="0"/>
          </a:p>
        </p:txBody>
      </p:sp>
      <p:sp>
        <p:nvSpPr>
          <p:cNvPr id="10" name="Text 8"/>
          <p:cNvSpPr/>
          <p:nvPr/>
        </p:nvSpPr>
        <p:spPr>
          <a:xfrm>
            <a:off x="411480" y="12618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Are Prisons Obsolete?</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(2003, Seven Stories Press),  Angela Y. Davis.</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foundational abolitionist argument. Essential context for Findings 6 through 10.</a:t>
            </a:r>
            <a:endParaRPr lang="en-US" sz="1100" dirty="0"/>
          </a:p>
        </p:txBody>
      </p:sp>
      <p:sp>
        <p:nvSpPr>
          <p:cNvPr id="11" name="Text 9"/>
          <p:cNvSpPr/>
          <p:nvPr/>
        </p:nvSpPr>
        <p:spPr>
          <a:xfrm>
            <a:off x="411480" y="17190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Beyond Survival</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(2020, AK Press),  Ejeris Dixon &amp; Leah Lakshmi Piepzna-Samarasinha (eds.).</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Practitioner accounts of transformative justice and community accountability. Direct context for Finding 11 and Title II.</a:t>
            </a:r>
            <a:endParaRPr lang="en-US" sz="1100" dirty="0"/>
          </a:p>
        </p:txBody>
      </p:sp>
      <p:sp>
        <p:nvSpPr>
          <p:cNvPr id="12" name="Text 10"/>
          <p:cNvSpPr/>
          <p:nvPr/>
        </p:nvSpPr>
        <p:spPr>
          <a:xfrm>
            <a:off x="411480" y="21762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We Do This Til We Free Us</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(2021, Haymarket Books),  Mariame Kaba.</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practitioner account of abolitionist organizing and transformative justice. Direct context for Findings 11 and 14.</a:t>
            </a:r>
            <a:endParaRPr lang="en-US" sz="1100" dirty="0"/>
          </a:p>
        </p:txBody>
      </p:sp>
      <p:sp>
        <p:nvSpPr>
          <p:cNvPr id="13" name="Text 11"/>
          <p:cNvSpPr/>
          <p:nvPr/>
        </p:nvSpPr>
        <p:spPr>
          <a:xfrm>
            <a:off x="411480" y="26334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Until We Reckon</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(2019, The New Press),  Danielle Sered.</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Common Justice model for serious harm accountability without incarceration. Direct precedent for Title II Section 209.</a:t>
            </a:r>
            <a:endParaRPr lang="en-US" sz="1100" dirty="0"/>
          </a:p>
        </p:txBody>
      </p:sp>
      <p:sp>
        <p:nvSpPr>
          <p:cNvPr id="14" name="Text 12"/>
          <p:cNvSpPr/>
          <p:nvPr/>
        </p:nvSpPr>
        <p:spPr>
          <a:xfrm>
            <a:off x="411480" y="30906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Nonviolent Communication</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(1999, PuddleDancer Press),  Marshall B. Rosenberg.</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facilitation methodology that underlies Accountability Pod practice in the restorative process.</a:t>
            </a:r>
            <a:endParaRPr lang="en-US" sz="1100" dirty="0"/>
          </a:p>
        </p:txBody>
      </p:sp>
      <p:sp>
        <p:nvSpPr>
          <p:cNvPr id="15" name="Text 13"/>
          <p:cNvSpPr/>
          <p:nvPr/>
        </p:nvSpPr>
        <p:spPr>
          <a:xfrm>
            <a:off x="411480" y="35478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Emergent Strategy</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(2017, AK Press),  adrienne maree brown.</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theoretical framework for prefigurative community governance underlying the Accountability Pod architecture.</a:t>
            </a:r>
            <a:endParaRPr lang="en-US" sz="1100" dirty="0"/>
          </a:p>
        </p:txBody>
      </p:sp>
      <p:sp>
        <p:nvSpPr>
          <p:cNvPr id="16" name="Text 14"/>
          <p:cNvSpPr/>
          <p:nvPr/>
        </p:nvSpPr>
        <p:spPr>
          <a:xfrm>
            <a:off x="411480" y="40050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Just Mercy</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(2014, Spiegel &amp; Grau),  Bryan Stevenson.</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human account of the failure of the punitive system. Essential context for the Eighth and Fourteenth Amendment findings.</a:t>
            </a:r>
            <a:endParaRPr lang="en-US" sz="1100" dirty="0"/>
          </a:p>
        </p:txBody>
      </p:sp>
      <p:sp>
        <p:nvSpPr>
          <p:cNvPr id="17" name="Text 15"/>
          <p:cNvSpPr/>
          <p:nvPr/>
        </p:nvSpPr>
        <p:spPr>
          <a:xfrm>
            <a:off x="411480" y="4462272"/>
            <a:ext cx="8321040" cy="438912"/>
          </a:xfrm>
          <a:prstGeom prst="rect">
            <a:avLst/>
          </a:prstGeom>
          <a:noFill/>
          <a:ln/>
        </p:spPr>
        <p:txBody>
          <a:bodyPr wrap="square" rtlCol="0" anchor="t"/>
          <a:lstStyle/>
          <a:p>
            <a:pPr indent="0" marL="0">
              <a:lnSpc>
                <a:spcPct val="90000"/>
              </a:lnSpc>
              <a:buNone/>
            </a:pPr>
            <a:r>
              <a:rPr lang="en-US" sz="1100" b="1" dirty="0">
                <a:solidFill>
                  <a:srgbClr val="2A1F1A"/>
                </a:solidFill>
                <a:latin typeface="Cambria" pitchFamily="34" charset="0"/>
                <a:ea typeface="Cambria" pitchFamily="34" charset="-122"/>
                <a:cs typeface="Cambria" pitchFamily="34" charset="-120"/>
              </a:rPr>
              <a:t>Punishing the Poor</a:t>
            </a:r>
            <a:pPr indent="0" marL="0">
              <a:lnSpc>
                <a:spcPct val="90000"/>
              </a:lnSpc>
              <a:buNone/>
            </a:pPr>
            <a:r>
              <a:rPr lang="en-US" sz="950" dirty="0">
                <a:solidFill>
                  <a:srgbClr val="6B4C3B"/>
                </a:solidFill>
                <a:latin typeface="Calibri" pitchFamily="34" charset="0"/>
                <a:ea typeface="Calibri" pitchFamily="34" charset="-122"/>
                <a:cs typeface="Calibri" pitchFamily="34" charset="-120"/>
              </a:rPr>
              <a:t>  (2009, Duke University Press),  Loic Wacquant.</a:t>
            </a:r>
            <a:pPr indent="0" marL="0">
              <a:lnSpc>
                <a:spcPct val="90000"/>
              </a:lnSpc>
              <a:buNone/>
            </a:pPr>
            <a:r>
              <a:rPr lang="en-US" sz="950" dirty="0">
                <a:solidFill>
                  <a:srgbClr val="2A1F1A"/>
                </a:solidFill>
                <a:latin typeface="Calibri" pitchFamily="34" charset="0"/>
                <a:ea typeface="Calibri" pitchFamily="34" charset="-122"/>
                <a:cs typeface="Calibri" pitchFamily="34" charset="-120"/>
              </a:rPr>
              <a:t>  The political economy of mass incarceration as a governance strategy. Complements Gilmore and Alexander.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HRCR Act — Human Reclamation and Community Restorative Act</dc:title>
  <dc:subject>PptxGenJS Presentation</dc:subject>
  <dc:creator>Curtis L. Gates</dc:creator>
  <cp:lastModifiedBy>Curtis L. Gates</cp:lastModifiedBy>
  <cp:revision>1</cp:revision>
  <dcterms:created xsi:type="dcterms:W3CDTF">2026-07-02T17:46:32Z</dcterms:created>
  <dcterms:modified xsi:type="dcterms:W3CDTF">2026-07-02T17:46:32Z</dcterms:modified>
</cp:coreProperties>
</file>