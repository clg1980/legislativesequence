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ISRN is the capstone of the four-bill program. It is introduced last, after the domestic commons transition has demonstrated its viability and the FCSAG's defense posture reorientation has begun. The international governance provisions of this Act are only credible when the United States can point to a functioning domestic commons economy as the proof of concept for what it is proposing internationally.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 anchors the ISRN in four constitutional provisions, each generating a specific international mandate. The foreign commerce and defense powers, the treaty power, the Supremacy Clause, and the Tenth Amendment's subsidiarity principle together provide the full constitutional architecture for the Act's four operative 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 is the Article I §8 anchor for the international provisions. The same constitutional argument that grounds the FCSAG's domestic defense posture reorientation applies here to the international dimension: the foreign commerce and defense powers exist for the security and welfare of the people, not for monetary arrangements.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declarations (§ 101 and § 301) are the constitutional policy anchors for the Act's operative directives. They establish the interpretive framework within which all subsequent provisions are to be read: alliance governance and multilateral institution engagement directed toward the people's welfare, not monetary arrangements.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 is the Article II §2 anchor. The key move: the same constitutional authority that created the treaty commitments authorizes their renegotiation. Congress is directing the Executive to use its treaty power in a specific direction, not to violate existing treaties.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102 is a negotiating authorization, not a unilateral modification. The President is authorized and directed to negotiate — not to change the treaty by executive action. Section 103 applies the same framework to bilateral relationships, with the Persian Gulf relationships of Finding 7A among those subject to review against the new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3 is the constitutional safety valve. It explicitly addresses the objection that this Act violates existing treaty obligations by making clear: it does not. It authorizes and directs renegotiation through lawful diplomatic processes. The distinction between abrogation and renegotiation is architecturally built into the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negotiating-authorization-not-abrogation architecture of § 102 is the operative expression of Finding 3's Supremacy Clause constraint. The Constitutional Safe Harbor (§ 504) provides the interpretive backstop ensuring that every provision of the Act is read consistently with existing treaty obligations.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4 extends the Tenth Amendment subsidiarity principle to the international scale. This is the constitutional argument for the Planetary Commons Federation: a world of federated self-governing communities is constitutionally consistent with American values in a way that American primacy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Allied Commons Network Recognition (§ 401) is the operational mechanism for Finding 4's subsidiarity argument at international scale. The Planetary Commons Federation Vision (§ 405) is its long-term expression: a world of self-governing commons communities connected laterally, with no metropole, is the international expression of the subsidiarity principle the Tenth Amendment encodes domestically.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 makes the strategic case for the NATO and alliance governance provisions. The transition is not a policy choice; it is already occurring. The 2026 National Defense Strategy, the Northwood Declaration, the EU Defense Readiness Roadmap 2030, and the 2025 Hague Summit commitments are all named in the Findings. The question is whether the United States governs the transition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5 is the historical diagnosis. The key phrase: 'not self-evidently the arrangement best suited.' This is not a statement that NATO has failed — it is a statement that the original design premises have changed, and that the arrangement should be evaluated against current requirements rather than inherited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Declaration and the Negotiating Authorization together operationalize Finding 5. The United States governs the transition — it does not initiate it, because it is already happening, but it provides the diplomatic framework for its orderly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6 names specific current events: the 2026 NDS, the Northwood Declaration, the EU Defense Readiness Roadmap 2030, the 2025 Hague Summit. This grounds the Act in verifiable present reality rather than strategic speculation. The transition is documented — the Act's question is how to govern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six-month reporting requirement of § 104 ensures that the European defense transition remains under active congressional oversight. The President negotiates; Congress monitors. This is the constitutional division of labor in foreign affairs expressed as a specific accountability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7 names the Strait of Hormuz fracture specifically. This is the most concrete empirical instance of the structural problem the ISRN addresses: NATO allies declining to subordinate their security assessments to the protection of American monetary arrangements. The domestic commons transition resolves this by removing the strategic rationale.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removal of fossil fuel shipping lane protection from alliance obligations is the specific mechanism that resolves the Strait of Hormuz fracture. It is conditioned on the domestic energy transition timeline — the FRDI Act's cooperative energy infrastructure must be sufficiently mature before the petrodollar protection mission is withdrawn from the alliance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7A is the Persian Gulf corollary to Finding 7. It names the petrodollar recycling system explicitly and applies the Bilateral Alliance Review criteria of § 103 to the Persian Gulf relationships. This is the most geopolitically sensitive Finding in the Act — it states plainly that American security relationships in the Gulf have been organized around monetary arrangements rather than mutual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103's Bilateral Alliance Review is the operative mechanism for Finding 7A. The criteria of genuine mutual security, democratic governance, and commons solidarity replace petrodollar recycling contribution as the standard for evaluating security relationships. The review process ensures this transition occurs deliberately, with congressional oversight, rather than abruptly.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8 frames the trillion-dollar question. The European defense buildup will happen. The American choice is not whether it happens but what form it takes. This Act directs American diplomacy toward ensuring it takes the form of resilience-based commons investment rather than conventional military rearmament.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NATO Resilience Framework's burden-sharing definition (§ 102) and the International Commons Solidarity Fund (§ 403) together operationalize Finding 8. American diplomacy and American resources are directed toward supporting the resilience-based form of the European buildup rather than its conventional military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9 is the security argument for the alliance reform. Transactional conditionality does not produce leverage; it produces insecurity, because it converts genuine mutual security commitments into conditional commercial arrangements that are credible to no one. This is a security argument, not a values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Declaration, the Negotiating Authorization, and the Oversight mechanism together address Finding 9. The Declaration restores the unconditional character of genuine security commitments. The Negotiating Authorization provides the diplomatic vehicle for doing so. The Oversight mechanism ensures the executive cannot reintroduce transactional conditionality without congressional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III addresses the nuclear posture and the broader nonproliferation logic. Finding 10 addresses the NPT commitment the United States has honored rhetorically and neglected practically for five decades. Findings 11 and 12 extend the nonproliferation logic to fossil fuel infrastructure, surveillance technology, and extractive financial arrangements.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10 states plainly what the arms control community has documented for decades: the NPT disarmament commitment has not been fulfilled. 'Honored rhetorically and neglected practically for more than five decades' is the most direct statutory language about NPT non-compliance by a nuclear-weapon state that has appeared in American federal legislation.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Minimum Credible Deterrence (§ 201) is the posture that makes NPT reengagement (§ 202) credible. A nuclear posture sized for first-strike capability or coercion of non-nuclear states is incompatible with genuine disarmament negotiations. The posture change and the diplomatic reengagement are architecturally linked.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11 is the conceptual innovation at the heart of the Act's title. 'Nonproliferation' is extended from nuclear weapons to fossil fuel infrastructure, surveillance technology, and extractive financial arrangements. This reframes American foreign policy as directed against all forms of harmful proliferation, not just the one that gets the most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mechanisms operationalize the broader nonproliferation logic: § 203 for fossil fuel infrastructure, § 302 for extractive financial arrangements, and § 404 for surveillance and carceral technology. Together they encode the Act's title claim: nonproliferation in its broadest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12 repeats the climate-as-security-threat argument from FCSAG Finding 6, now at the international scale. The logic is the same: protecting fossil fuel infrastructure accelerates climate change, which is a security threat. Foreign policy organized around fossil fuel protection is self-defeating.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mechanisms address Finding 12: removing multilateral financial pressure toward fossil fuel expansion (§ 302), providing debt relief that enables commons transition (§ 307), and prioritizing climate-vulnerable nations for commons development support (§ 403). Together they redirect American international financial engagement toward ecological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13 is the summary statement for the entire four-bill legislative program. It names all four Acts, states what each establishes, and situates the ISRN as the capstone addressing the international dimensions of a transition whose domestic foundations the preceding Acts have established.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13 is the only Finding in any of the four bills that explicitly names all four Acts and states the complete transition architecture in a single statutory paragraph. It is the program's own summary of itself, expressed in operative congressional Findings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501's triple dependency declaration is the operative expression of Finding 13's summary architecture. The ISRN depends on all three prior Acts, and no further Act is anticipated. The program is complete when the ISRN is enacted.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 applies the prefigurative argument to the international scale. The international commons institutions this Act proposes to recognize and connect already exist. The alliance and multilateral relationships it proposes to renegotiate already provide the institutional foundation on which renegotiation proceeds.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14 names Barcelona en Comú, Mondragon's international network, the Fearless Cities movement, and Global South mutual credit systems as existing proof-of-concept institutions. The 'no metropole, only nodes' language is the most architecturally significant phrase in the Finding — it describes the structural inverse of the development assistance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mechanisms operationalize Finding 14: recognition (§ 401), connection (§ 402), and capitalization (§ 403). This is the same architecture the FRDI Act applies to domestic institutions — recognition (Proto-QFN status), connection (FMOS/ARC protocols), and capitalization (Bootstrap Grants) — now applied at the international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15 is the transitional continuity argument. This Act does not abandon NATO or withdraw from multilateral institutions — it directs the renegotiation of those relationships toward a different purpose. The institutional foundation remains; the purpose it serves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transition-from-existing-foundations architecture of § 102 and § 306 operationalizes Finding 15. Existing institutions are the starting point, not the obstacle. Where they can be reformed (§ 302–305), reform is directed. Where they cannot (§ 306), alternatives are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16 is the most philosophically ambitious Finding in any of the four bills. It names what the planetary commons federation is, what it is not, and what the United States has been in the world. It closes the program by stating, in statutory language, what the entire four-bill sequence is ultimately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16 is the most ambitious statutory language in the program. 'The structural inverse of empire' is not a policy description — it is an architectural claim. The commons federation is not a reformed version of the current international order. It is its negation, built from the same elements but oriented in the opposite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405's Planetary Commons Federation Long-Term Vision is the operative capstone of the four-bill program. The ten-year review ensures that the vision is not merely aspirational — it is tracked, assessed, and reported on at regular intervals, holding Congress and the executive accountable for progress toward the conditions Finding 16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organizations directly named in this Act or primary institutional homes for the program's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C34"/>
        </a:solidFill>
      </p:bgPr>
    </p:bg>
    <p:spTree>
      <p:nvGrpSpPr>
        <p:cNvPr id="1" name=""/>
        <p:cNvGrpSpPr/>
        <p:nvPr/>
      </p:nvGrpSpPr>
      <p:grpSpPr>
        <a:xfrm>
          <a:off x="0" y="0"/>
          <a:ext cx="0" cy="0"/>
          <a:chOff x="0" y="0"/>
          <a:chExt cx="0" cy="0"/>
        </a:xfrm>
      </p:grpSpPr>
      <p:sp>
        <p:nvSpPr>
          <p:cNvPr id="2" name="Text 0"/>
          <p:cNvSpPr/>
          <p:nvPr/>
        </p:nvSpPr>
        <p:spPr>
          <a:xfrm>
            <a:off x="457200" y="548640"/>
            <a:ext cx="8229600" cy="640080"/>
          </a:xfrm>
          <a:prstGeom prst="rect">
            <a:avLst/>
          </a:prstGeom>
          <a:noFill/>
          <a:ln/>
        </p:spPr>
        <p:txBody>
          <a:bodyPr wrap="square" rtlCol="0" anchor="ctr"/>
          <a:lstStyle/>
          <a:p>
            <a:pPr algn="ctr" indent="0" marL="0">
              <a:buNone/>
            </a:pPr>
            <a:r>
              <a:rPr lang="en-US" sz="1400" b="1" spc="600" kern="0" dirty="0">
                <a:solidFill>
                  <a:srgbClr val="E8D5A3"/>
                </a:solidFill>
                <a:latin typeface="Calibri" pitchFamily="34" charset="0"/>
                <a:ea typeface="Calibri" pitchFamily="34" charset="-122"/>
                <a:cs typeface="Calibri" pitchFamily="34" charset="-120"/>
              </a:rPr>
              <a:t>ISRN</a:t>
            </a:r>
            <a:endParaRPr lang="en-US" sz="1400" dirty="0"/>
          </a:p>
        </p:txBody>
      </p:sp>
      <p:sp>
        <p:nvSpPr>
          <p:cNvPr id="3" name="Text 1"/>
          <p:cNvSpPr/>
          <p:nvPr/>
        </p:nvSpPr>
        <p:spPr>
          <a:xfrm>
            <a:off x="457200" y="1188720"/>
            <a:ext cx="8229600" cy="137160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International Sovereignty, Resilience</a:t>
            </a:r>
            <a:endParaRPr lang="en-US" sz="3400" dirty="0"/>
          </a:p>
          <a:p>
            <a:pPr algn="ctr" indent="0" marL="0">
              <a:buNone/>
            </a:pPr>
            <a:r>
              <a:rPr lang="en-US" sz="3400" b="1" dirty="0">
                <a:solidFill>
                  <a:srgbClr val="FFFFFF"/>
                </a:solidFill>
                <a:latin typeface="Cambria" pitchFamily="34" charset="0"/>
                <a:ea typeface="Cambria" pitchFamily="34" charset="-122"/>
                <a:cs typeface="Cambria" pitchFamily="34" charset="-120"/>
              </a:rPr>
              <a:t>and Nonproliferation Act</a:t>
            </a:r>
            <a:endParaRPr lang="en-US" sz="3400" dirty="0"/>
          </a:p>
        </p:txBody>
      </p:sp>
      <p:sp>
        <p:nvSpPr>
          <p:cNvPr id="4" name="Shape 2"/>
          <p:cNvSpPr/>
          <p:nvPr/>
        </p:nvSpPr>
        <p:spPr>
          <a:xfrm>
            <a:off x="2286000" y="2743200"/>
            <a:ext cx="4572000" cy="0"/>
          </a:xfrm>
          <a:prstGeom prst="line">
            <a:avLst/>
          </a:prstGeom>
          <a:noFill/>
          <a:ln w="25400">
            <a:solidFill>
              <a:srgbClr val="E8D5A3"/>
            </a:solidFill>
            <a:prstDash val="solid"/>
          </a:ln>
        </p:spPr>
      </p:sp>
      <p:sp>
        <p:nvSpPr>
          <p:cNvPr id="5" name="Text 3"/>
          <p:cNvSpPr/>
          <p:nvPr/>
        </p:nvSpPr>
        <p:spPr>
          <a:xfrm>
            <a:off x="457200" y="2926080"/>
            <a:ext cx="8229600" cy="457200"/>
          </a:xfrm>
          <a:prstGeom prst="rect">
            <a:avLst/>
          </a:prstGeom>
          <a:noFill/>
          <a:ln/>
        </p:spPr>
        <p:txBody>
          <a:bodyPr wrap="square" rtlCol="0" anchor="ctr"/>
          <a:lstStyle/>
          <a:p>
            <a:pPr algn="ctr" indent="0" marL="0">
              <a:buNone/>
            </a:pPr>
            <a:r>
              <a:rPr lang="en-US" sz="1600" i="1" dirty="0">
                <a:solidFill>
                  <a:srgbClr val="E8D5A3"/>
                </a:solidFill>
                <a:latin typeface="Calibri" pitchFamily="34" charset="0"/>
                <a:ea typeface="Calibri" pitchFamily="34" charset="-122"/>
                <a:cs typeface="Calibri" pitchFamily="34" charset="-120"/>
              </a:rPr>
              <a:t>A Polycentric Commons Legislative Program — Vol. IV</a:t>
            </a:r>
            <a:endParaRPr lang="en-US" sz="1600" dirty="0"/>
          </a:p>
        </p:txBody>
      </p:sp>
      <p:sp>
        <p:nvSpPr>
          <p:cNvPr id="6" name="Text 4"/>
          <p:cNvSpPr/>
          <p:nvPr/>
        </p:nvSpPr>
        <p:spPr>
          <a:xfrm>
            <a:off x="731520" y="3520440"/>
            <a:ext cx="7680960" cy="457200"/>
          </a:xfrm>
          <a:prstGeom prst="rect">
            <a:avLst/>
          </a:prstGeom>
          <a:noFill/>
          <a:ln/>
        </p:spPr>
        <p:txBody>
          <a:bodyPr wrap="square" rtlCol="0" anchor="ctr"/>
          <a:lstStyle/>
          <a:p>
            <a:pPr algn="ctr" indent="0" marL="0">
              <a:buNone/>
            </a:pPr>
            <a:r>
              <a:rPr lang="en-US" sz="1200" dirty="0">
                <a:solidFill>
                  <a:srgbClr val="F2F0E8"/>
                </a:solidFill>
                <a:latin typeface="Calibri" pitchFamily="34" charset="0"/>
                <a:ea typeface="Calibri" pitchFamily="34" charset="-122"/>
                <a:cs typeface="Calibri" pitchFamily="34" charset="-120"/>
              </a:rPr>
              <a:t>Dependent upon the FRDI Act (Vol. I), HRCR Act (Vol. II), and FCSAG (Vol. III)</a:t>
            </a:r>
            <a:endParaRPr lang="en-US" sz="1200" dirty="0"/>
          </a:p>
        </p:txBody>
      </p:sp>
      <p:sp>
        <p:nvSpPr>
          <p:cNvPr id="7" name="Text 5"/>
          <p:cNvSpPr/>
          <p:nvPr/>
        </p:nvSpPr>
        <p:spPr>
          <a:xfrm>
            <a:off x="914400" y="3977640"/>
            <a:ext cx="7315200" cy="548640"/>
          </a:xfrm>
          <a:prstGeom prst="rect">
            <a:avLst/>
          </a:prstGeom>
          <a:noFill/>
          <a:ln/>
        </p:spPr>
        <p:txBody>
          <a:bodyPr wrap="square" rtlCol="0" anchor="ctr"/>
          <a:lstStyle/>
          <a:p>
            <a:pPr algn="ctr" indent="0" marL="0">
              <a:buNone/>
            </a:pPr>
            <a:r>
              <a:rPr lang="en-US" sz="1200" dirty="0">
                <a:solidFill>
                  <a:srgbClr val="F2F0E8"/>
                </a:solidFill>
                <a:latin typeface="Calibri" pitchFamily="34" charset="0"/>
                <a:ea typeface="Calibri" pitchFamily="34" charset="-122"/>
                <a:cs typeface="Calibri" pitchFamily="34" charset="-120"/>
              </a:rPr>
              <a:t>Built on the Governance Design Principles of Elinor Ostrom</a:t>
            </a:r>
            <a:endParaRPr lang="en-US" sz="1200" dirty="0"/>
          </a:p>
          <a:p>
            <a:pPr algn="ctr" indent="0" marL="0">
              <a:buNone/>
            </a:pPr>
            <a:r>
              <a:rPr lang="en-US" sz="1200" dirty="0">
                <a:solidFill>
                  <a:srgbClr val="F2F0E8"/>
                </a:solidFill>
                <a:latin typeface="Calibri" pitchFamily="34" charset="0"/>
                <a:ea typeface="Calibri" pitchFamily="34" charset="-122"/>
                <a:cs typeface="Calibri" pitchFamily="34" charset="-120"/>
              </a:rPr>
              <a:t>Nobel Laureate in Economics, 2009</a:t>
            </a:r>
            <a:endParaRPr lang="en-US" sz="1200" dirty="0"/>
          </a:p>
        </p:txBody>
      </p:sp>
      <p:sp>
        <p:nvSpPr>
          <p:cNvPr id="8" name="Text 6"/>
          <p:cNvSpPr/>
          <p:nvPr/>
        </p:nvSpPr>
        <p:spPr>
          <a:xfrm>
            <a:off x="457200" y="4663440"/>
            <a:ext cx="8229600" cy="365760"/>
          </a:xfrm>
          <a:prstGeom prst="rect">
            <a:avLst/>
          </a:prstGeom>
          <a:noFill/>
          <a:ln/>
        </p:spPr>
        <p:txBody>
          <a:bodyPr wrap="square" rtlCol="0" anchor="ctr"/>
          <a:lstStyle/>
          <a:p>
            <a:pPr algn="ctr" indent="0" marL="0">
              <a:buNone/>
            </a:pPr>
            <a:r>
              <a:rPr lang="en-US" sz="1100" dirty="0">
                <a:solidFill>
                  <a:srgbClr val="8A7A50"/>
                </a:solidFill>
                <a:latin typeface="Courier New" pitchFamily="34" charset="0"/>
                <a:ea typeface="Courier New" pitchFamily="34" charset="-122"/>
                <a:cs typeface="Courier New" pitchFamily="34" charset="-120"/>
              </a:rPr>
              <a:t>github.com/clg1980/LegislativeSequence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9A84C"/>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1A3C34"/>
                </a:solidFill>
                <a:latin typeface="Arial" pitchFamily="34" charset="0"/>
                <a:ea typeface="Arial" pitchFamily="34" charset="-122"/>
                <a:cs typeface="Arial" pitchFamily="34" charset="-120"/>
              </a:rPr>
              <a:t>Section 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0D1E1A"/>
                </a:solidFill>
                <a:latin typeface="Cambria" pitchFamily="34" charset="0"/>
                <a:ea typeface="Cambria" pitchFamily="34" charset="-122"/>
                <a:cs typeface="Cambria" pitchFamily="34" charset="-120"/>
              </a:rPr>
              <a:t>Constitutional</a:t>
            </a:r>
            <a:endParaRPr lang="en-US" sz="3400" dirty="0"/>
          </a:p>
          <a:p>
            <a:pPr indent="0" marL="0">
              <a:buNone/>
            </a:pPr>
            <a:r>
              <a:rPr lang="en-US" sz="3400" b="1" dirty="0">
                <a:solidFill>
                  <a:srgbClr val="0D1E1A"/>
                </a:solidFill>
                <a:latin typeface="Cambria" pitchFamily="34" charset="0"/>
                <a:ea typeface="Cambria" pitchFamily="34" charset="-122"/>
                <a:cs typeface="Cambria" pitchFamily="34" charset="-120"/>
              </a:rPr>
              <a:t>Basis</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1A3C34"/>
                </a:solidFill>
                <a:latin typeface="Calibri" pitchFamily="34" charset="0"/>
                <a:ea typeface="Calibri" pitchFamily="34" charset="-122"/>
                <a:cs typeface="Calibri" pitchFamily="34" charset="-120"/>
              </a:rPr>
              <a:t>Findings 1–4: Four provisions, four international mandates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Article I §8: Foreign Commerce and Defense Powers Serve the People</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Constitution vests in Congress the power to regulate commerce with foreign nations, define and punish offenses against the law of nations, declare war, raise armies, and maintain a navy. These powers exist for the security and welfare of the American people — not for the perpetuation of any particular monetary arrangement, military posture, or pattern of international economic extraction.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constitutional foreign commerce and defense powers have never authorized, and cannot sustain, an international posture whose primary function is the protection of dollar-denominated commodity markets rather than the security and welfare of the American people.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1 → Title I § 101, Title III § 301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101 establishes the Declaration of Alliance Governance Policy: a formal congressional statement that American alliance commitments shall be evaluated against the criteria of genuine mutual security, commons solidarity, and the security and welfare of the American people — not against their contribution to the maintenance of the petrodollar system or any other monetary arrangement.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301 establishes the Declaration of Multilateral Institution Policy: American engagement with the IMF, World Bank, WTO, and other multilateral institutions shall be directed toward the development of commons institutions and the elimination of extractive structural conditions, consistent with the constitutional foreign commerce power's purpose of serving the welfare of the American people.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 § 101 · Title III § 301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Article II §2: The Treaty Power and Its Renegotiation</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Article II, Section 2 grants the President the power to make treaties with the advice and consent of the Senate. The alliance commitments addressed by this Act derive their legitimacy from that provision, and their renegotiation is equally within the constitutional authority of the federal government to pursue.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This Act exercises that constitutional authority by directing the Executive Branch to pursue renegotiation of existing alliance commitments through lawful diplomatic processes, consistent with the terms of each treaty and the evolving security requirements of the United States and its allies.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2 → Title I § 102, 103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102 establishes the NATO Resilience Framework Negotiating Authorization: Congress authorizes and directs the President to negotiate a renegotiated framework for United States participation in NATO, reorienting American commitments from automatic conventional primacy toward Mutual Resilience Commitments, with burden-sharing assessed against commons infrastructure investment as well as conventional defense expenditure.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103 establishes the Bilateral Alliance Review: a systematic review of all bilateral mutual defense treaties and security agreements, applying the criteria of genuine mutual security, commons solidarity, and the welfare of both peoples to each relationship, with a report to Congress and a negotiating authorization for modifications where the review identifies a basis for renegotiation.</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 § 102 · § 103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3</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The Supremacy Clause: No Unilateral Abrogation</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Supremacy Clause of Article VI establishes that treaties made under the authority of the United States are the supreme law of the land. This Act does not abrogate existing treaty obligations unilaterally; it directs the Executive Branch to pursue their renegotiation through lawful diplomatic processes, consistent with the terms of each treaty and with the evolving security requirements of the United States and its allies.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3 → Title I § 102, Title V § 504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102's NATO Resilience Framework Negotiating Authorization is drafted specifically as an authorization to negotiate, not an instruction to withdraw or abrogate. The United States remains bound by its existing NATO obligations throughout the renegotiation period. The Framework takes effect only upon successful negotiation and ratification through the constitutional treaty process.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504 establishes the Constitutional Safe Harbor: the Act's directives to the Executive Branch are to be construed consistently with existing treaty obligations, and no provision of this Act shall be construed to authorize any action inconsistent with the Constitution's treaty and foreign affairs provisions.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 § 102 · Title V § 504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4</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The Tenth Amendment: Subsidiarity at International Scale</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Tenth Amendment reserves to the states and to the people powers not delegated to the federal government. The principle of subsidiarity that underlies this reservation — that governance is most legitimate when exercised at the scale closest to the people it serves — applies with equal force to the international order.</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A world in which communities govern their own land, knowledge, data, and productive enterprise through federated commons institutions is more consistent with the constitutional vision of self-governance than a world organized around the dominance of any single nation, monetary system, or multilateral institution.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4 → Title IV § 401, 405</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401 establishes Allied Commons Network Recognition: the State Department is authorized and directed to formally recognize foreign commons institutions, federations of commons institutions, and municipal commons governance bodies that operate under governance principles equivalent to the Ostrom Standards of Stewardship as Allied Commons Networks, entitled to participation in Commons Federation Agreements and the International Commons Solidarity Fund.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405 establishes the Planetary Commons Federation Long-Term Vision: a formal congressional statement that the long-term goal of American foreign policy under this Act is the development of a planetary network of federated commons institutions, each self-governing under principles equivalent to the Ostrom Standards, connected laterally to one another through Commons Federation Agreements, without center or hierarchy.</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IV § 401 · § 405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9A84C"/>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1A3C34"/>
                </a:solidFill>
                <a:latin typeface="Arial" pitchFamily="34" charset="0"/>
                <a:ea typeface="Arial" pitchFamily="34" charset="-122"/>
                <a:cs typeface="Arial" pitchFamily="34" charset="-120"/>
              </a:rPr>
              <a:t>Section II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0D1E1A"/>
                </a:solidFill>
                <a:latin typeface="Cambria" pitchFamily="34" charset="0"/>
                <a:ea typeface="Cambria" pitchFamily="34" charset="-122"/>
                <a:cs typeface="Cambria" pitchFamily="34" charset="-120"/>
              </a:rPr>
              <a:t>The Alliance Transition</a:t>
            </a:r>
            <a:endParaRPr lang="en-US" sz="3400" dirty="0"/>
          </a:p>
          <a:p>
            <a:pPr indent="0" marL="0">
              <a:buNone/>
            </a:pPr>
            <a:r>
              <a:rPr lang="en-US" sz="3400" b="1" dirty="0">
                <a:solidFill>
                  <a:srgbClr val="0D1E1A"/>
                </a:solidFill>
                <a:latin typeface="Cambria" pitchFamily="34" charset="0"/>
                <a:ea typeface="Cambria" pitchFamily="34" charset="-122"/>
                <a:cs typeface="Cambria" pitchFamily="34" charset="-120"/>
              </a:rPr>
              <a:t>Already Underway</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1A3C34"/>
                </a:solidFill>
                <a:latin typeface="Calibri" pitchFamily="34" charset="0"/>
                <a:ea typeface="Calibri" pitchFamily="34" charset="-122"/>
                <a:cs typeface="Calibri" pitchFamily="34" charset="-120"/>
              </a:rPr>
              <a:t>Findings 5–9, 7A: Managing what is already happening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5</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NATO's Original Premise Has Been Progressively Eroded</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international security architecture established after World War II was premised on a degree of American military and economic primacy that the intervening decades have progressively eroded. NATO, conceived as a collective defense arrangement among sovereign equals, has functioned in practice as a security guarantee underwritten by American military expenditure, American nuclear deterrence, and American willingness to treat allied defense as equivalent to American defense.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That arrangement served identifiable purposes during the period of its design. It is not self-evidently the arrangement best suited to the security requirements of the present moment or the coming decades.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5 → Title I § 101, 102</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101's Declaration of Alliance Governance Policy establishes that American alliance commitments shall be evaluated against current security requirements rather than inherited arrangements premised on American primacy, and that the appropriate response to erosion of the original design premises is deliberate renegotiation rather than either indefinite perpetuation of outdated arrangements or abrupt disengagement.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102's NATO Resilience Framework Negotiating Authorization operationalizes this: the President is directed to negotiate a framework that reflects the current security environment, in which European allies have developed substantial independent defense capacity and the Europeanization of NATO security provision is already substantially underway.</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 § 101 · § 102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6</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The Europeanization of NATO Is a Present Reality, Not a Future Possibility</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process of European strategic reorientation is a present reality requiring American governance, not a future possibility requiring American initiation. The 2026 National Defense Strategy's explicit deprioritization of Europe, the Northwood Declaration's coordination of Anglo-French nuclear policy, the EU Defense Readiness Roadmap 2030, and the commitment of all NATO allies at the 2025 Hague Summit to substantially higher defense expenditure targets collectively demonstrate that European allies have already concluded that automatic American primacy cannot be assumed indefinitely.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question before Congress is not whether this transition will occur but whether the United States will govern it deliberately, consistent with the commons values of this legislative program, or allow it to proceed as an unmanaged fracture.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6 → Title I § 102, 104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102's NATO Resilience Framework Negotiating Authorization provides the diplomatic vehicle for governing the transition that Finding 6 documents as already underway: the President is directed to negotiate a framework that formalizes the Europeanization of NATO security provision, establishes Mutual Resilience Commitments as the new basis for American participation, and ensures that the transition proceeds as a managed reorganization rather than an uncontrolled fracture.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104 establishes Oversight and Accountability: the President shall report to Congress every six months on the progress of negotiations, with a specific explanation of any departure from the negotiating objectives established in § 102, ensuring that the transition remains subject to congressional oversight throughout.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 § 102 · § 104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7</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The Strait of Hormuz Fracture: Petrodollar Commitments Are Not Mutual Security</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fracture of the NATO alliance over American demands for allied participation in operations connected to the Strait of Hormuz illustrates with particular clarity the structural problem this Act addresses. American military commitments to the protection of fossil fuel shipping lanes are not mutual security commitments in any meaningful sense; they are the operational expression of petrodollar dependence, requiring allied nations to subordinate their security assessments to the protection of an American monetary arrangement whose benefits they do not share equally.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As the domestic commons infrastructure reduces American dependence on fossil fuel markets, the strategic rationale for those commitments diminishes, and the alliance relationships they have strained can be rebuilt on more genuinely mutual foundations.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7 → Title I § 102</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102's NATO Resilience Framework explicitly removes the protection of fossil fuel shipping lanes and dollar-denominated energy market arrangements from the scope of alliance obligations. The Mutual Resilience Commitments that replace the current framework define the scope of collective defense in terms of territorial integrity, commons infrastructure protection, and democratic governance resilience — not petroleum shipping route security.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As the domestic commons energy transition matures (per the FRDI Act and FCSAG timelines), this provision removes the primary source of the alliance friction Finding 7 documents, allowing allied relationships to be rebuilt on the genuinely mutual foundations that the Northwood Declaration and the European Defense Readiness Roadmap 2030 are already developing.</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 § 102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7A</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Persian Gulf Relationships: Petrodollar Recycling and Its Strategic Consequences</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American security relationships with nations of the Persian Gulf region have, since the 1970s, been substantially organized around the maintenance of the petrodollar recycling system — the practice by which oil-exporting nations denominate petroleum sales in United States dollars and reinvest the resulting dollar surpluses in United States financial instruments.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strategic significance of those relationships to the United States has derived substantially from their role in that monetary arrangement rather than from the kind of mutual security relationship this Act seeks to encourage. As domestic dependence on the petrodollar recycling system diminishes through the commons economic transition, the case for maintaining those relationships on their historical terms diminishes correspondingly, and the criteria established in Section 103 of Title I of this Act provide the operative standard by which their continuation is to be assessed.</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7A → Title I § 103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103's Bilateral Alliance Review establishes the criteria by which all bilateral security relationships are assessed: genuine mutual security benefit, democratic governance standards, commons solidarity potential, and the security and welfare of both peoples. These criteria, rather than the contribution to petrodollar recycling, become the operative standard for evaluating and, where appropriate, renegotiating bilateral security arrangements in the Persian Gulf region and elsewhere.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review is not an immediate termination of any relationship. It is a systematic assessment against new criteria, with a report to Congress and a negotiating authorization for modifications where the review identifies that the relationship no longer serves its stated security purposes.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 § 103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8</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The European Defense Buildup: Resilience vs. Rearmament</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European defense buildup now underway represents a resource mobilization of historic scale. Analyses by the International Institute for Strategic Studies estimate the cost of replacing American conventional defense capabilities in Europe at figures exceeding one trillion dollars over a generation. That mobilization will occur regardless of American policy choices.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question is whether it occurs as conventional military rearmament reproducing the same extractive defense industrial logic at European scale, or as resilience-based security investment in distributed energy infrastructure, cooperative food systems, democratic communications architecture, and the commons institutions that constitute genuine civilian resilience. This Act directs American diplomacy toward supporting the latter.</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8 → Title I § 102, Title IV § 403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102's NATO Resilience Framework explicitly incorporates commons infrastructure investment as a form of burden-sharing equivalent to conventional defense expenditure: a European ally investing one trillion dollars in distributed renewable energy, cooperative food systems, and democratic communications infrastructure is contributing to collective resilience as genuinely as an ally investing the same amount in tanks and fighter aircraft.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403 establishes the International Commons Solidarity Fund: technical assistance, open-source technology transfer, commons governance capacity-building, and seed capitalization for commons institutions in allied nations seeking to develop resilience-based security infrastructure rather than conventional military capacity.</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 § 102 · Title IV § 403</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9</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Transactional Conditionality Costs American Security</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Congress finds that the current trajectory of American alliance management, characterized by transactional conditionality, public questioning of Article 5 commitments, and the subordination of alliance relationships to domestic political signaling, inflicts costs on American security that no short-term diplomatic leverage justifies.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credibility of security commitments derives from their unconditional character; a commitment that is conditional on allied deference to American economic preferences is not a security commitment but a protection arrangement, and its erosion produces not leverage but insecurity. This Act does not diminish American security commitments. It places them on foundations — mutual resilience, genuine collective defense, commons solidarity — that are more durable than the petrodollar arrangements whose protection has distorted them.</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9 → Title I § 101, 102, 104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101's Declaration establishes that American security commitments under the NATO Resilience Framework are genuine mutual security obligations — not conditional on allied deference to American economic preferences, not subject to public questioning as diplomatic leverage, and not subordinated to domestic political signaling.</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102's Negotiating Authorization directs the President to negotiate a framework premised on genuine mutual security rather than American primacy, with the credibility of American commitments restored by grounding them in mutual resilience rather than transactional conditionality.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104's oversight mechanism ensures that any executive branch departure from these principles is reported to Congress with a specific explanation.</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 § 101 · § 102 · § 104</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C9A84C"/>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1A3C34"/>
                </a:solidFill>
                <a:latin typeface="Arial" pitchFamily="34" charset="0"/>
                <a:ea typeface="Arial" pitchFamily="34" charset="-122"/>
                <a:cs typeface="Arial" pitchFamily="34" charset="-120"/>
              </a:rPr>
              <a:t>Section III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0D1E1A"/>
                </a:solidFill>
                <a:latin typeface="Cambria" pitchFamily="34" charset="0"/>
                <a:ea typeface="Cambria" pitchFamily="34" charset="-122"/>
                <a:cs typeface="Cambria" pitchFamily="34" charset="-120"/>
              </a:rPr>
              <a:t>Nuclear Nonproliferation</a:t>
            </a:r>
            <a:endParaRPr lang="en-US" sz="3400" dirty="0"/>
          </a:p>
          <a:p>
            <a:pPr indent="0" marL="0">
              <a:buNone/>
            </a:pPr>
            <a:r>
              <a:rPr lang="en-US" sz="3400" b="1" dirty="0">
                <a:solidFill>
                  <a:srgbClr val="0D1E1A"/>
                </a:solidFill>
                <a:latin typeface="Cambria" pitchFamily="34" charset="0"/>
                <a:ea typeface="Cambria" pitchFamily="34" charset="-122"/>
                <a:cs typeface="Cambria" pitchFamily="34" charset="-120"/>
              </a:rPr>
              <a:t>and the Broader Logic</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1A3C34"/>
                </a:solidFill>
                <a:latin typeface="Calibri" pitchFamily="34" charset="0"/>
                <a:ea typeface="Calibri" pitchFamily="34" charset="-122"/>
                <a:cs typeface="Calibri" pitchFamily="34" charset="-120"/>
              </a:rPr>
              <a:t>Findings 10–12: From nuclear arms control to the nonproliferation of extraction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10</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The NPT: Five Decades of Rhetorical Compliance</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Treaty on the Non-Proliferation of Nuclear Weapons commits nuclear-weapon states to pursue negotiations in good faith toward nuclear disarmament. That commitment has been honored rhetorically and neglected practically for more than five decades. The proliferation of nuclear weapons to additional states, and the erosion of the nonproliferation regime through the withdrawal of parties and the collapse of bilateral arms control agreements, represents a security failure whose costs will ultimately be borne by the communities whose commons infrastructure this legislative program is designed to protect.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This Act directs a genuine reengagement with multilateral disarmament processes, from a posture of minimum credible deterrence that does not require the forward deployment of nuclear capabilities whose primary strategic purpose is the coercion of non-nuclear states.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10 → Title II § 201, 202, 203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201 establishes the Minimum Credible Deterrence doctrine: the United States nuclear posture is directed toward maintaining only the capability to inflict unacceptable costs on any state actor that conducts a nuclear first strike against the United States or its Treaty Allies. Force structure sized for nuclear coercion of non-nuclear states, first-strike capability against nuclear-armed adversaries, or reinforcement of conventional military dominance through nuclear threat is explicitly outside the authorized posture.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202 establishes NPT Reengagement: the President is directed to pursue genuine multilateral disarmament negotiations, propose new bilateral arms control agreements with other nuclear-weapon states, and take concrete steps toward fulfilling the Article VI disarmament commitment.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203 establishes Disarmament Diplomacy: a diplomatic initiative coordinating with non-nuclear states and civil society organizations to advance the nonproliferation regime.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II § 201 · § 202 · § 203</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11</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The Broader Nonproliferation Logic</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logic of nonproliferation extends beyond nuclear weapons to encompass the full range of arrangements whose proliferation produces insecurity, ecological harm, and the concentration of productive capacity in forms incompatible with commons governance: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 Fossil fuel infrastructure, whose continued expansion is incompatible with ecological stability</a:t>
            </a: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 Surveillance and carceral technology, whose export has systematically undermined conditions for commons institution development abroad</a:t>
            </a: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 Extractive financial arrangements, whose structural adjustment conditions have prevented developing nations from building cooperative institutions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Each represents a form of proliferation whose deliberate non-proliferation is as much a security imperative as the control of nuclear weapons.</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11 → Title II § 203, Title III § 302, Title IV § 404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203's Disarmament Diplomacy directive includes the deliberate non-proliferation of fossil fuel infrastructure as a diplomatic objective equivalent to nuclear arms control, directing American diplomatic resources toward international agreements that constrain further fossil fuel infrastructure expansion.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302 establishes Structural Adjustment Reform Directives: the United States Executive Director at the IMF, World Bank, and WTO is directed to oppose any financing, debt relief, or trade access condition that requires the proliferation of extractive financial arrangements incompatible with commons institution development.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404 establishes Commons Foreign Assistance Reorientation: American foreign assistance programs are prohibited from providing surveillance technology, carceral technology, or predictive policing systems to any foreign government.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II § 203 · Title III § 302 · Title IV § 404</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12</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Ecological Disruption as First-Order Security Threat</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ecological disruption produced by the combustion of fossil fuels constitutes a security threat of the first order, generating the displacement of human populations, the destabilization of agricultural systems, the intensification of resource conflicts, and the erosion of the material conditions on which all governance depends.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A foreign policy that continues to prioritize the protection of fossil fuel infrastructure and the perpetuation of dollar-denominated energy markets is a foreign policy that actively accelerates the security threats it purports to address. This Act redirects American international engagement toward the conditions for ecological stability, including through support for commons institution development in nations most vulnerable to climate disruption.</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12 → Title III § 302, 307, Title IV § 403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302's Structural Adjustment Reform Directives direct the United States to oppose IMF and World Bank conditions that require developing nations to privatize energy assets or expand fossil fuel infrastructure, removing the multilateral financial architecture's contribution to ecological disruption.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307 establishes Debt Relief and Commons Transition: the United States is directed to pursue multilateral debt relief for nations whose debt burden prevents commons institution development, with debt cancellation or restructuring conditioned on commons transition commitments rather than structural adjustment conditions.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403's International Commons Solidarity Fund specifically prioritizes nations most vulnerable to climate disruption for commons institution development support.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III § 302 · § 307 · Title IV § 403</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C9A84C"/>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1A3C34"/>
                </a:solidFill>
                <a:latin typeface="Arial" pitchFamily="34" charset="0"/>
                <a:ea typeface="Arial" pitchFamily="34" charset="-122"/>
                <a:cs typeface="Arial" pitchFamily="34" charset="-120"/>
              </a:rPr>
              <a:t>Section IV</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0D1E1A"/>
                </a:solidFill>
                <a:latin typeface="Cambria" pitchFamily="34" charset="0"/>
                <a:ea typeface="Cambria" pitchFamily="34" charset="-122"/>
                <a:cs typeface="Cambria" pitchFamily="34" charset="-120"/>
              </a:rPr>
              <a:t>The Program as</a:t>
            </a:r>
            <a:endParaRPr lang="en-US" sz="3400" dirty="0"/>
          </a:p>
          <a:p>
            <a:pPr indent="0" marL="0">
              <a:buNone/>
            </a:pPr>
            <a:r>
              <a:rPr lang="en-US" sz="3400" b="1" dirty="0">
                <a:solidFill>
                  <a:srgbClr val="0D1E1A"/>
                </a:solidFill>
                <a:latin typeface="Cambria" pitchFamily="34" charset="0"/>
                <a:ea typeface="Cambria" pitchFamily="34" charset="-122"/>
                <a:cs typeface="Cambria" pitchFamily="34" charset="-120"/>
              </a:rPr>
              <a:t>Complete Transition</a:t>
            </a:r>
            <a:endParaRPr lang="en-US" sz="3400" dirty="0"/>
          </a:p>
          <a:p>
            <a:pPr indent="0" marL="0">
              <a:buNone/>
            </a:pPr>
            <a:r>
              <a:rPr lang="en-US" sz="3400" b="1" dirty="0">
                <a:solidFill>
                  <a:srgbClr val="0D1E1A"/>
                </a:solidFill>
                <a:latin typeface="Cambria" pitchFamily="34" charset="0"/>
                <a:ea typeface="Cambria" pitchFamily="34" charset="-122"/>
                <a:cs typeface="Cambria" pitchFamily="34" charset="-120"/>
              </a:rPr>
              <a:t>Architecture</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1A3C34"/>
                </a:solidFill>
                <a:latin typeface="Calibri" pitchFamily="34" charset="0"/>
                <a:ea typeface="Calibri" pitchFamily="34" charset="-122"/>
                <a:cs typeface="Calibri" pitchFamily="34" charset="-120"/>
              </a:rPr>
              <a:t>Finding 13: The capstone of the four-bill program</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13</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The Capstone: Four Acts, One Transition Architecture</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Congress finds that the four legislative vehicles constituting this program: the FRDI Act, the HRCR Act, the FCSAG, and this Act — together constitute a complete transition architecture: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 From an economy organized around scarcity, enclosure, and extraction to one organized around abundance, commons stewardship, and provision</a:t>
            </a: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 From a justice system organized around punishment to one organized around restoration</a:t>
            </a: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 From a defense posture organized around power projection to one organized around resilience</a:t>
            </a: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 From an international order organized around the dominance of any single nation or monetary system to one organized around the federated sovereignty of communities governing their own land, knowledge, data, and productive enterprise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This Act is the capstone of that architecture, addressing the international dimensions of a transition whose domestic foundations the preceding Acts have established.</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13 → Title V § 501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501 establishes the Dependency on all three prior Acts: the international governance provisions of this Act presuppose the enactment and implementation of the FRDI Act (the material commons), the HRCR Act (the social commons), and the FCSAG (the strategic commons). The ISRN's NATO Resilience Framework is only credible once the FCSAG's defense posture reorientation has begun. The International Commons Solidarity Fund is only meaningful once the FRDI Act's commons economy has demonstrated domestic viability. The Allied Commons Network recognition is only legitimate once the domestic Federated Network has established the governance standards against which foreign institutions are measured.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501 also anticipates no fifth Act: this is the complete program.</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V § 501</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C9A84C"/>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1A3C34"/>
                </a:solidFill>
                <a:latin typeface="Arial" pitchFamily="34" charset="0"/>
                <a:ea typeface="Arial" pitchFamily="34" charset="-122"/>
                <a:cs typeface="Arial" pitchFamily="34" charset="-120"/>
              </a:rPr>
              <a:t>Section V</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0D1E1A"/>
                </a:solidFill>
                <a:latin typeface="Cambria" pitchFamily="34" charset="0"/>
                <a:ea typeface="Cambria" pitchFamily="34" charset="-122"/>
                <a:cs typeface="Cambria" pitchFamily="34" charset="-120"/>
              </a:rPr>
              <a:t>This Act Does Not</a:t>
            </a:r>
            <a:endParaRPr lang="en-US" sz="3400" dirty="0"/>
          </a:p>
          <a:p>
            <a:pPr indent="0" marL="0">
              <a:buNone/>
            </a:pPr>
            <a:r>
              <a:rPr lang="en-US" sz="3400" b="1" dirty="0">
                <a:solidFill>
                  <a:srgbClr val="0D1E1A"/>
                </a:solidFill>
                <a:latin typeface="Cambria" pitchFamily="34" charset="0"/>
                <a:ea typeface="Cambria" pitchFamily="34" charset="-122"/>
                <a:cs typeface="Cambria" pitchFamily="34" charset="-120"/>
              </a:rPr>
              <a:t>Create a New System</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1A3C34"/>
                </a:solidFill>
                <a:latin typeface="Calibri" pitchFamily="34" charset="0"/>
                <a:ea typeface="Calibri" pitchFamily="34" charset="-122"/>
                <a:cs typeface="Calibri" pitchFamily="34" charset="-120"/>
              </a:rPr>
              <a:t>Findings 14–15: Existing foundations, deliberate reorientation</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14</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International Commons Institutions Already Exist</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international community land trust movement, the Mondragon cooperative federation's international network, the Barcelona en Comú municipal commons network and the broader Fearless Cities movement, the solidarity economy networks of Catalonia and the Basque Country, and the mutual credit and time-banking systems operating in the Global South represent an existing institutional infrastructure whose demonstrated effectiveness justifies the diplomatic recognition and material support this Act provides.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These institutions are not recipients of American development assistance in the conventional sense. They are potential equals in a planetary commons network: each self-governing under principles equivalent to the Ostrom Standards of Stewardship, each federated laterally to its neighbors and to the United States Federated Network, none subordinate to any center. The commons federation this Act enables has no metropole. It has only nodes.</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14 → Title IV § 401, 402, 403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401 establishes Allied Commons Network Recognition: formal State Department recognition for foreign commons institutions meeting the Ostrom Standards equivalence criteria, entitling them to participate in Commons Federation Agreements and the International Commons Solidarity Fund. Barcelona en Comú, the XES Catalan network, and equivalent institutions in other nations are the primary initial candidates for recognition.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402 establishes Commons Federation Agreements: bilateral or multilateral agreements between the United States and foreign governments or Allied Commons Networks, providing for mutual recognition of commons membership, inter-commons IP sharing, inter-commons data governance, and commons-to-commons resource exchange.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403 establishes the International Commons Solidarity Fund: technical assistance, open-source technology transfer, and seed capitalization for commons institutions seeking to develop federated commons infrastructure.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IV § 401 · § 402 · § 403</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15</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Renegotiation Proceeds from Existing Foundations</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renegotiation of alliance commitments directed by this Act does not begin from a blank slate. Existing NATO structures, bilateral security agreements, and multilateral institution memberships provide the legal and institutional foundation on which renegotiation proceeds.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direction this Act gives to American diplomacy is not the abandonment of international engagement but its reorientation: from arrangements organized around American primacy and petrodollar protection to arrangements organized around mutual resilience, commons solidarity, and the deliberate non-proliferation of the extractive systems whose continuation no community, American or otherwise, has a genuine interest in guaranteeing.</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15 → Title I § 102, Title III § 306</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102's NATO Resilience Framework Negotiating Authorization proceeds from and builds upon the existing North Atlantic Treaty rather than replacing it: the Mutual Resilience Commitments it establishes supplement rather than abrogate the existing Article 5 collective defense obligations during the transition period, with the renegotiated framework taking effect only upon ratification.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306 establishes Alternative Multilateral Frameworks: where existing multilateral institutions prove unable or unwilling to reform their extractive structural conditions, the United States is directed to support and participate in alternative multilateral frameworks — including the New Development Bank, the Asian Infrastructure Investment Bank where consistent with commons values, and new multilateral commons development institutions — that provide developing nations with non-extractive alternatives to IMF and World Bank financing.</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 § 102 · Title III § 306</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C9A84C"/>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1A3C34"/>
                </a:solidFill>
                <a:latin typeface="Arial" pitchFamily="34" charset="0"/>
                <a:ea typeface="Arial" pitchFamily="34" charset="-122"/>
                <a:cs typeface="Arial" pitchFamily="34" charset="-120"/>
              </a:rPr>
              <a:t>Section VI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0D1E1A"/>
                </a:solidFill>
                <a:latin typeface="Cambria" pitchFamily="34" charset="0"/>
                <a:ea typeface="Cambria" pitchFamily="34" charset="-122"/>
                <a:cs typeface="Cambria" pitchFamily="34" charset="-120"/>
              </a:rPr>
              <a:t>The Planetary</a:t>
            </a:r>
            <a:endParaRPr lang="en-US" sz="3400" dirty="0"/>
          </a:p>
          <a:p>
            <a:pPr indent="0" marL="0">
              <a:buNone/>
            </a:pPr>
            <a:r>
              <a:rPr lang="en-US" sz="3400" b="1" dirty="0">
                <a:solidFill>
                  <a:srgbClr val="0D1E1A"/>
                </a:solidFill>
                <a:latin typeface="Cambria" pitchFamily="34" charset="0"/>
                <a:ea typeface="Cambria" pitchFamily="34" charset="-122"/>
                <a:cs typeface="Cambria" pitchFamily="34" charset="-120"/>
              </a:rPr>
              <a:t>Commons Federation</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1A3C34"/>
                </a:solidFill>
                <a:latin typeface="Calibri" pitchFamily="34" charset="0"/>
                <a:ea typeface="Calibri" pitchFamily="34" charset="-122"/>
                <a:cs typeface="Calibri" pitchFamily="34" charset="-120"/>
              </a:rPr>
              <a:t>Finding 16: The structural inverse of empire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346"/>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16</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The Planetary Commons Federation: The Structural Inverse of Empire</a:t>
            </a:r>
            <a:endParaRPr lang="en-US" sz="2200" dirty="0"/>
          </a:p>
        </p:txBody>
      </p:sp>
      <p:sp>
        <p:nvSpPr>
          <p:cNvPr id="5" name="Shape 3"/>
          <p:cNvSpPr/>
          <p:nvPr/>
        </p:nvSpPr>
        <p:spPr>
          <a:xfrm>
            <a:off x="457200" y="1554480"/>
            <a:ext cx="8229600" cy="0"/>
          </a:xfrm>
          <a:prstGeom prst="line">
            <a:avLst/>
          </a:prstGeom>
          <a:noFill/>
          <a:ln w="19050">
            <a:solidFill>
              <a:srgbClr val="C9A84C"/>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planetary commons federation this Act encodes in legal architecture is the structural inverse of empire. Empire extracts: it takes land, labor, knowledge, and resources from the periphery and concentrates them at the center, maintaining that concentration through military projection, monetary dominance, and the enclosure of the intellectual and material commons.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The commons federation this Act enables distributes: it seeds self-governing institutions at every node of the network, connects them laterally through shared governance principles and mutual provision obligations, and actively reverses the extraction dynamic by returning to communities the productive capacity, the knowledge commons, and the land stewardship that prior arrangements removed.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This Act does not merely stop doing those things. It runs the process in the opposite direction, using the diplomatic, financial, and institutional capacity of the federal government not to project American power but to seed the conditions under which no projection of power, American or otherwise, is any longer necessary or possible.</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6E2D4"/>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3D5C32"/>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3D5C32"/>
                </a:solidFill>
                <a:latin typeface="Calibri" pitchFamily="34" charset="0"/>
                <a:ea typeface="Calibri" pitchFamily="34" charset="-122"/>
                <a:cs typeface="Calibri" pitchFamily="34" charset="-120"/>
              </a:rPr>
              <a:t>Finding 16 → Title IV § 405</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E1A"/>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3D5C32"/>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405 establishes the Planetary Commons Federation Long-Term Vision: a formal congressional statement of the long-term goal of American foreign policy under this Act — the development of a planetary network of federated commons institutions, each self-governing under principles equivalent to the Ostrom Standards of Stewardship, connected laterally to one another through Commons Federation Agreements, provisioning their members through cooperative institutions, and jointly committed to the deliberate non-proliferation of extractive systems.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1A0E"/>
                </a:solidFill>
                <a:latin typeface="Calibri" pitchFamily="34" charset="0"/>
                <a:ea typeface="Calibri" pitchFamily="34" charset="-122"/>
                <a:cs typeface="Calibri" pitchFamily="34" charset="-120"/>
              </a:rPr>
              <a:t>Section 405 also establishes a ten-year review: the President and Congress shall assess the development of the planetary commons network at ten-year intervals, with a report on the number of Allied Commons Networks recognized, the scope of Commons Federation Agreements, the performance of the International Commons Solidarity Fund, and the progress toward the conditions under which no projection of power is necessary or possible.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3D5C32"/>
                </a:solidFill>
                <a:latin typeface="Courier New" pitchFamily="34" charset="0"/>
                <a:ea typeface="Courier New" pitchFamily="34" charset="-122"/>
                <a:cs typeface="Courier New" pitchFamily="34" charset="-120"/>
              </a:rPr>
              <a:t>Title IV § 405</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256032"/>
            <a:ext cx="8321040" cy="420624"/>
          </a:xfrm>
          <a:prstGeom prst="roundRect">
            <a:avLst>
              <a:gd name="adj" fmla="val 10870"/>
            </a:avLst>
          </a:prstGeom>
          <a:solidFill>
            <a:srgbClr val="1A3C34"/>
          </a:solidFill>
          <a:ln/>
        </p:spPr>
      </p:sp>
      <p:sp>
        <p:nvSpPr>
          <p:cNvPr id="8" name="Text 6"/>
          <p:cNvSpPr/>
          <p:nvPr/>
        </p:nvSpPr>
        <p:spPr>
          <a:xfrm>
            <a:off x="411480" y="256032"/>
            <a:ext cx="832104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Resources</a:t>
            </a:r>
            <a:endParaRPr lang="en-US" sz="1500" dirty="0"/>
          </a:p>
        </p:txBody>
      </p:sp>
      <p:sp>
        <p:nvSpPr>
          <p:cNvPr id="9" name="Text 7"/>
          <p:cNvSpPr/>
          <p:nvPr/>
        </p:nvSpPr>
        <p:spPr>
          <a:xfrm>
            <a:off x="411480" y="804672"/>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International Center for Community Land Trusts (ICCLT)  </a:t>
            </a:r>
            <a:pPr indent="0" marL="0">
              <a:buNone/>
            </a:pPr>
            <a:r>
              <a:rPr lang="en-US" sz="950" dirty="0">
                <a:solidFill>
                  <a:srgbClr val="4A6741"/>
                </a:solidFill>
                <a:latin typeface="Courier New" pitchFamily="34" charset="0"/>
                <a:ea typeface="Courier New" pitchFamily="34" charset="-122"/>
                <a:cs typeface="Courier New" pitchFamily="34" charset="-120"/>
              </a:rPr>
              <a:t>cltnetwork.org</a:t>
            </a:r>
            <a:endParaRPr lang="en-US" sz="1050" dirty="0"/>
          </a:p>
        </p:txBody>
      </p:sp>
      <p:sp>
        <p:nvSpPr>
          <p:cNvPr id="10" name="Text 8"/>
          <p:cNvSpPr/>
          <p:nvPr/>
        </p:nvSpPr>
        <p:spPr>
          <a:xfrm>
            <a:off x="411480" y="1049731"/>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Mondragon Corporation (Basque Country cooperative federation)  </a:t>
            </a:r>
            <a:pPr indent="0" marL="0">
              <a:buNone/>
            </a:pPr>
            <a:r>
              <a:rPr lang="en-US" sz="950" dirty="0">
                <a:solidFill>
                  <a:srgbClr val="4A6741"/>
                </a:solidFill>
                <a:latin typeface="Courier New" pitchFamily="34" charset="0"/>
                <a:ea typeface="Courier New" pitchFamily="34" charset="-122"/>
                <a:cs typeface="Courier New" pitchFamily="34" charset="-120"/>
              </a:rPr>
              <a:t>mondragon-corporation.com</a:t>
            </a:r>
            <a:endParaRPr lang="en-US" sz="1050" dirty="0"/>
          </a:p>
        </p:txBody>
      </p:sp>
      <p:sp>
        <p:nvSpPr>
          <p:cNvPr id="11" name="Text 9"/>
          <p:cNvSpPr/>
          <p:nvPr/>
        </p:nvSpPr>
        <p:spPr>
          <a:xfrm>
            <a:off x="411480" y="1294790"/>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Barcelona en Comu / Fearless Cities movement  </a:t>
            </a:r>
            <a:pPr indent="0" marL="0">
              <a:buNone/>
            </a:pPr>
            <a:r>
              <a:rPr lang="en-US" sz="950" dirty="0">
                <a:solidFill>
                  <a:srgbClr val="4A6741"/>
                </a:solidFill>
                <a:latin typeface="Courier New" pitchFamily="34" charset="0"/>
                <a:ea typeface="Courier New" pitchFamily="34" charset="-122"/>
                <a:cs typeface="Courier New" pitchFamily="34" charset="-120"/>
              </a:rPr>
              <a:t>barcelonaencomu.cat</a:t>
            </a:r>
            <a:endParaRPr lang="en-US" sz="1050" dirty="0"/>
          </a:p>
        </p:txBody>
      </p:sp>
      <p:sp>
        <p:nvSpPr>
          <p:cNvPr id="12" name="Text 10"/>
          <p:cNvSpPr/>
          <p:nvPr/>
        </p:nvSpPr>
        <p:spPr>
          <a:xfrm>
            <a:off x="411480" y="1539850"/>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XES (Catalan Solidarity Economy Network)  </a:t>
            </a:r>
            <a:pPr indent="0" marL="0">
              <a:buNone/>
            </a:pPr>
            <a:r>
              <a:rPr lang="en-US" sz="950" dirty="0">
                <a:solidFill>
                  <a:srgbClr val="4A6741"/>
                </a:solidFill>
                <a:latin typeface="Courier New" pitchFamily="34" charset="0"/>
                <a:ea typeface="Courier New" pitchFamily="34" charset="-122"/>
                <a:cs typeface="Courier New" pitchFamily="34" charset="-120"/>
              </a:rPr>
              <a:t>xes.cat</a:t>
            </a:r>
            <a:endParaRPr lang="en-US" sz="1050" dirty="0"/>
          </a:p>
        </p:txBody>
      </p:sp>
      <p:sp>
        <p:nvSpPr>
          <p:cNvPr id="13" name="Text 11"/>
          <p:cNvSpPr/>
          <p:nvPr/>
        </p:nvSpPr>
        <p:spPr>
          <a:xfrm>
            <a:off x="411480" y="1784909"/>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RIPESS (Intercontinental Network for Social Solidarity Economy)  </a:t>
            </a:r>
            <a:pPr indent="0" marL="0">
              <a:buNone/>
            </a:pPr>
            <a:r>
              <a:rPr lang="en-US" sz="950" dirty="0">
                <a:solidFill>
                  <a:srgbClr val="4A6741"/>
                </a:solidFill>
                <a:latin typeface="Courier New" pitchFamily="34" charset="0"/>
                <a:ea typeface="Courier New" pitchFamily="34" charset="-122"/>
                <a:cs typeface="Courier New" pitchFamily="34" charset="-120"/>
              </a:rPr>
              <a:t>ripess.org</a:t>
            </a:r>
            <a:endParaRPr lang="en-US" sz="1050" dirty="0"/>
          </a:p>
        </p:txBody>
      </p:sp>
      <p:sp>
        <p:nvSpPr>
          <p:cNvPr id="14" name="Text 12"/>
          <p:cNvSpPr/>
          <p:nvPr/>
        </p:nvSpPr>
        <p:spPr>
          <a:xfrm>
            <a:off x="411480" y="2029968"/>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P2P Foundation (commons-based peer production, global)  </a:t>
            </a:r>
            <a:pPr indent="0" marL="0">
              <a:buNone/>
            </a:pPr>
            <a:r>
              <a:rPr lang="en-US" sz="950" dirty="0">
                <a:solidFill>
                  <a:srgbClr val="4A6741"/>
                </a:solidFill>
                <a:latin typeface="Courier New" pitchFamily="34" charset="0"/>
                <a:ea typeface="Courier New" pitchFamily="34" charset="-122"/>
                <a:cs typeface="Courier New" pitchFamily="34" charset="-120"/>
              </a:rPr>
              <a:t>p2pfoundation.net</a:t>
            </a:r>
            <a:endParaRPr lang="en-US" sz="1050" dirty="0"/>
          </a:p>
        </p:txBody>
      </p:sp>
      <p:sp>
        <p:nvSpPr>
          <p:cNvPr id="15" name="Text 13"/>
          <p:cNvSpPr/>
          <p:nvPr/>
        </p:nvSpPr>
        <p:spPr>
          <a:xfrm>
            <a:off x="411480" y="2275027"/>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LabGov / Co-City Protocol (urban commons governance, 200+ cities)  </a:t>
            </a:r>
            <a:pPr indent="0" marL="0">
              <a:buNone/>
            </a:pPr>
            <a:r>
              <a:rPr lang="en-US" sz="950" dirty="0">
                <a:solidFill>
                  <a:srgbClr val="4A6741"/>
                </a:solidFill>
                <a:latin typeface="Courier New" pitchFamily="34" charset="0"/>
                <a:ea typeface="Courier New" pitchFamily="34" charset="-122"/>
                <a:cs typeface="Courier New" pitchFamily="34" charset="-120"/>
              </a:rPr>
              <a:t>labgov.city</a:t>
            </a:r>
            <a:endParaRPr lang="en-US" sz="1050" dirty="0"/>
          </a:p>
        </p:txBody>
      </p:sp>
      <p:sp>
        <p:nvSpPr>
          <p:cNvPr id="16" name="Text 14"/>
          <p:cNvSpPr/>
          <p:nvPr/>
        </p:nvSpPr>
        <p:spPr>
          <a:xfrm>
            <a:off x="411480" y="2520086"/>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Ostrom Workshop, Indiana University  </a:t>
            </a:r>
            <a:pPr indent="0" marL="0">
              <a:buNone/>
            </a:pPr>
            <a:r>
              <a:rPr lang="en-US" sz="950" dirty="0">
                <a:solidFill>
                  <a:srgbClr val="4A6741"/>
                </a:solidFill>
                <a:latin typeface="Courier New" pitchFamily="34" charset="0"/>
                <a:ea typeface="Courier New" pitchFamily="34" charset="-122"/>
                <a:cs typeface="Courier New" pitchFamily="34" charset="-120"/>
              </a:rPr>
              <a:t>ostromworkshop.indiana.edu</a:t>
            </a:r>
            <a:endParaRPr lang="en-US" sz="1050" dirty="0"/>
          </a:p>
        </p:txBody>
      </p:sp>
      <p:sp>
        <p:nvSpPr>
          <p:cNvPr id="17" name="Text 15"/>
          <p:cNvSpPr/>
          <p:nvPr/>
        </p:nvSpPr>
        <p:spPr>
          <a:xfrm>
            <a:off x="411480" y="2765146"/>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International Institute for Strategic Studies (IISS)  </a:t>
            </a:r>
            <a:pPr indent="0" marL="0">
              <a:buNone/>
            </a:pPr>
            <a:r>
              <a:rPr lang="en-US" sz="950" dirty="0">
                <a:solidFill>
                  <a:srgbClr val="4A6741"/>
                </a:solidFill>
                <a:latin typeface="Courier New" pitchFamily="34" charset="0"/>
                <a:ea typeface="Courier New" pitchFamily="34" charset="-122"/>
                <a:cs typeface="Courier New" pitchFamily="34" charset="-120"/>
              </a:rPr>
              <a:t>iiss.org</a:t>
            </a:r>
            <a:endParaRPr lang="en-US" sz="1050" dirty="0"/>
          </a:p>
        </p:txBody>
      </p:sp>
      <p:sp>
        <p:nvSpPr>
          <p:cNvPr id="18" name="Text 16"/>
          <p:cNvSpPr/>
          <p:nvPr/>
        </p:nvSpPr>
        <p:spPr>
          <a:xfrm>
            <a:off x="411480" y="3010205"/>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Stockholm International Peace Research Institute (SIPRI)  </a:t>
            </a:r>
            <a:pPr indent="0" marL="0">
              <a:buNone/>
            </a:pPr>
            <a:r>
              <a:rPr lang="en-US" sz="950" dirty="0">
                <a:solidFill>
                  <a:srgbClr val="4A6741"/>
                </a:solidFill>
                <a:latin typeface="Courier New" pitchFamily="34" charset="0"/>
                <a:ea typeface="Courier New" pitchFamily="34" charset="-122"/>
                <a:cs typeface="Courier New" pitchFamily="34" charset="-120"/>
              </a:rPr>
              <a:t>sipri.org</a:t>
            </a:r>
            <a:endParaRPr lang="en-US" sz="1050" dirty="0"/>
          </a:p>
        </p:txBody>
      </p:sp>
      <p:sp>
        <p:nvSpPr>
          <p:cNvPr id="19" name="Text 17"/>
          <p:cNvSpPr/>
          <p:nvPr/>
        </p:nvSpPr>
        <p:spPr>
          <a:xfrm>
            <a:off x="411480" y="3255264"/>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Arms Control Association (NPT reengagement, disarmament)  </a:t>
            </a:r>
            <a:pPr indent="0" marL="0">
              <a:buNone/>
            </a:pPr>
            <a:r>
              <a:rPr lang="en-US" sz="950" dirty="0">
                <a:solidFill>
                  <a:srgbClr val="4A6741"/>
                </a:solidFill>
                <a:latin typeface="Courier New" pitchFamily="34" charset="0"/>
                <a:ea typeface="Courier New" pitchFamily="34" charset="-122"/>
                <a:cs typeface="Courier New" pitchFamily="34" charset="-120"/>
              </a:rPr>
              <a:t>armscontrol.org</a:t>
            </a:r>
            <a:endParaRPr lang="en-US" sz="1050" dirty="0"/>
          </a:p>
        </p:txBody>
      </p:sp>
      <p:sp>
        <p:nvSpPr>
          <p:cNvPr id="20" name="Text 18"/>
          <p:cNvSpPr/>
          <p:nvPr/>
        </p:nvSpPr>
        <p:spPr>
          <a:xfrm>
            <a:off x="411480" y="3500323"/>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Jubilee Debt Campaign (multilateral debt relief)  </a:t>
            </a:r>
            <a:pPr indent="0" marL="0">
              <a:buNone/>
            </a:pPr>
            <a:r>
              <a:rPr lang="en-US" sz="950" dirty="0">
                <a:solidFill>
                  <a:srgbClr val="4A6741"/>
                </a:solidFill>
                <a:latin typeface="Courier New" pitchFamily="34" charset="0"/>
                <a:ea typeface="Courier New" pitchFamily="34" charset="-122"/>
                <a:cs typeface="Courier New" pitchFamily="34" charset="-120"/>
              </a:rPr>
              <a:t>jubileedebt.org.uk</a:t>
            </a:r>
            <a:endParaRPr lang="en-US" sz="1050" dirty="0"/>
          </a:p>
        </p:txBody>
      </p:sp>
      <p:sp>
        <p:nvSpPr>
          <p:cNvPr id="21" name="Text 19"/>
          <p:cNvSpPr/>
          <p:nvPr/>
        </p:nvSpPr>
        <p:spPr>
          <a:xfrm>
            <a:off x="411480" y="3745382"/>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Bretton Woods Project (IMF and World Bank reform)  </a:t>
            </a:r>
            <a:pPr indent="0" marL="0">
              <a:buNone/>
            </a:pPr>
            <a:r>
              <a:rPr lang="en-US" sz="950" dirty="0">
                <a:solidFill>
                  <a:srgbClr val="4A6741"/>
                </a:solidFill>
                <a:latin typeface="Courier New" pitchFamily="34" charset="0"/>
                <a:ea typeface="Courier New" pitchFamily="34" charset="-122"/>
                <a:cs typeface="Courier New" pitchFamily="34" charset="-120"/>
              </a:rPr>
              <a:t>brettonwoodsproject.org</a:t>
            </a:r>
            <a:endParaRPr lang="en-US" sz="1050" dirty="0"/>
          </a:p>
        </p:txBody>
      </p:sp>
      <p:sp>
        <p:nvSpPr>
          <p:cNvPr id="22" name="Text 20"/>
          <p:cNvSpPr/>
          <p:nvPr/>
        </p:nvSpPr>
        <p:spPr>
          <a:xfrm>
            <a:off x="411480" y="3990442"/>
            <a:ext cx="8321040" cy="235915"/>
          </a:xfrm>
          <a:prstGeom prst="rect">
            <a:avLst/>
          </a:prstGeom>
          <a:noFill/>
          <a:ln/>
        </p:spPr>
        <p:txBody>
          <a:bodyPr wrap="square" rtlCol="0" anchor="ctr"/>
          <a:lstStyle/>
          <a:p>
            <a:pPr indent="0" marL="0">
              <a:buNone/>
            </a:pPr>
            <a:r>
              <a:rPr lang="en-US" sz="1050" dirty="0">
                <a:solidFill>
                  <a:srgbClr val="1E1A0E"/>
                </a:solidFill>
                <a:latin typeface="Calibri" pitchFamily="34" charset="0"/>
                <a:ea typeface="Calibri" pitchFamily="34" charset="-122"/>
                <a:cs typeface="Calibri" pitchFamily="34" charset="-120"/>
              </a:rPr>
              <a:t>Global Justice Now (structural adjustment reform)  </a:t>
            </a:r>
            <a:pPr indent="0" marL="0">
              <a:buNone/>
            </a:pPr>
            <a:r>
              <a:rPr lang="en-US" sz="950" dirty="0">
                <a:solidFill>
                  <a:srgbClr val="4A6741"/>
                </a:solidFill>
                <a:latin typeface="Courier New" pitchFamily="34" charset="0"/>
                <a:ea typeface="Courier New" pitchFamily="34" charset="-122"/>
                <a:cs typeface="Courier New" pitchFamily="34" charset="-120"/>
              </a:rPr>
              <a:t>globaljustice.org.uk</a:t>
            </a:r>
            <a:endParaRPr lang="en-US" sz="1050" dirty="0"/>
          </a:p>
        </p:txBody>
      </p:sp>
      <p:sp>
        <p:nvSpPr>
          <p:cNvPr id="23" name="Text 21"/>
          <p:cNvSpPr/>
          <p:nvPr/>
        </p:nvSpPr>
        <p:spPr>
          <a:xfrm>
            <a:off x="411480" y="4279392"/>
            <a:ext cx="2194560" cy="256032"/>
          </a:xfrm>
          <a:prstGeom prst="rect">
            <a:avLst/>
          </a:prstGeom>
          <a:noFill/>
          <a:ln/>
        </p:spPr>
        <p:txBody>
          <a:bodyPr wrap="square" rtlCol="0" anchor="ctr"/>
          <a:lstStyle/>
          <a:p>
            <a:pPr indent="0" marL="0">
              <a:buNone/>
            </a:pPr>
            <a:r>
              <a:rPr lang="en-US" sz="1000" b="1" dirty="0">
                <a:solidFill>
                  <a:srgbClr val="1E1A0E"/>
                </a:solidFill>
                <a:latin typeface="Calibri" pitchFamily="34" charset="0"/>
                <a:ea typeface="Calibri" pitchFamily="34" charset="-122"/>
                <a:cs typeface="Calibri" pitchFamily="34" charset="-120"/>
              </a:rPr>
              <a:t>Full bill text &amp; README:</a:t>
            </a:r>
            <a:endParaRPr lang="en-US" sz="1000" dirty="0"/>
          </a:p>
        </p:txBody>
      </p:sp>
      <p:sp>
        <p:nvSpPr>
          <p:cNvPr id="24" name="Text 22"/>
          <p:cNvSpPr/>
          <p:nvPr/>
        </p:nvSpPr>
        <p:spPr>
          <a:xfrm>
            <a:off x="2606040" y="4279392"/>
            <a:ext cx="6126480" cy="256032"/>
          </a:xfrm>
          <a:prstGeom prst="rect">
            <a:avLst/>
          </a:prstGeom>
          <a:noFill/>
          <a:ln/>
        </p:spPr>
        <p:txBody>
          <a:bodyPr wrap="square" rtlCol="0" anchor="ctr"/>
          <a:lstStyle/>
          <a:p>
            <a:pPr indent="0" marL="0">
              <a:buNone/>
            </a:pPr>
            <a:r>
              <a:rPr lang="en-US" sz="1000" dirty="0">
                <a:solidFill>
                  <a:srgbClr val="4A6741"/>
                </a:solidFill>
                <a:latin typeface="Courier New" pitchFamily="34" charset="0"/>
                <a:ea typeface="Courier New" pitchFamily="34" charset="-122"/>
                <a:cs typeface="Courier New" pitchFamily="34" charset="-120"/>
              </a:rPr>
              <a:t>github.com/clg1980/LegislativeSequence</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F0E8"/>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256032"/>
            <a:ext cx="8321040" cy="420624"/>
          </a:xfrm>
          <a:prstGeom prst="roundRect">
            <a:avLst>
              <a:gd name="adj" fmla="val 10870"/>
            </a:avLst>
          </a:prstGeom>
          <a:solidFill>
            <a:srgbClr val="1A3C34"/>
          </a:solidFill>
          <a:ln/>
        </p:spPr>
      </p:sp>
      <p:sp>
        <p:nvSpPr>
          <p:cNvPr id="8" name="Text 6"/>
          <p:cNvSpPr/>
          <p:nvPr/>
        </p:nvSpPr>
        <p:spPr>
          <a:xfrm>
            <a:off x="411480" y="256032"/>
            <a:ext cx="832104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Further Reading</a:t>
            </a:r>
            <a:endParaRPr lang="en-US" sz="1500" dirty="0"/>
          </a:p>
        </p:txBody>
      </p:sp>
      <p:sp>
        <p:nvSpPr>
          <p:cNvPr id="9" name="Text 7"/>
          <p:cNvSpPr/>
          <p:nvPr/>
        </p:nvSpPr>
        <p:spPr>
          <a:xfrm>
            <a:off x="411480" y="804672"/>
            <a:ext cx="8321040" cy="438912"/>
          </a:xfrm>
          <a:prstGeom prst="rect">
            <a:avLst/>
          </a:prstGeom>
          <a:noFill/>
          <a:ln/>
        </p:spPr>
        <p:txBody>
          <a:bodyPr wrap="square" rtlCol="0" anchor="t"/>
          <a:lstStyle/>
          <a:p>
            <a:pPr indent="0" marL="0">
              <a:lnSpc>
                <a:spcPct val="90000"/>
              </a:lnSpc>
              <a:buNone/>
            </a:pPr>
            <a:r>
              <a:rPr lang="en-US" sz="1100" b="1" dirty="0">
                <a:solidFill>
                  <a:srgbClr val="1E1A0E"/>
                </a:solidFill>
                <a:latin typeface="Cambria" pitchFamily="34" charset="0"/>
                <a:ea typeface="Cambria" pitchFamily="34" charset="-122"/>
                <a:cs typeface="Cambria" pitchFamily="34" charset="-120"/>
              </a:rPr>
              <a:t>Governing the Commons</a:t>
            </a:r>
            <a:pPr indent="0" marL="0">
              <a:lnSpc>
                <a:spcPct val="90000"/>
              </a:lnSpc>
              <a:buNone/>
            </a:pPr>
            <a:r>
              <a:rPr lang="en-US" sz="950" dirty="0">
                <a:solidFill>
                  <a:srgbClr val="4A6741"/>
                </a:solidFill>
                <a:latin typeface="Calibri" pitchFamily="34" charset="0"/>
                <a:ea typeface="Calibri" pitchFamily="34" charset="-122"/>
                <a:cs typeface="Calibri" pitchFamily="34" charset="-120"/>
              </a:rPr>
              <a:t>  (1990, Cambridge University Press),  Elinor Ostrom.</a:t>
            </a:r>
            <a:pPr indent="0" marL="0">
              <a:lnSpc>
                <a:spcPct val="90000"/>
              </a:lnSpc>
              <a:buNone/>
            </a:pPr>
            <a:r>
              <a:rPr lang="en-US" sz="950" dirty="0">
                <a:solidFill>
                  <a:srgbClr val="1E1A0E"/>
                </a:solidFill>
                <a:latin typeface="Calibri" pitchFamily="34" charset="0"/>
                <a:ea typeface="Calibri" pitchFamily="34" charset="-122"/>
                <a:cs typeface="Calibri" pitchFamily="34" charset="-120"/>
              </a:rPr>
              <a:t>  The governance design principles codified throughout this Act as the Ostrom Standards of Stewardship.</a:t>
            </a:r>
            <a:endParaRPr lang="en-US" sz="1100" dirty="0"/>
          </a:p>
        </p:txBody>
      </p:sp>
      <p:sp>
        <p:nvSpPr>
          <p:cNvPr id="10" name="Text 8"/>
          <p:cNvSpPr/>
          <p:nvPr/>
        </p:nvSpPr>
        <p:spPr>
          <a:xfrm>
            <a:off x="411480" y="1261872"/>
            <a:ext cx="8321040" cy="438912"/>
          </a:xfrm>
          <a:prstGeom prst="rect">
            <a:avLst/>
          </a:prstGeom>
          <a:noFill/>
          <a:ln/>
        </p:spPr>
        <p:txBody>
          <a:bodyPr wrap="square" rtlCol="0" anchor="t"/>
          <a:lstStyle/>
          <a:p>
            <a:pPr indent="0" marL="0">
              <a:lnSpc>
                <a:spcPct val="90000"/>
              </a:lnSpc>
              <a:buNone/>
            </a:pPr>
            <a:r>
              <a:rPr lang="en-US" sz="1100" b="1" dirty="0">
                <a:solidFill>
                  <a:srgbClr val="1E1A0E"/>
                </a:solidFill>
                <a:latin typeface="Cambria" pitchFamily="34" charset="0"/>
                <a:ea typeface="Cambria" pitchFamily="34" charset="-122"/>
                <a:cs typeface="Cambria" pitchFamily="34" charset="-120"/>
              </a:rPr>
              <a:t>Peer to Peer: The Commons Manifesto</a:t>
            </a:r>
            <a:pPr indent="0" marL="0">
              <a:lnSpc>
                <a:spcPct val="90000"/>
              </a:lnSpc>
              <a:buNone/>
            </a:pPr>
            <a:r>
              <a:rPr lang="en-US" sz="950" dirty="0">
                <a:solidFill>
                  <a:srgbClr val="4A6741"/>
                </a:solidFill>
                <a:latin typeface="Calibri" pitchFamily="34" charset="0"/>
                <a:ea typeface="Calibri" pitchFamily="34" charset="-122"/>
                <a:cs typeface="Calibri" pitchFamily="34" charset="-120"/>
              </a:rPr>
              <a:t>  (2019, University of Westminster Press),  Michel Bauwens, Vasilis Kostakis &amp; Alex Pazaitis.</a:t>
            </a:r>
            <a:pPr indent="0" marL="0">
              <a:lnSpc>
                <a:spcPct val="90000"/>
              </a:lnSpc>
              <a:buNone/>
            </a:pPr>
            <a:r>
              <a:rPr lang="en-US" sz="950" dirty="0">
                <a:solidFill>
                  <a:srgbClr val="1E1A0E"/>
                </a:solidFill>
                <a:latin typeface="Calibri" pitchFamily="34" charset="0"/>
                <a:ea typeface="Calibri" pitchFamily="34" charset="-122"/>
                <a:cs typeface="Calibri" pitchFamily="34" charset="-120"/>
              </a:rPr>
              <a:t>  The P2P Foundation framework for commons-based peer production at planetary scale. Direct context for Finding 16 and the Planetary Commons Federation provisions.</a:t>
            </a:r>
            <a:endParaRPr lang="en-US" sz="1100" dirty="0"/>
          </a:p>
        </p:txBody>
      </p:sp>
      <p:sp>
        <p:nvSpPr>
          <p:cNvPr id="11" name="Text 9"/>
          <p:cNvSpPr/>
          <p:nvPr/>
        </p:nvSpPr>
        <p:spPr>
          <a:xfrm>
            <a:off x="411480" y="1719072"/>
            <a:ext cx="8321040" cy="438912"/>
          </a:xfrm>
          <a:prstGeom prst="rect">
            <a:avLst/>
          </a:prstGeom>
          <a:noFill/>
          <a:ln/>
        </p:spPr>
        <p:txBody>
          <a:bodyPr wrap="square" rtlCol="0" anchor="t"/>
          <a:lstStyle/>
          <a:p>
            <a:pPr indent="0" marL="0">
              <a:lnSpc>
                <a:spcPct val="90000"/>
              </a:lnSpc>
              <a:buNone/>
            </a:pPr>
            <a:r>
              <a:rPr lang="en-US" sz="1100" b="1" dirty="0">
                <a:solidFill>
                  <a:srgbClr val="1E1A0E"/>
                </a:solidFill>
                <a:latin typeface="Cambria" pitchFamily="34" charset="0"/>
                <a:ea typeface="Cambria" pitchFamily="34" charset="-122"/>
                <a:cs typeface="Cambria" pitchFamily="34" charset="-120"/>
              </a:rPr>
              <a:t>Change the World Without Taking Power</a:t>
            </a:r>
            <a:pPr indent="0" marL="0">
              <a:lnSpc>
                <a:spcPct val="90000"/>
              </a:lnSpc>
              <a:buNone/>
            </a:pPr>
            <a:r>
              <a:rPr lang="en-US" sz="950" dirty="0">
                <a:solidFill>
                  <a:srgbClr val="4A6741"/>
                </a:solidFill>
                <a:latin typeface="Calibri" pitchFamily="34" charset="0"/>
                <a:ea typeface="Calibri" pitchFamily="34" charset="-122"/>
                <a:cs typeface="Calibri" pitchFamily="34" charset="-120"/>
              </a:rPr>
              <a:t>  (2002, Pluto Press),  John Holloway.</a:t>
            </a:r>
            <a:pPr indent="0" marL="0">
              <a:lnSpc>
                <a:spcPct val="90000"/>
              </a:lnSpc>
              <a:buNone/>
            </a:pPr>
            <a:r>
              <a:rPr lang="en-US" sz="950" dirty="0">
                <a:solidFill>
                  <a:srgbClr val="1E1A0E"/>
                </a:solidFill>
                <a:latin typeface="Calibri" pitchFamily="34" charset="0"/>
                <a:ea typeface="Calibri" pitchFamily="34" charset="-122"/>
                <a:cs typeface="Calibri" pitchFamily="34" charset="-120"/>
              </a:rPr>
              <a:t>  The prefigurative politics argument underlying the 'no metropole, only nodes' architecture of the Planetary Commons Federation.</a:t>
            </a:r>
            <a:endParaRPr lang="en-US" sz="1100" dirty="0"/>
          </a:p>
        </p:txBody>
      </p:sp>
      <p:sp>
        <p:nvSpPr>
          <p:cNvPr id="12" name="Text 10"/>
          <p:cNvSpPr/>
          <p:nvPr/>
        </p:nvSpPr>
        <p:spPr>
          <a:xfrm>
            <a:off x="411480" y="2176272"/>
            <a:ext cx="8321040" cy="438912"/>
          </a:xfrm>
          <a:prstGeom prst="rect">
            <a:avLst/>
          </a:prstGeom>
          <a:noFill/>
          <a:ln/>
        </p:spPr>
        <p:txBody>
          <a:bodyPr wrap="square" rtlCol="0" anchor="t"/>
          <a:lstStyle/>
          <a:p>
            <a:pPr indent="0" marL="0">
              <a:lnSpc>
                <a:spcPct val="90000"/>
              </a:lnSpc>
              <a:buNone/>
            </a:pPr>
            <a:r>
              <a:rPr lang="en-US" sz="1100" b="1" dirty="0">
                <a:solidFill>
                  <a:srgbClr val="1E1A0E"/>
                </a:solidFill>
                <a:latin typeface="Cambria" pitchFamily="34" charset="0"/>
                <a:ea typeface="Cambria" pitchFamily="34" charset="-122"/>
                <a:cs typeface="Cambria" pitchFamily="34" charset="-120"/>
              </a:rPr>
              <a:t>What is Property?</a:t>
            </a:r>
            <a:pPr indent="0" marL="0">
              <a:lnSpc>
                <a:spcPct val="90000"/>
              </a:lnSpc>
              <a:buNone/>
            </a:pPr>
            <a:r>
              <a:rPr lang="en-US" sz="950" dirty="0">
                <a:solidFill>
                  <a:srgbClr val="4A6741"/>
                </a:solidFill>
                <a:latin typeface="Calibri" pitchFamily="34" charset="0"/>
                <a:ea typeface="Calibri" pitchFamily="34" charset="-122"/>
                <a:cs typeface="Calibri" pitchFamily="34" charset="-120"/>
              </a:rPr>
              <a:t>  (1840),  Pierre-Joseph Proudhon.</a:t>
            </a:r>
            <a:pPr indent="0" marL="0">
              <a:lnSpc>
                <a:spcPct val="90000"/>
              </a:lnSpc>
              <a:buNone/>
            </a:pPr>
            <a:r>
              <a:rPr lang="en-US" sz="950" dirty="0">
                <a:solidFill>
                  <a:srgbClr val="1E1A0E"/>
                </a:solidFill>
                <a:latin typeface="Calibri" pitchFamily="34" charset="0"/>
                <a:ea typeface="Calibri" pitchFamily="34" charset="-122"/>
                <a:cs typeface="Calibri" pitchFamily="34" charset="-120"/>
              </a:rPr>
              <a:t>  The foundational mutualist argument for commons governance over private property and state administration. Historical anchor.</a:t>
            </a:r>
            <a:endParaRPr lang="en-US" sz="1100" dirty="0"/>
          </a:p>
        </p:txBody>
      </p:sp>
      <p:sp>
        <p:nvSpPr>
          <p:cNvPr id="13" name="Text 11"/>
          <p:cNvSpPr/>
          <p:nvPr/>
        </p:nvSpPr>
        <p:spPr>
          <a:xfrm>
            <a:off x="411480" y="2633472"/>
            <a:ext cx="8321040" cy="438912"/>
          </a:xfrm>
          <a:prstGeom prst="rect">
            <a:avLst/>
          </a:prstGeom>
          <a:noFill/>
          <a:ln/>
        </p:spPr>
        <p:txBody>
          <a:bodyPr wrap="square" rtlCol="0" anchor="t"/>
          <a:lstStyle/>
          <a:p>
            <a:pPr indent="0" marL="0">
              <a:lnSpc>
                <a:spcPct val="90000"/>
              </a:lnSpc>
              <a:buNone/>
            </a:pPr>
            <a:r>
              <a:rPr lang="en-US" sz="1100" b="1" dirty="0">
                <a:solidFill>
                  <a:srgbClr val="1E1A0E"/>
                </a:solidFill>
                <a:latin typeface="Cambria" pitchFamily="34" charset="0"/>
                <a:ea typeface="Cambria" pitchFamily="34" charset="-122"/>
                <a:cs typeface="Cambria" pitchFamily="34" charset="-120"/>
              </a:rPr>
              <a:t>Base Nation</a:t>
            </a:r>
            <a:pPr indent="0" marL="0">
              <a:lnSpc>
                <a:spcPct val="90000"/>
              </a:lnSpc>
              <a:buNone/>
            </a:pPr>
            <a:r>
              <a:rPr lang="en-US" sz="950" dirty="0">
                <a:solidFill>
                  <a:srgbClr val="4A6741"/>
                </a:solidFill>
                <a:latin typeface="Calibri" pitchFamily="34" charset="0"/>
                <a:ea typeface="Calibri" pitchFamily="34" charset="-122"/>
                <a:cs typeface="Calibri" pitchFamily="34" charset="-120"/>
              </a:rPr>
              <a:t>  (2015, Metropolitan Books),  David Vine.</a:t>
            </a:r>
            <a:pPr indent="0" marL="0">
              <a:lnSpc>
                <a:spcPct val="90000"/>
              </a:lnSpc>
              <a:buNone/>
            </a:pPr>
            <a:r>
              <a:rPr lang="en-US" sz="950" dirty="0">
                <a:solidFill>
                  <a:srgbClr val="1E1A0E"/>
                </a:solidFill>
                <a:latin typeface="Calibri" pitchFamily="34" charset="0"/>
                <a:ea typeface="Calibri" pitchFamily="34" charset="-122"/>
                <a:cs typeface="Calibri" pitchFamily="34" charset="-120"/>
              </a:rPr>
              <a:t>  The political economy of overseas military basing. Essential context for Findings 5 through 8 and the NATO Resilience Framework.</a:t>
            </a:r>
            <a:endParaRPr lang="en-US" sz="1100" dirty="0"/>
          </a:p>
        </p:txBody>
      </p:sp>
      <p:sp>
        <p:nvSpPr>
          <p:cNvPr id="14" name="Text 12"/>
          <p:cNvSpPr/>
          <p:nvPr/>
        </p:nvSpPr>
        <p:spPr>
          <a:xfrm>
            <a:off x="411480" y="3090672"/>
            <a:ext cx="8321040" cy="438912"/>
          </a:xfrm>
          <a:prstGeom prst="rect">
            <a:avLst/>
          </a:prstGeom>
          <a:noFill/>
          <a:ln/>
        </p:spPr>
        <p:txBody>
          <a:bodyPr wrap="square" rtlCol="0" anchor="t"/>
          <a:lstStyle/>
          <a:p>
            <a:pPr indent="0" marL="0">
              <a:lnSpc>
                <a:spcPct val="90000"/>
              </a:lnSpc>
              <a:buNone/>
            </a:pPr>
            <a:r>
              <a:rPr lang="en-US" sz="1100" b="1" dirty="0">
                <a:solidFill>
                  <a:srgbClr val="1E1A0E"/>
                </a:solidFill>
                <a:latin typeface="Cambria" pitchFamily="34" charset="0"/>
                <a:ea typeface="Cambria" pitchFamily="34" charset="-122"/>
                <a:cs typeface="Cambria" pitchFamily="34" charset="-120"/>
              </a:rPr>
              <a:t>The Doomsday Machine</a:t>
            </a:r>
            <a:pPr indent="0" marL="0">
              <a:lnSpc>
                <a:spcPct val="90000"/>
              </a:lnSpc>
              <a:buNone/>
            </a:pPr>
            <a:r>
              <a:rPr lang="en-US" sz="950" dirty="0">
                <a:solidFill>
                  <a:srgbClr val="4A6741"/>
                </a:solidFill>
                <a:latin typeface="Calibri" pitchFamily="34" charset="0"/>
                <a:ea typeface="Calibri" pitchFamily="34" charset="-122"/>
                <a:cs typeface="Calibri" pitchFamily="34" charset="-120"/>
              </a:rPr>
              <a:t>  (2017, Bloomsbury),  Daniel Ellsberg.</a:t>
            </a:r>
            <a:pPr indent="0" marL="0">
              <a:lnSpc>
                <a:spcPct val="90000"/>
              </a:lnSpc>
              <a:buNone/>
            </a:pPr>
            <a:r>
              <a:rPr lang="en-US" sz="950" dirty="0">
                <a:solidFill>
                  <a:srgbClr val="1E1A0E"/>
                </a:solidFill>
                <a:latin typeface="Calibri" pitchFamily="34" charset="0"/>
                <a:ea typeface="Calibri" pitchFamily="34" charset="-122"/>
                <a:cs typeface="Calibri" pitchFamily="34" charset="-120"/>
              </a:rPr>
              <a:t>  The insider account of nuclear posture decision-making. Essential context for Finding 10 and the Minimum Credible Deterrence provisions.</a:t>
            </a:r>
            <a:endParaRPr lang="en-US" sz="1100" dirty="0"/>
          </a:p>
        </p:txBody>
      </p:sp>
      <p:sp>
        <p:nvSpPr>
          <p:cNvPr id="15" name="Text 13"/>
          <p:cNvSpPr/>
          <p:nvPr/>
        </p:nvSpPr>
        <p:spPr>
          <a:xfrm>
            <a:off x="411480" y="3547872"/>
            <a:ext cx="8321040" cy="438912"/>
          </a:xfrm>
          <a:prstGeom prst="rect">
            <a:avLst/>
          </a:prstGeom>
          <a:noFill/>
          <a:ln/>
        </p:spPr>
        <p:txBody>
          <a:bodyPr wrap="square" rtlCol="0" anchor="t"/>
          <a:lstStyle/>
          <a:p>
            <a:pPr indent="0" marL="0">
              <a:lnSpc>
                <a:spcPct val="90000"/>
              </a:lnSpc>
              <a:buNone/>
            </a:pPr>
            <a:r>
              <a:rPr lang="en-US" sz="1100" b="1" dirty="0">
                <a:solidFill>
                  <a:srgbClr val="1E1A0E"/>
                </a:solidFill>
                <a:latin typeface="Cambria" pitchFamily="34" charset="0"/>
                <a:ea typeface="Cambria" pitchFamily="34" charset="-122"/>
                <a:cs typeface="Cambria" pitchFamily="34" charset="-120"/>
              </a:rPr>
              <a:t>The Shock Doctrine</a:t>
            </a:r>
            <a:pPr indent="0" marL="0">
              <a:lnSpc>
                <a:spcPct val="90000"/>
              </a:lnSpc>
              <a:buNone/>
            </a:pPr>
            <a:r>
              <a:rPr lang="en-US" sz="950" dirty="0">
                <a:solidFill>
                  <a:srgbClr val="4A6741"/>
                </a:solidFill>
                <a:latin typeface="Calibri" pitchFamily="34" charset="0"/>
                <a:ea typeface="Calibri" pitchFamily="34" charset="-122"/>
                <a:cs typeface="Calibri" pitchFamily="34" charset="-120"/>
              </a:rPr>
              <a:t>  (2007, Metropolitan Books),  Naomi Klein.</a:t>
            </a:r>
            <a:pPr indent="0" marL="0">
              <a:lnSpc>
                <a:spcPct val="90000"/>
              </a:lnSpc>
              <a:buNone/>
            </a:pPr>
            <a:r>
              <a:rPr lang="en-US" sz="950" dirty="0">
                <a:solidFill>
                  <a:srgbClr val="1E1A0E"/>
                </a:solidFill>
                <a:latin typeface="Calibri" pitchFamily="34" charset="0"/>
                <a:ea typeface="Calibri" pitchFamily="34" charset="-122"/>
                <a:cs typeface="Calibri" pitchFamily="34" charset="-120"/>
              </a:rPr>
              <a:t>  The history of IMF and World Bank structural adjustment conditions. Essential context for Findings 11 and 12 and Title III.</a:t>
            </a:r>
            <a:endParaRPr lang="en-US" sz="1100" dirty="0"/>
          </a:p>
        </p:txBody>
      </p:sp>
      <p:sp>
        <p:nvSpPr>
          <p:cNvPr id="16" name="Text 14"/>
          <p:cNvSpPr/>
          <p:nvPr/>
        </p:nvSpPr>
        <p:spPr>
          <a:xfrm>
            <a:off x="411480" y="4005072"/>
            <a:ext cx="8321040" cy="438912"/>
          </a:xfrm>
          <a:prstGeom prst="rect">
            <a:avLst/>
          </a:prstGeom>
          <a:noFill/>
          <a:ln/>
        </p:spPr>
        <p:txBody>
          <a:bodyPr wrap="square" rtlCol="0" anchor="t"/>
          <a:lstStyle/>
          <a:p>
            <a:pPr indent="0" marL="0">
              <a:lnSpc>
                <a:spcPct val="90000"/>
              </a:lnSpc>
              <a:buNone/>
            </a:pPr>
            <a:r>
              <a:rPr lang="en-US" sz="1100" b="1" dirty="0">
                <a:solidFill>
                  <a:srgbClr val="1E1A0E"/>
                </a:solidFill>
                <a:latin typeface="Cambria" pitchFamily="34" charset="0"/>
                <a:ea typeface="Cambria" pitchFamily="34" charset="-122"/>
                <a:cs typeface="Cambria" pitchFamily="34" charset="-120"/>
              </a:rPr>
              <a:t>The Hundred Years War on Palestine</a:t>
            </a:r>
            <a:pPr indent="0" marL="0">
              <a:lnSpc>
                <a:spcPct val="90000"/>
              </a:lnSpc>
              <a:buNone/>
            </a:pPr>
            <a:r>
              <a:rPr lang="en-US" sz="950" dirty="0">
                <a:solidFill>
                  <a:srgbClr val="4A6741"/>
                </a:solidFill>
                <a:latin typeface="Calibri" pitchFamily="34" charset="0"/>
                <a:ea typeface="Calibri" pitchFamily="34" charset="-122"/>
                <a:cs typeface="Calibri" pitchFamily="34" charset="-120"/>
              </a:rPr>
              <a:t>  (2020, Metropolitan Books),  Rashid Khalidi.</a:t>
            </a:r>
            <a:pPr indent="0" marL="0">
              <a:lnSpc>
                <a:spcPct val="90000"/>
              </a:lnSpc>
              <a:buNone/>
            </a:pPr>
            <a:r>
              <a:rPr lang="en-US" sz="950" dirty="0">
                <a:solidFill>
                  <a:srgbClr val="1E1A0E"/>
                </a:solidFill>
                <a:latin typeface="Calibri" pitchFamily="34" charset="0"/>
                <a:ea typeface="Calibri" pitchFamily="34" charset="-122"/>
                <a:cs typeface="Calibri" pitchFamily="34" charset="-120"/>
              </a:rPr>
              <a:t>  The account of American military posture in the Middle East. Context for Finding 7A and the Bilateral Alliance Review criteria.</a:t>
            </a:r>
            <a:endParaRPr lang="en-US" sz="1100" dirty="0"/>
          </a:p>
        </p:txBody>
      </p:sp>
      <p:sp>
        <p:nvSpPr>
          <p:cNvPr id="17" name="Text 15"/>
          <p:cNvSpPr/>
          <p:nvPr/>
        </p:nvSpPr>
        <p:spPr>
          <a:xfrm>
            <a:off x="411480" y="4462272"/>
            <a:ext cx="8321040" cy="438912"/>
          </a:xfrm>
          <a:prstGeom prst="rect">
            <a:avLst/>
          </a:prstGeom>
          <a:noFill/>
          <a:ln/>
        </p:spPr>
        <p:txBody>
          <a:bodyPr wrap="square" rtlCol="0" anchor="t"/>
          <a:lstStyle/>
          <a:p>
            <a:pPr indent="0" marL="0">
              <a:lnSpc>
                <a:spcPct val="90000"/>
              </a:lnSpc>
              <a:buNone/>
            </a:pPr>
            <a:r>
              <a:rPr lang="en-US" sz="1100" b="1" dirty="0">
                <a:solidFill>
                  <a:srgbClr val="1E1A0E"/>
                </a:solidFill>
                <a:latin typeface="Cambria" pitchFamily="34" charset="0"/>
                <a:ea typeface="Cambria" pitchFamily="34" charset="-122"/>
                <a:cs typeface="Cambria" pitchFamily="34" charset="-120"/>
              </a:rPr>
              <a:t>The Divide</a:t>
            </a:r>
            <a:pPr indent="0" marL="0">
              <a:lnSpc>
                <a:spcPct val="90000"/>
              </a:lnSpc>
              <a:buNone/>
            </a:pPr>
            <a:r>
              <a:rPr lang="en-US" sz="950" dirty="0">
                <a:solidFill>
                  <a:srgbClr val="4A6741"/>
                </a:solidFill>
                <a:latin typeface="Calibri" pitchFamily="34" charset="0"/>
                <a:ea typeface="Calibri" pitchFamily="34" charset="-122"/>
                <a:cs typeface="Calibri" pitchFamily="34" charset="-120"/>
              </a:rPr>
              <a:t>  (2017, Heinemann),  Jason Hickel.</a:t>
            </a:r>
            <a:pPr indent="0" marL="0">
              <a:lnSpc>
                <a:spcPct val="90000"/>
              </a:lnSpc>
              <a:buNone/>
            </a:pPr>
            <a:r>
              <a:rPr lang="en-US" sz="950" dirty="0">
                <a:solidFill>
                  <a:srgbClr val="1E1A0E"/>
                </a:solidFill>
                <a:latin typeface="Calibri" pitchFamily="34" charset="0"/>
                <a:ea typeface="Calibri" pitchFamily="34" charset="-122"/>
                <a:cs typeface="Calibri" pitchFamily="34" charset="-120"/>
              </a:rPr>
              <a:t>  The political economy of global extraction and development. Context for Finding 12 and the debt relief provisions of Section 307.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ISRN — International Sovereignty, Resilience and Nonproliferation Act</dc:title>
  <dc:subject>PptxGenJS Presentation</dc:subject>
  <dc:creator>Curtis L. Gates</dc:creator>
  <cp:lastModifiedBy>Curtis L. Gates</cp:lastModifiedBy>
  <cp:revision>1</cp:revision>
  <dcterms:created xsi:type="dcterms:W3CDTF">2026-07-02T17:46:33Z</dcterms:created>
  <dcterms:modified xsi:type="dcterms:W3CDTF">2026-07-02T17:46:33Z</dcterms:modified>
</cp:coreProperties>
</file>