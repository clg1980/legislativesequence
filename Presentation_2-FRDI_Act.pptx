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is Vol. I of a four-bill series. Each bill creates the conditions the next requires. The full text is at the GitHub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constitutional anchors of the FRDI Act. Each Finding corresponds to a specific operative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 establishes the constitutional grant of authority. 'For limited times' is key: copyright at life plus 70 years is not limited in any constitutionally meaningful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operative mechanism for Finding 1 is distributed across the Act's foundational titles. Title I is the legal architecture, Title V is the IP response, Title VII is the technical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 is the Tenth Amendment anchor. The federal government builds the road, then gets off it. Key for any conservative or libertarian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decoupling provision is the most structurally significant in the Act for a Tenth Amendment audience. Once certification transfers, no future administration can simply revoke it through executive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3 is the Fourteenth Amendment anchor for the Guaranteed Provision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Guaranteed Provision Standard is the material expression of the 14th Amendment finding. Key distinction for a skeptical audience: these are cooperative membership rights, not welfare benefits. The member governs the institution that provides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4 is the constitutional critique of the IP regime. Originalist argument: 'limited times' and 'to promote progress' are the constitutional standards — life plus 70 years fails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mechanisms address the IP failure. Bayh-Dole reversal for new public research, the abandoned works doctrine for commercially dormant works, and the voluntary dedication pathway (§ 505) as the primary route — the abandoned works mechanism is explicitly secondary and narrowly tailored.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national security argument for the FRDI Act. For a military or defense-oriented audience, this is the entry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Carmichael's team: this connects directly to the FCSAG Act's defense posture provisions. The same systems-level assessment that made him skeptical of starting a war with Iran applies to the entire American national security posture.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commons credit system is the long-run petrodollar hedge. It doesn't require replacing the dollar. It builds a parallel system that reduces dependency gradually as the commons economy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Military logistics parallel: a distributed supply network survives losing half its nodes. A centralized one fails at the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FMOS and ARC protocol are the technical answer to single-point-of-failure vulnerability. The redundancy mandate ensures that disrupting one node doesn't cascade.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7 is the data sovereignty argument for Title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mechanisms: sovereignty (individual rights), governance (collective self-determination), and prohibition (no extraction). Together they address the data concentration finding structurally rather than through regulation of existing monopolies.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8 is the distributed resilience thesis. A federated commons network cannot be taken down at a single point because it has no single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IX is the bridge between the commons economy and national security. The Civilian-Use Board gives the military a formal seat at the commons governance table without giving it administrative authority over civilian institutions.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9 connects FRDI to the broader legislative sequence. The domestic resilience infrastructure must exist before the defense posture reforms of FCSAG and the alliance governance provisions of ISRN can be credibly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1005 is the bridge between the domestic commons transition and the ISRN's international framework. It creates the legal and technical infrastructure for international commons federation without requiring ISRN passage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United States does not have a food scarcity problem, a housing scarcity problem, or a land scarcity problem. It has an ownership and incentive structure problem. Each finding maps to a specific operative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10 is the food commons argument. The cooperative food system doesn't compete with farmers; it provides them a stable, non-speculative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nutrition provision operationalizes the food distribution argument. Cooperative food governance, not commodity markets, determines how food reaches people within the commons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local point: CLT homeowners pay property tax only on the home value, not the land, a structural tax reduction for people on fixed incomes. This directly answers the concern raised at Carmichael's meet and greet.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interlocking mechanisms: the provision right (§ 203), the legal form (§ 301), and the permanence guarantee (§ 307). The permanence provision is what distinguishes the CLT model from affordable housing programs that can be converted to market-rate after a compliance period expires.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rural Kansas audience: this includes agricultural land that could anchor cooperative farming operations, keeping productive land in production rather than leaving it fallow or leased to corporate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parallel transfer mechanisms: civilian surplus land (§ 302) and military surplus land (§ 905). The military land provision is particularly significant given the scale of underutilized military real estate nationally.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commons approach is structurally different from regulation. It doesn't try to manage speculation in necessary goods. It removes those goods from the speculative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of First Refusal (§ 303) is the growth mechanism: the commons expands over time as properties become available. The Commons Permanence Assets provision (§ 307) is the permanence mechanism: what enters the commons stays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institution this Act proposes to scale already exists and already functions. The answer to the charge of utopianism is empirical. The mechanism slides in this section show how the Act connects to institutions already operating.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14 through 14D. Note 14D: the 1,432 CDFIs are the distribution network for Bootstrap Grants. This is not a new financial infrastructure — it routes through Treasury-certified institutions already operating in underserved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Proto-QFN recognition is immediate upon enactment. Existing institutions don't have to wait for full certification to access the network. The CDFI integration means the financial distribution infrastructure is already in place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eight Standards listed using the Act's own terminology from Section 4(16). Standard 2 Local Congruence is the 'no panaceas' principle operationalized: rules must match local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Certification is peer-governed, not federally administered. The Ostrom Workshop advisory relationship gives the certification system ongoing connection to the empirical research tradition that generated the eight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16: the publicly-funded-research-to-commons pathway already exists as federal practice. The FRDI Act codifies and extends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Bayh-Dole reversal is the single most fiscally significant provision in Title V. Decades of federally funded pharmaceutical, agricultural, energy, and defense-adjacent research would enter the commons under this provision for new research. Past research is addressed through the voluntary and abandoned works pathways.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IP Commons is built on 20+ years of Creative Commons infrastructure and extends an open access policy commitment the federal government has already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Voluntary dedication (§ 505) + irrevocable copyleft (§ 507) + peer governance (§ 509) is the same architecture that made Creative Commons and open-source software successful, now given federal legal 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scales of proof: enterprise federation (Mondragon), municipal governance (Bologna), federal coordination (Farm Bill Working Group). The infrastructure already exists at every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Zones are the domestic Bologna model. The OFS is the formalized Farm Bill Working Group. Neither requires new institutional invention — both build on existing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19 is the summary statement for Section IV. Pause here. Let the last line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1006 is the succession crisis answer. Section 211 is the existing institutions on-ramp. Together they address Finding 19's core claim: the Act doesn't create new institutions, it connects and capitalizes the ones that already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philosophical core of the Act stated in operative terms. Commons membership is not welfare. It is stewardship. Democratic governance extended into economic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bill text uses 'citizenship' here; in presentation language we use 'stewardship' as more precise for a non-electoral audience. The substantive point is the same: provision rights and governance rights are inseparable.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inseparability of provision rights and governance rights is architectural, not aspirational. It is built into the definition of Federated Commons Membership itself: you cannot have one without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this is a governance program. The material improvement is a consequence of restoring genuine self-governance, not the goal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HITL Layer and the Accountability Coordination DAO together operationalize the self-governance restoration finding. Automated systems serve the community. Human deliberation retains final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democratic deepening argument. The extension of democratic governance into economic life fulfills a constitutional promise that has never been fully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Collective-Choice Arrangements (Standard 3) is the operative expression of democratic deepening. The Membership Record (§ 209) makes participation visible, portable, and permanent.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is not imposed on the commons as a constraint. It is an emergent property of how commons institutions are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institution governed by its members, with auditable protocols on a public ledger, is inherently more transparent than a private corporation. Architectural, not regulatory.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National Resilience Ledger is the transparency mechanism for land and membership. Commons Analytics is the transparency mechanism for network health. Both are public, readable, and governed by the network rather than a federal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24 provides the constitutional and common law grounding for the abandoned works mechanism. Key: voluntary dedication is primary. The abandoned works doctrine is a fallback for works whose rights-holders have demonstrably walked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fourteen-year threshold is grounded in both the common law abandonment doctrine and the original Statute of Anne (1710) which set fourteen years as the initial copyright term. The dual-pathway structure ensures voluntary dedication remains the norm while the abandoned works mechanism addresses the long tail of commercially dormant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organizations directly named in this Act or primary institutional homes for the program's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1B"/>
        </a:solidFill>
      </p:bgPr>
    </p:bg>
    <p:spTree>
      <p:nvGrpSpPr>
        <p:cNvPr id="1" name=""/>
        <p:cNvGrpSpPr/>
        <p:nvPr/>
      </p:nvGrpSpPr>
      <p:grpSpPr>
        <a:xfrm>
          <a:off x="0" y="0"/>
          <a:ext cx="0" cy="0"/>
          <a:chOff x="0" y="0"/>
          <a:chExt cx="0" cy="0"/>
        </a:xfrm>
      </p:grpSpPr>
      <p:sp>
        <p:nvSpPr>
          <p:cNvPr id="2" name="Text 0"/>
          <p:cNvSpPr/>
          <p:nvPr/>
        </p:nvSpPr>
        <p:spPr>
          <a:xfrm>
            <a:off x="457200" y="548640"/>
            <a:ext cx="8229600" cy="640080"/>
          </a:xfrm>
          <a:prstGeom prst="rect">
            <a:avLst/>
          </a:prstGeom>
          <a:noFill/>
          <a:ln/>
        </p:spPr>
        <p:txBody>
          <a:bodyPr wrap="square" rtlCol="0" anchor="ctr"/>
          <a:lstStyle/>
          <a:p>
            <a:pPr algn="ctr" indent="0" marL="0">
              <a:buNone/>
            </a:pPr>
            <a:r>
              <a:rPr lang="en-US" sz="1400" b="1" spc="600" kern="0" dirty="0">
                <a:solidFill>
                  <a:srgbClr val="97BC62"/>
                </a:solidFill>
                <a:latin typeface="Calibri" pitchFamily="34" charset="0"/>
                <a:ea typeface="Calibri" pitchFamily="34" charset="-122"/>
                <a:cs typeface="Calibri" pitchFamily="34" charset="-120"/>
              </a:rPr>
              <a:t>FRDI Act</a:t>
            </a:r>
            <a:endParaRPr lang="en-US" sz="1400" dirty="0"/>
          </a:p>
        </p:txBody>
      </p:sp>
      <p:sp>
        <p:nvSpPr>
          <p:cNvPr id="3" name="Text 1"/>
          <p:cNvSpPr/>
          <p:nvPr/>
        </p:nvSpPr>
        <p:spPr>
          <a:xfrm>
            <a:off x="457200" y="1188720"/>
            <a:ext cx="8229600" cy="137160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Federal Resilience and</a:t>
            </a:r>
            <a:endParaRPr lang="en-US" sz="3800" dirty="0"/>
          </a:p>
          <a:p>
            <a:pPr algn="ctr" indent="0" marL="0">
              <a:buNone/>
            </a:pPr>
            <a:r>
              <a:rPr lang="en-US" sz="3800" b="1" dirty="0">
                <a:solidFill>
                  <a:srgbClr val="FFFFFF"/>
                </a:solidFill>
                <a:latin typeface="Cambria" pitchFamily="34" charset="0"/>
                <a:ea typeface="Cambria" pitchFamily="34" charset="-122"/>
                <a:cs typeface="Cambria" pitchFamily="34" charset="-120"/>
              </a:rPr>
              <a:t>Decentralization Initiatives Act</a:t>
            </a:r>
            <a:endParaRPr lang="en-US" sz="3800" dirty="0"/>
          </a:p>
        </p:txBody>
      </p:sp>
      <p:sp>
        <p:nvSpPr>
          <p:cNvPr id="4" name="Shape 2"/>
          <p:cNvSpPr/>
          <p:nvPr/>
        </p:nvSpPr>
        <p:spPr>
          <a:xfrm>
            <a:off x="2286000" y="2743200"/>
            <a:ext cx="4572000" cy="0"/>
          </a:xfrm>
          <a:prstGeom prst="line">
            <a:avLst/>
          </a:prstGeom>
          <a:noFill/>
          <a:ln w="25400">
            <a:solidFill>
              <a:srgbClr val="97BC62"/>
            </a:solidFill>
            <a:prstDash val="solid"/>
          </a:ln>
        </p:spPr>
      </p:sp>
      <p:sp>
        <p:nvSpPr>
          <p:cNvPr id="5" name="Text 3"/>
          <p:cNvSpPr/>
          <p:nvPr/>
        </p:nvSpPr>
        <p:spPr>
          <a:xfrm>
            <a:off x="457200" y="2926080"/>
            <a:ext cx="8229600" cy="457200"/>
          </a:xfrm>
          <a:prstGeom prst="rect">
            <a:avLst/>
          </a:prstGeom>
          <a:noFill/>
          <a:ln/>
        </p:spPr>
        <p:txBody>
          <a:bodyPr wrap="square" rtlCol="0" anchor="ctr"/>
          <a:lstStyle/>
          <a:p>
            <a:pPr algn="ctr" indent="0" marL="0">
              <a:buNone/>
            </a:pPr>
            <a:r>
              <a:rPr lang="en-US" sz="1600" i="1" dirty="0">
                <a:solidFill>
                  <a:srgbClr val="97BC62"/>
                </a:solidFill>
                <a:latin typeface="Calibri" pitchFamily="34" charset="0"/>
                <a:ea typeface="Calibri" pitchFamily="34" charset="-122"/>
                <a:cs typeface="Calibri" pitchFamily="34" charset="-120"/>
              </a:rPr>
              <a:t>A Polycentric Commons Legislative Program</a:t>
            </a:r>
            <a:endParaRPr lang="en-US" sz="1600" dirty="0"/>
          </a:p>
        </p:txBody>
      </p:sp>
      <p:sp>
        <p:nvSpPr>
          <p:cNvPr id="6" name="Text 4"/>
          <p:cNvSpPr/>
          <p:nvPr/>
        </p:nvSpPr>
        <p:spPr>
          <a:xfrm>
            <a:off x="914400" y="3566160"/>
            <a:ext cx="7315200" cy="731520"/>
          </a:xfrm>
          <a:prstGeom prst="rect">
            <a:avLst/>
          </a:prstGeom>
          <a:noFill/>
          <a:ln/>
        </p:spPr>
        <p:txBody>
          <a:bodyPr wrap="square" rtlCol="0" anchor="ctr"/>
          <a:lstStyle/>
          <a:p>
            <a:pPr algn="ctr" indent="0" marL="0">
              <a:buNone/>
            </a:pPr>
            <a:r>
              <a:rPr lang="en-US" sz="1300" dirty="0">
                <a:solidFill>
                  <a:srgbClr val="F5F5F5"/>
                </a:solidFill>
                <a:latin typeface="Calibri" pitchFamily="34" charset="0"/>
                <a:ea typeface="Calibri" pitchFamily="34" charset="-122"/>
                <a:cs typeface="Calibri" pitchFamily="34" charset="-120"/>
              </a:rPr>
              <a:t>Built on the Governance Design Principles of Elinor Ostrom</a:t>
            </a:r>
            <a:endParaRPr lang="en-US" sz="1300" dirty="0"/>
          </a:p>
          <a:p>
            <a:pPr algn="ctr" indent="0" marL="0">
              <a:buNone/>
            </a:pPr>
            <a:r>
              <a:rPr lang="en-US" sz="1300" dirty="0">
                <a:solidFill>
                  <a:srgbClr val="F5F5F5"/>
                </a:solidFill>
                <a:latin typeface="Calibri" pitchFamily="34" charset="0"/>
                <a:ea typeface="Calibri" pitchFamily="34" charset="-122"/>
                <a:cs typeface="Calibri" pitchFamily="34" charset="-120"/>
              </a:rPr>
              <a:t>Nobel Laureate in Economics, 2009</a:t>
            </a:r>
            <a:endParaRPr lang="en-US" sz="1300" dirty="0"/>
          </a:p>
        </p:txBody>
      </p:sp>
      <p:sp>
        <p:nvSpPr>
          <p:cNvPr id="7" name="Text 5"/>
          <p:cNvSpPr/>
          <p:nvPr/>
        </p:nvSpPr>
        <p:spPr>
          <a:xfrm>
            <a:off x="457200" y="4572000"/>
            <a:ext cx="8229600" cy="365760"/>
          </a:xfrm>
          <a:prstGeom prst="rect">
            <a:avLst/>
          </a:prstGeom>
          <a:noFill/>
          <a:ln/>
        </p:spPr>
        <p:txBody>
          <a:bodyPr wrap="square" rtlCol="0" anchor="ctr"/>
          <a:lstStyle/>
          <a:p>
            <a:pPr algn="ctr" indent="0" marL="0">
              <a:buNone/>
            </a:pPr>
            <a:r>
              <a:rPr lang="en-US" sz="1100" dirty="0">
                <a:solidFill>
                  <a:srgbClr val="6B9B6C"/>
                </a:solidFill>
                <a:latin typeface="Courier New" pitchFamily="34" charset="0"/>
                <a:ea typeface="Courier New" pitchFamily="34" charset="-122"/>
                <a:cs typeface="Courier New" pitchFamily="34" charset="-120"/>
              </a:rPr>
              <a:t>github.com/clg1980/LegislativeSequence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Constitutional</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Basis</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5F5F5"/>
                </a:solidFill>
                <a:latin typeface="Calibri" pitchFamily="34" charset="0"/>
                <a:ea typeface="Calibri" pitchFamily="34" charset="-122"/>
                <a:cs typeface="Calibri" pitchFamily="34" charset="-120"/>
              </a:rPr>
              <a:t>Findings 1–4: The legal foundation of the Act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The Constitutional Grant of Authority</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Congress holds power under Article I, Section 8 to promote the general welfare, regulate interstate commerce, and secure for limited times to authors and inventors the exclusive right to their writings and discoveries — for the purpose of promoting the progress of science and the useful arts.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Act exercises that authority directly across its eleven titles. The IP commons, cooperative economy, and resilience infrastructure established here are expressions of Congress's affirmative constitutional responsibility to advance the public good.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1 → Titles I, V, VII</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Title I establishes Qualified Federated Networks as the legal form through which the cooperative economy is organized and capitalized, anchored in Congress's commerce and general welfare powers.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Title V establishes the Intellectual Property Commons, reversing the Bayh-Dole Act for new federally funded research, anchored in the constitutional mandate to promote the progress of science for limited times.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Title VII establishes the Federated Mesh Open Standard as public technical infrastructure, exercising Congress's authority to build the connective tissue of interstate commerce.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 § 101 · Title V § 501–502 · Title VII § 701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The Tenth Amendment: Subsidiarity as Constitutional Principle</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Tenth Amendment reserves to the states and to the people the powers not delegated to the federal government. Governance is most legitimate and most effective when exercised at the scale closest to the people it serves.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Act does not expand federal administrative reach. It uses federal authority to build the infrastructure that allows communities to govern themselves — and then transfers governance authority to those communities permanently.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2 → Title I § 104, Title VIII</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104 of Title I permanently decouples the certification authority of Qualified Federated Networks from the Executive Branch. No executive order, agency rule, or administrative action can reclaim that authority once transferred. Certification passes to the networks themselves, governed peer-to-peer under the Ostrom Standards.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Title VIII establishes the Self-Sovereign Governance Architecture: an automated protocol layer, an adversarial peer audit layer, and a Human-in-the-Loop Layer — all operating without federal administrative direction. The federal government's residual role is limited to maintaining the legal framework, not administering the network.</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 § 104 · Title VIII § 801–804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3</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The Fourteenth Amendment: Material Conditions and Equal Protection</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Fourteenth Amendment guarantees equal protection and prohibits the deprivation of life, liberty, or property without due process. This establishes an affirmative constitutional obligation: the material conditions necessary for a dignified human life cannot be systematically withheld from any class of persons.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Guaranteed Provision Standard established by this Act is the legislative expression of that obligation.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3 → Title II § 202–207</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Title II establishes Federated Commons Membership and its core guarantee: the Guaranteed Provision Standard. Every Commons Member is entitled, regardless of location, labor contribution, or credit balance, to:</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Adequate housing (§ 203)</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Adequate nutrition (§ 204)</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Accessible healthcare (§ 205)</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Connectivity and tools for productive work (§ 206)</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Access to educational resources and the IP Commons (§ 207)</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These are membership rights in cooperative institutions, not government transfers. The provision rights and the governance rights in those institutions are inseparable.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II § 201–207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4</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The IP Regime Has Failed Its Constitutional Mandate</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Copyright terms extended to life plus seventy years. Patents routinely shelved without productive deployment. Neither condition satisfies the constitutional mandate to promote the progress of science and the useful arts for limited times.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current IP regime operates primarily to concentrate the benefits of creative and innovative work in corporate entities — at the expense of individual creators and the general public.</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4 → Title V § 502, 503, 506</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502 establishes the Intellectual Property Commons: a federated repository of creative works, technical innovations, and traditional knowledge, held in common with full attribution permanently registered to creators.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503 reverses the Bayh-Dole Act for new research: inventions developed with federal funding after enactment are contributed to the IP Commons, with attribution registered to the individual inventors.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506 establishes the abandoned works mechanism: a copyright exercised through fourteen consecutive years of complete commercial inactivity is treated as abandoned and contributed to the commons, with full creator attribution retained.</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V § 502 · § 503 · § 506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II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National Security</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and Systemic Fragility</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5F5F5"/>
                </a:solidFill>
                <a:latin typeface="Calibri" pitchFamily="34" charset="0"/>
                <a:ea typeface="Calibri" pitchFamily="34" charset="-122"/>
                <a:cs typeface="Calibri" pitchFamily="34" charset="-120"/>
              </a:rPr>
              <a:t>Findings 5–9: The structural vulnerabilities of the current system</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5</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Petrodollar Dependence Is a Strategic Vulnerability</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material security of the United States depends on a global monetary architecture maintained through the denomination of global energy markets in dollars and enforced through military projection.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architecture faces accelerating structural fragility: energy markets diversifying, rival monetary systems developing, and the fiscal and social costs of maintaining dollar hegemony mounting.</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A domestic commons economy is a direct hedge against petrodollar vulnerability.</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5 → Title X § 1004, Title VI</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1004 of Title X establishes the Petrodollar Hedge and Monetary Resilience program: a coordinated federal strategy to build domestic energy commons, reduce dollar-denominated vulnerability, and route federal investment through the commons credit system rather than dollar-denominated mechanisms where possible.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Title VI establishes the Commons Credit System: a parallel unit of account denominated in community productive output rather than dollars. As the commons economy matures, financial obligations convert naturally to commons terms — reducing systemic exposure to dollar-denominated shocks without requiring a sudden monetary transition.</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VI § 601–608 · Title X § 1004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6</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Centralized Infrastructure Creates Single Points of Failure</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concentration of critical infrastructure (energy, food supply chains, communications, and data systems) in centralized corporate entities creates systemic single points of failure vulnerable to cyberattack, supply chain disruption, financial instability, and deliberate sabotage.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A distributed commons network has no single point to attack.</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6 → Title VII § 701, 703, 704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701 establishes the Federated Mesh Open Standard (FMOS): an open, non-proprietary protocol governing peer-to-peer device discovery, cryptographic identity verification, and resource coordination across the commons network. All integrated circuits manufactured or imported into the United States after the effective date must comply.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703 establishes the Asynchronous Resource Coordination (ARC) protocol: peer-to-peer resource matching without centralized administrative authorization, continuously routing surpluses and deficits across the network.</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704 mandates systemic redundancy: every commons node must maintain the capacity to operate independently for a defined period without network connectivity.</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VII § 701 · § 703 · § 704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7</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Data Concentration Is a National Security Threat</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concentration of data infrastructure in a small number of privately held corporations constitutes a national security vulnerability. Capture, disruption, or coercion of these entities could simultaneously deprive the American people of access to communications, financial systems, and essential services — with no recourse.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Data Commons established by this Act distributes that dependency across a federated mesh that cannot be disabled at a single point.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7 → Title IV § 401, 405, 406</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401 establishes Data Sovereignty as a foundational right: every Commons Member holds sovereign rights over their personal data, which cannot be extracted, sold, or transferred without specific informed consent.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405 establishes the Data Commons Governance Council: a peer-governed body setting interoperability standards, privacy protocols, and data access rules for the federated network — with no federal administrative override authority.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406 prohibits surveillance capitalism within the Federated Network: no QFN or enterprise operating within the network may use member data for behavioral profiling, targeted advertising, or algorithmic manipulation.</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IV § 401 · § 405 · § 406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8</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Distributed Communities Are Materially More Secure</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A nation whose communities possess distributed, locally governed capacity to generate energy, produce food, manufacture essential goods, and coordinate resources through resilient peer-to-peer networks is materially more secure against both foreign adversarial action and domestic systemic failure than a nation dependent on centralized corporate infrastructure subject to single-point disruption.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is not an ideological claim. It is a systems engineering observation.</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8 → Title IX § 901–903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Title IX establishes the Military-Civilian Strategic Sync architecture, recognizing the Federated Network as a dual-use civilian resilience capacity with direct national security value.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902 establishes the Civilian-Use Board: a joint civilian-military oversight body charged with identifying commons technologies and infrastructure with dual-use security applications and facilitating their integration into national resilience planning.</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903 establishes the Dual-Use Technology Audit and Transfer protocol: a systematic process for identifying federally developed security technologies appropriate for commons contribution, and for auditing commons infrastructure for security standards compliance.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IX § 901 · § 902 · § 903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9</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The Strategic Context: NATO, Petrodollar, Alliance Transition</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current trajectory of global energy markets, monetary systems, and military alliance structures, including the ongoing Europeanization of NATO and the conditional character of current American alliance commitments — makes the diversification of American national security foundations away from petrodollar dependence an urgent strategic priority.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Act builds the domestic resilience infrastructure that makes that diversification possible, and without which the FCSAG Act's defense posture reforms and the ISRN's alliance governance provisions cannot be credibly advanced.</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9 → Title X § 1005</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1005 of Title X establishes the International Federation Framework: a legal architecture for connecting domestic Qualified Federated Networks with commons institutions internationally, building the foundation for the planetary commons network governed under the ISRN.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section creates the legal basis for Commons Federation Agreements between domestic QFNs and international commons institutions, establishes interoperability standards for cross-border commons coordination, and ensures that the domestic commons transition is legible and connectable to allied nation commons development programs.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It is the domestic foundation for Vol. IV of the legislative sequence.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X § 1005</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III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Resource Abundance</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and Systemic Misallocation</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5F5F5"/>
                </a:solidFill>
                <a:latin typeface="Calibri" pitchFamily="34" charset="0"/>
                <a:ea typeface="Calibri" pitchFamily="34" charset="-122"/>
                <a:cs typeface="Calibri" pitchFamily="34" charset="-120"/>
              </a:rPr>
              <a:t>Findings 10–13: The problems are not scarcity; they are ownership</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10</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Food Insecurity Is a Distribution Problem, Not a Scarcity Problem</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United States and the world currently produce sufficient food to adequately nourish all people on earth. Hundreds of millions of people suffer from food insecurity not because productive capacity is lacking — but because food is systematically misallocated as a speculative commodity rather than a provisioned necessity.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food cooperative and commons nutrition provisions of this Act address the distribution problem directly.</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10 → Title II § 204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204 establishes the Nutrition Provision as a core component of the Guaranteed Provision Standard: every Commons Member is entitled to adequate nutrition meeting defined standards, provided through cooperative food networks operating within the Qualified Federated Network.</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nutrition provision is not a food stamp or a transfer payment. It is a cooperative membership right: the member participates in governing the food cooperative that provides their nutrition, and the cooperative's governance rules — including pricing, sourcing, and distribution — are set collectively by its members under the Ostrom Standards of Stewardship.</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II § 204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11</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15 Million Vacant Properties, Hundreds of Thousands Unhoused</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United States currently contains approximately fifteen million vacant residential properties while hundreds of thousands of people lack stable housing. This is not a scarcity of shelter. It reflects the treatment of housing as a speculative financial asset rather than a provisioned necessity.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CLT stewardship removes residential land from the speculative market permanently. Homes on CLT land remain permanently affordable because the land beneath them is never resold at speculative value.</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11 → Title II § 203, Title III § 301, § 307</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203 establishes the Housing Provision: every Commons Member is entitled to adequate housing meeting defined standards, accessed through CLT ground leases within the Qualified Federated Network.</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301 establishes the Community Land Trust Legal Framework: a nationally standardized legal form for CLTs, with democratic governance requirements, perpetual affordability restrictions, and anti-speculation covenants built into the ground lease architecture.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307 establishes Anti-Speculation and Commons Permanence Provisions: once land enters the CLT commons, it cannot be sold at speculative market value, cannot be used as collateral for speculative financial instruments, and cannot be withdrawn from the commons without a supermajority community vote.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II § 203 · Title III § 301 · § 307</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12</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Federal Land: An Unrealized Public Asset</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Vast quantities of federal land currently lie unused or are leased at below-market rates to extractive industries, representing a public asset — already owned by the American people — whose productive potential for community resilience, food security, renewable energy generation, and affordable housing remains entirely unrealized.</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12 → Title III § 302, Title IX § 905</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302 establishes the Federal Surplus Land Transfer program: the Office of Federated Stewardship, in coordination with the relevant federal land management agencies, identifies surplus federal land appropriate for commons conversion and transfers title to Qualified Federated Networks for CLT stewardship. Priority is given to land adjacent to existing QFNs and to land with demonstrated agricultural, energy, or housing potential.</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905 establishes the Surplus Military Land Transfer program: surplus military installations and adjacent federal land are prioritized for commons conversion, with the Civilian-Use Board overseeing the transition to ensure that security-sensitive infrastructure is appropriately handled before transfer.</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III § 302 · Title IX § 905</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13</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Speculation as Systemic Policy Failure</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treatment of land, housing, and essential resources primarily as speculative financial assets rather than as provisioned necessities constitutes a systemic misallocation producing preventable poverty, housing insecurity, food insecurity, and community instability.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commons does not regulate speculation. It removes the assets that generate community necessity from the speculative market entirely.</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13 → Title III § 303, § 307</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303 establishes the Right of First Refusal: when any property within or adjacent to a QFN boundary is offered for sale, the QFN has the right to match any offer and acquire the property for CLT stewardship. This systematically expands the commons land base over time by ensuring that properties do not cycle back into speculative markets when they change hands.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307's Anti-Speculation and Commons Permanence Provisions work in tandem: Commons Permanence Assets — designated land, freshwater systems, seed stocks, and critical commons infrastructure — may never be transferred, traded, or alienated from the commons regardless of surplus conditions or collective authorization.</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III § 303 · § 307</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IV</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Existing Commons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and the Prefigurative Argument</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5F5F5"/>
                </a:solidFill>
                <a:latin typeface="Calibri" pitchFamily="34" charset="0"/>
                <a:ea typeface="Calibri" pitchFamily="34" charset="-122"/>
                <a:cs typeface="Calibri" pitchFamily="34" charset="-120"/>
              </a:rPr>
              <a:t>Findings 14–19: The institutions already exist and already work</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Findings 14–14D</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Commons Institutions Already Exist: the Evidence Is Specific</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Federated commons institutions already exist and function throughout the United States and internationally.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Worker cooperatives: ~1,300 enterprises, 15,000+ worker-owners, coordinated through the USFWC, DAWI, and NCBA CLUSA.</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CLT sector: documented through Grounded Solutions Network. Champlain Housing Trust (Burlington, VT) stewards 2,400+ units — 8% of Burlington households. Founded in Civil Rights roots: New Communities in Albany, GA, 1969. The Federation of Southern Cooperatives represents decades of Black cooperative economic development.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Solidarity economy: New Economy Coalition (200+ orgs); TimeBanks USA and hOurworld; National Cooperative Bank; 1,432 Treasury-certified CDFIs — the existing financial network through which Bootstrap Grants will flow.</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Findings 14–14D → Title X § 1001, 1002, Title I § 106</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1001 establishes Proto-QFN Status: existing commons-aligned organizations — including CLTs, worker cooperatives, credit unions, and solidarity economy networks — are immediately recognized as Proto-QFNs upon filing, granting them access to technical assistance, legal safe harbors, and coordination infrastructure before full certification is achieved.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1002 establishes CDFI Integration as Commons Financial Nodes: all 1,432 Treasury-certified CDFIs are immediately eligible to serve as Commons Financial Nodes, distributing Bootstrap Grants and issuing Stewardship Credits through their existing infrastructure.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106 establishes the Bootstrap Grant Program: initial capitalization flowing through CDFI nodes to Proto-QFNs to fund cooperative formation, CLT land acquisition, and technical infrastructure.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X § 1001 · § 1002 · Title I § 106</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15</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Elinor Ostrom: The Empirical Foundation</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Nobel Prize-winning research of Elinor Ostrom demonstrated empirically that communities are capable of sustainably governing shared resources without either privatization or central government administration — provided that governance structures meet defined design principles: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Standard 1: Defined Boundaries</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Standard 2: Local Congruence</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Standard 3: Collective-Choice Arrangements</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Standard 4: Peer Monitoring</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Standard 5: Graduated Sanctions</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Standard 6: Accessible Conflict Resolution</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Standard 7: Jurisdictional Autonomy</a:t>
            </a: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 Standard 8: Nested Governance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These principles are codified throughout this Act as the Ostrom Standards of Stewardship.</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15 → Title I § 102, 103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102 codifies all eight Ostrom Standards of Stewardship as operative legal requirements: every Qualified Federated Network must demonstrate continuous compliance with each Standard as a condition of certification and access to commons infrastructure.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103 establishes the Certification Protocol and Peer-to-Peer Audit system: certification is not granted by a federal agency but verified through a structured peer audit process in which existing certified QFNs audit applicant networks against the eight Standards. Compliance is continuously monitored through the automated protocol layer and adversarial peer audit layer established in Title VIII.</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Ostrom Workshop at Indiana University serves in an advisory relationship, consulting on adequacy reviews of the Standards as commons governance experience accumulates.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 § 102 · § 103</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16</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Federally Funded Research Already Models the IP Commons</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DARPA Systematizing Confidence in Open Research and Evidence program demonstrates federally funded research that was developed through federal investment, maintained by a commons-oriented institution, and made freely available to the research community.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is the model for the mandatory commons contribution of publicly funded research under Title V.</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public paid for it. The public should have it.</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16 → Title V § 503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503 establishes the Mandatory Commons Contributions provision, reversing the Bayh-Dole Act of 1980 for new research: any invention, creative work, software, dataset, or other intellectual output developed in whole or in part with federal funding after the effective date of this Act is contributed to the Intellectual Property Commons upon publication or first use, with attribution permanently registered to the individual inventors or creators.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Universities, private contractors, and federal agencies retain the right to use contributed works freely within their operations. They may not patent, copyright, or otherwise enclose contributed works for private commercial benefit.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V § 503</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Findings 17–17B</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Open-Source Commons: Proof That It Works at Scale</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open-source software commons — including Linux and Wikipedia — has demonstrated that commons-based peer production can generate productive value exceeding that of proprietary alternatives, without requiring intellectual property monopoly as an incentive.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Creative Commons licensing and the Open Definition constitute the existing legal and technical infrastructure upon which the IP Commons is built.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Existing federal open access policy — NIH, NSF, and the 2022 OSTP memorandum — already commits to commons availability of publicly funded knowledge. The FRDI Act codifies and extends that commitment.</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Findings 17–17B → Title V § 505, 507, 509</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505 establishes Voluntary Contribution Pathways: creators may contribute works to the IP Commons at any time, at their sole discretion, with full attribution permanently registered. Voluntary dedication is the primary mechanism by which works enter the commons.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507 establishes the Copyleft Mandate: all works in the IP Commons are licensed under an irrevocable copyleft license requiring that derivative works remain in the commons. No work may be re-enclosed, re-patented, or subjected to proprietary licensing once contributed.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509 establishes the IP Commons Governance Council: a peer-governed body setting standards for what constitutes a genuine open contribution, resolving attribution disputes, and managing the commons repository.</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V § 505 · § 507 · § 509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Findings 18–18B</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Federated Commons at Scale: Mondragon, Bologna, and the Farm Bill</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Mondragon (Basque Country, Spain): 100+ cooperatives, 80,000+ worker-owners, spanning manufacturing, retail, finance, and education. The primary international proof of concept for federated cooperative enterprise at scale.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LabGov / Co-City Protocol (Bologna, 2014): the Bologna Regulation on Public Collaboration for Urban Commons has since been adopted in adapted form by more than 200 cities internationally.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2014 Farm Bill: established an Interagency Working Group on Cooperative Development coordinating USDA, Treasury, Justice, Labor, HUD, IRS, and SBA — an existing federal coordination mechanism the Office of Federated Stewardship formalizes and expands.</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Findings 18–18B → Title X § 1003, Title I § 107</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1003 establishes Federated Resilience Demonstration Zones: geographic areas in which federal, state, and local agencies coordinate to remove regulatory barriers to commons formation, prioritize federal investment in QFN infrastructure, and document outcomes for national dissemination. Demonstration Zones are the domestic equivalent of the Bologna model: jurisdictions that test and refine the commons governance architecture before broader national rollout.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107 establishes the Office of Federated Stewardship, which formalizes and expands the 2014 Farm Bill's Interagency Working Group on Cooperative Development into the primary federal-commons coordination body during the transition period, coordinating across the same seven agencies already engaged in cooperative development.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X § 1003 · Title I § 107</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19</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This Act Does Not Create a New System. It Scales One That Already Works.</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cooperative institutions, community land trusts, open-source commons, and solidarity economy networks that this Act recognizes, connects, and capitalizes already exist and already function throughout the United States and internationally.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Act removes the legal barriers, provides the technical infrastructure, and supplies the financial capitalization necessary for these existing institutions to scale from the margins of the current economy to its foundation.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We are building roads between cities that already stand.</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19 → Title X § 1006, Title II § 211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1006 establishes the Succession Crisis Transition Program: zero-interest acquisition financing and capital gains deferral for business owners who sell to worker cooperatives, combined with the Right of First Refusal (Title III § 303) to ensure that retiring small business owners and family farmers have a cooperative succession pathway available as a matter of right, not just an option when a buyer happens to be organized.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211 establishes Existing Cooperative Integration into Federated Commons Membership: worker cooperatives, consumer cooperatives, credit unions, and other cooperatively governed entities already in operation are integrated into the Federated Network through an expedited pathway that recognizes their existing governance structures as satisfying multiple Ostrom Standards.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X § 1006 · Title II § 211</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V</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Commons as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Democratic Deepening</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5F5F5"/>
                </a:solidFill>
                <a:latin typeface="Calibri" pitchFamily="34" charset="0"/>
                <a:ea typeface="Calibri" pitchFamily="34" charset="-122"/>
                <a:cs typeface="Calibri" pitchFamily="34" charset="-120"/>
              </a:rPr>
              <a:t>Findings 20–22: What this program is ultimately for</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20</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Commons Membership Is Not a Benefit. It Is Stewardship.</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Federated Commons Membership, as established by this Act, is not a government benefit or welfare transfer. It is a form of democratic economic citizenship — a bundle of membership rights in cooperative institutions that collectively provide for the material conditions of a dignified life, each of which the member participates in governing.</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governance rights and the provision rights are inseparable and mutually constitutive.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political language for this is not welfare. It is stewardship.</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20 → Title II § 201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201 establishes the Federated Commons Membership architecture: a comprehensive membership status comprising mandatory baseline memberships in a CLT, a food cooperative, a healthcare cooperative, a Data Commons, and the Intellectual Property Commons — together with elective memberships in labor, energy, childcare, eldercare, transportation, and communications cooperatives.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Each membership carries corresponding democratic governance rights in the institution providing that membership's provisions. Membership is portable: a Commons Member moving between QFN regions carries their membership status and governance rights.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No membership may be held without its corresponding governance rights. No governance rights may be stripped while membership provisions continue.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II § 201</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21</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Restoring the Capacity for Meaningful Self-Governance</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concentration of economic and political power in centralized corporate and governmental institutions has progressively eroded the capacity of ordinary citizens to exercise meaningful self-governance over the conditions of their material lives.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federated commons architecture established by this Act restores that capacity by distributing governance of land, knowledge, data, and productive enterprise to the communities that depend upon them.</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is not primarily a redistribution of wealth. It is a redistribution of governance authority — which is what makes the distribution durable.</a:t>
            </a:r>
            <a:endParaRPr lang="en-US" sz="13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21 → Title VIII § 803, 804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803 establishes the Human-in-the-Loop Layer: no automated determination that materially affects the rights, provisions, standing, or obligations of an individual Commons Member is final without human deliberation and the opportunity for override. Any automated decision may be suspended and reviewed by a human deliberative body within defined timeframes.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804 establishes the Accountability Coordination DAO: a locally constituted, peer-elected body trained in restorative conflict resolution, coordinating accountability processes within the QFN without recourse to automated behavioral prediction or algorithmic risk assessment. The DAO is an instrument of human deliberation, not algorithmic governance.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VIII § 803 · § 804</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22</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This Act Extends Democracy into Economic Life</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Act does not diminish democratic governance. It extends democratic governance into the domains of economic and material life where it has historically been absent — fulfilling the constitutional promise of self-governance at every scale from the neighborhood to the nation.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American democracy has always promised self-governance. This Act makes that promise material: self-governance not just over representatives and laws, but over the land you live on, the food you eat, the knowledge you access, and the data you generate.</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22 → Title I § 102(d), Title II § 209</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102(d) establishes Collective-Choice Arrangements as Standard 3 of the Ostrom Standards of Stewardship: every individual governed by a QFN's operational rules must have meaningful participation in modifying those rules. This is a certification requirement — a QFN cannot be certified if its governance structure does not provide genuine collective-choice authority to its members.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209 establishes the Commons Membership Record: a permanent, portable record of each member's governance participation, cooperative memberships, and contribution history, maintained on the National Resilience Ledger and accessible to the member at any time.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I § 102(d) · Title II § 209</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VI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Open</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Information Environment</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5F5F5"/>
                </a:solidFill>
                <a:latin typeface="Calibri" pitchFamily="34" charset="0"/>
                <a:ea typeface="Calibri" pitchFamily="34" charset="-122"/>
                <a:cs typeface="Calibri" pitchFamily="34" charset="-120"/>
              </a:rPr>
              <a:t>Findings 23–24: Transparency as architecture, not regulation</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23</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Transparency Is a Natural Property of Commons Institutions</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establishment of a federated commons for land, data, and intellectual property — governed by transparent and auditable protocols — naturally produces an information environment of substantially greater transparency regarding the governance of institutions that affect the public interest.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This transparency serves the public interest in accountability, including the interest of a free press in reporting on the exercise of institutional power.</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Without requiring specific affirmation of press rights beyond those already guaranteed by the First Amendment.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Transparency is not a regulation imposed on the commons. It is an emergent property of its architecture.</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23 → Title VI § 601, Title VII § 705</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601 establishes the National Resilience Ledger: a distributed digital ledger maintained on the Federated Mesh rather than any centralized server, recording Commons Credit issuance, CLT land holdings, IP Commons attribution registrations, QFN certification status, and Commons Membership Records. The Ledger is publicly readable by any person at any time.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705 establishes the Open-Source Mandate and Commons Analytics: all software developed with federal funding for use in the Federated Network must be released as open-source under an approved commons license. The Commons Analytics platform — built from open-source code and governed by the network itself — provides real-time visibility into network health, resource flows, and governance participation rates.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VI § 601 · Title VII § 705</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2C5F2D"/>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24</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The Abandoned Works Mechanism: Constitutional and Common Law Grounding</a:t>
            </a:r>
            <a:endParaRPr lang="en-US" sz="2200" dirty="0"/>
          </a:p>
        </p:txBody>
      </p:sp>
      <p:sp>
        <p:nvSpPr>
          <p:cNvPr id="5" name="Shape 3"/>
          <p:cNvSpPr/>
          <p:nvPr/>
        </p:nvSpPr>
        <p:spPr>
          <a:xfrm>
            <a:off x="457200" y="1554480"/>
            <a:ext cx="8229600" cy="0"/>
          </a:xfrm>
          <a:prstGeom prst="line">
            <a:avLst/>
          </a:prstGeom>
          <a:noFill/>
          <a:ln w="19050">
            <a:solidFill>
              <a:srgbClr val="97BC62"/>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abandoned works mechanism in Title V is grounded in the common law abandonment doctrine — property rights may be forfeited through sustained non-use combined with manifest intent to abandon — and in Article I, Section 8's limit of exclusive rights to 'limited times.'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Congress finds that a copyright exercised through fourteen consecutive years of complete commercial inactivity constitutes an abandonment of its commercial character.</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The voluntary dedication pathway is the primary mechanism. The abandoned works mechanism is secondary and narrowly tailored.</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EAF2EA"/>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4A7A4B"/>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4A7A4B"/>
                </a:solidFill>
                <a:latin typeface="Calibri" pitchFamily="34" charset="0"/>
                <a:ea typeface="Calibri" pitchFamily="34" charset="-122"/>
                <a:cs typeface="Calibri" pitchFamily="34" charset="-120"/>
              </a:rPr>
              <a:t>Finding 24 → Title V § 506</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1A3A1B"/>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4A7A4B"/>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Section 506 establishes the Intellectual Property Regime Transition, comprising two pathways: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Subsection (a)(1), the Voluntary Dedication Pathway: any rights-holder may contribute a work to the IP Commons at any time, at their sole discretion, with attribution permanently registered. This is the primary and preferred mechanism.</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E2E1F"/>
                </a:solidFill>
                <a:latin typeface="Calibri" pitchFamily="34" charset="0"/>
                <a:ea typeface="Calibri" pitchFamily="34" charset="-122"/>
                <a:cs typeface="Calibri" pitchFamily="34" charset="-120"/>
              </a:rPr>
              <a:t>Subsection (a)(2), the Abandoned Works Mechanism: a copyright whose commercial character has been completely inactive for fourteen consecutive years is contributed to the commons with full attribution retained in the original creator. The rights-holder retains the right to resume commercial use at any time, but the work simultaneously remains available in the commons under the copyleft license.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Title V § 506(a)(1) · § 506(a)(2)</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256032"/>
            <a:ext cx="8321040" cy="420624"/>
          </a:xfrm>
          <a:prstGeom prst="roundRect">
            <a:avLst>
              <a:gd name="adj" fmla="val 10870"/>
            </a:avLst>
          </a:prstGeom>
          <a:solidFill>
            <a:srgbClr val="2C5F2D"/>
          </a:solidFill>
          <a:ln/>
        </p:spPr>
      </p:sp>
      <p:sp>
        <p:nvSpPr>
          <p:cNvPr id="8" name="Text 6"/>
          <p:cNvSpPr/>
          <p:nvPr/>
        </p:nvSpPr>
        <p:spPr>
          <a:xfrm>
            <a:off x="411480" y="256032"/>
            <a:ext cx="832104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Resources</a:t>
            </a:r>
            <a:endParaRPr lang="en-US" sz="1500" dirty="0"/>
          </a:p>
        </p:txBody>
      </p:sp>
      <p:sp>
        <p:nvSpPr>
          <p:cNvPr id="9" name="Text 7"/>
          <p:cNvSpPr/>
          <p:nvPr/>
        </p:nvSpPr>
        <p:spPr>
          <a:xfrm>
            <a:off x="411480" y="804672"/>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Grounded Solutions Network (CLT sector, national census)  </a:t>
            </a:r>
            <a:pPr indent="0" marL="0">
              <a:buNone/>
            </a:pPr>
            <a:r>
              <a:rPr lang="en-US" sz="850" dirty="0">
                <a:solidFill>
                  <a:srgbClr val="4A7A4B"/>
                </a:solidFill>
                <a:latin typeface="Courier New" pitchFamily="34" charset="0"/>
                <a:ea typeface="Courier New" pitchFamily="34" charset="-122"/>
                <a:cs typeface="Courier New" pitchFamily="34" charset="-120"/>
              </a:rPr>
              <a:t>groundedsolutions.org</a:t>
            </a:r>
            <a:endParaRPr lang="en-US" sz="950" dirty="0"/>
          </a:p>
        </p:txBody>
      </p:sp>
      <p:sp>
        <p:nvSpPr>
          <p:cNvPr id="10" name="Text 8"/>
          <p:cNvSpPr/>
          <p:nvPr/>
        </p:nvSpPr>
        <p:spPr>
          <a:xfrm>
            <a:off x="411480" y="980237"/>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International Center for Community Land Trusts (ICCLT)  </a:t>
            </a:r>
            <a:pPr indent="0" marL="0">
              <a:buNone/>
            </a:pPr>
            <a:r>
              <a:rPr lang="en-US" sz="850" dirty="0">
                <a:solidFill>
                  <a:srgbClr val="4A7A4B"/>
                </a:solidFill>
                <a:latin typeface="Courier New" pitchFamily="34" charset="0"/>
                <a:ea typeface="Courier New" pitchFamily="34" charset="-122"/>
                <a:cs typeface="Courier New" pitchFamily="34" charset="-120"/>
              </a:rPr>
              <a:t>cltnetwork.org</a:t>
            </a:r>
            <a:endParaRPr lang="en-US" sz="950" dirty="0"/>
          </a:p>
        </p:txBody>
      </p:sp>
      <p:sp>
        <p:nvSpPr>
          <p:cNvPr id="11" name="Text 9"/>
          <p:cNvSpPr/>
          <p:nvPr/>
        </p:nvSpPr>
        <p:spPr>
          <a:xfrm>
            <a:off x="411480" y="1155802"/>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Champlain Housing Trust (Burlington, VT; primary CLT proof of concept)  </a:t>
            </a:r>
            <a:pPr indent="0" marL="0">
              <a:buNone/>
            </a:pPr>
            <a:r>
              <a:rPr lang="en-US" sz="850" dirty="0">
                <a:solidFill>
                  <a:srgbClr val="4A7A4B"/>
                </a:solidFill>
                <a:latin typeface="Courier New" pitchFamily="34" charset="0"/>
                <a:ea typeface="Courier New" pitchFamily="34" charset="-122"/>
                <a:cs typeface="Courier New" pitchFamily="34" charset="-120"/>
              </a:rPr>
              <a:t>getahome.org</a:t>
            </a:r>
            <a:endParaRPr lang="en-US" sz="950" dirty="0"/>
          </a:p>
        </p:txBody>
      </p:sp>
      <p:sp>
        <p:nvSpPr>
          <p:cNvPr id="12" name="Text 10"/>
          <p:cNvSpPr/>
          <p:nvPr/>
        </p:nvSpPr>
        <p:spPr>
          <a:xfrm>
            <a:off x="411480" y="1331366"/>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United States Federation of Worker Cooperatives (USFWC)  </a:t>
            </a:r>
            <a:pPr indent="0" marL="0">
              <a:buNone/>
            </a:pPr>
            <a:r>
              <a:rPr lang="en-US" sz="850" dirty="0">
                <a:solidFill>
                  <a:srgbClr val="4A7A4B"/>
                </a:solidFill>
                <a:latin typeface="Courier New" pitchFamily="34" charset="0"/>
                <a:ea typeface="Courier New" pitchFamily="34" charset="-122"/>
                <a:cs typeface="Courier New" pitchFamily="34" charset="-120"/>
              </a:rPr>
              <a:t>usworker.coop</a:t>
            </a:r>
            <a:endParaRPr lang="en-US" sz="950" dirty="0"/>
          </a:p>
        </p:txBody>
      </p:sp>
      <p:sp>
        <p:nvSpPr>
          <p:cNvPr id="13" name="Text 11"/>
          <p:cNvSpPr/>
          <p:nvPr/>
        </p:nvSpPr>
        <p:spPr>
          <a:xfrm>
            <a:off x="411480" y="1506931"/>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Democracy at Work Institute (DAWI)  </a:t>
            </a:r>
            <a:pPr indent="0" marL="0">
              <a:buNone/>
            </a:pPr>
            <a:r>
              <a:rPr lang="en-US" sz="850" dirty="0">
                <a:solidFill>
                  <a:srgbClr val="4A7A4B"/>
                </a:solidFill>
                <a:latin typeface="Courier New" pitchFamily="34" charset="0"/>
                <a:ea typeface="Courier New" pitchFamily="34" charset="-122"/>
                <a:cs typeface="Courier New" pitchFamily="34" charset="-120"/>
              </a:rPr>
              <a:t>institute.coop</a:t>
            </a:r>
            <a:endParaRPr lang="en-US" sz="950" dirty="0"/>
          </a:p>
        </p:txBody>
      </p:sp>
      <p:sp>
        <p:nvSpPr>
          <p:cNvPr id="14" name="Text 12"/>
          <p:cNvSpPr/>
          <p:nvPr/>
        </p:nvSpPr>
        <p:spPr>
          <a:xfrm>
            <a:off x="411480" y="1682496"/>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NCBA CLUSA (National Cooperative Business Association)  </a:t>
            </a:r>
            <a:pPr indent="0" marL="0">
              <a:buNone/>
            </a:pPr>
            <a:r>
              <a:rPr lang="en-US" sz="850" dirty="0">
                <a:solidFill>
                  <a:srgbClr val="4A7A4B"/>
                </a:solidFill>
                <a:latin typeface="Courier New" pitchFamily="34" charset="0"/>
                <a:ea typeface="Courier New" pitchFamily="34" charset="-122"/>
                <a:cs typeface="Courier New" pitchFamily="34" charset="-120"/>
              </a:rPr>
              <a:t>ncbaclusa.coop</a:t>
            </a:r>
            <a:endParaRPr lang="en-US" sz="950" dirty="0"/>
          </a:p>
        </p:txBody>
      </p:sp>
      <p:sp>
        <p:nvSpPr>
          <p:cNvPr id="15" name="Text 13"/>
          <p:cNvSpPr/>
          <p:nvPr/>
        </p:nvSpPr>
        <p:spPr>
          <a:xfrm>
            <a:off x="411480" y="1858061"/>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New Economy Coalition (200+ solidarity economy organizations)  </a:t>
            </a:r>
            <a:pPr indent="0" marL="0">
              <a:buNone/>
            </a:pPr>
            <a:r>
              <a:rPr lang="en-US" sz="850" dirty="0">
                <a:solidFill>
                  <a:srgbClr val="4A7A4B"/>
                </a:solidFill>
                <a:latin typeface="Courier New" pitchFamily="34" charset="0"/>
                <a:ea typeface="Courier New" pitchFamily="34" charset="-122"/>
                <a:cs typeface="Courier New" pitchFamily="34" charset="-120"/>
              </a:rPr>
              <a:t>neweconomy.net</a:t>
            </a:r>
            <a:endParaRPr lang="en-US" sz="950" dirty="0"/>
          </a:p>
        </p:txBody>
      </p:sp>
      <p:sp>
        <p:nvSpPr>
          <p:cNvPr id="16" name="Text 14"/>
          <p:cNvSpPr/>
          <p:nvPr/>
        </p:nvSpPr>
        <p:spPr>
          <a:xfrm>
            <a:off x="411480" y="2033626"/>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U.S. Solidarity Economy Network (USSEN)  </a:t>
            </a:r>
            <a:pPr indent="0" marL="0">
              <a:buNone/>
            </a:pPr>
            <a:r>
              <a:rPr lang="en-US" sz="850" dirty="0">
                <a:solidFill>
                  <a:srgbClr val="4A7A4B"/>
                </a:solidFill>
                <a:latin typeface="Courier New" pitchFamily="34" charset="0"/>
                <a:ea typeface="Courier New" pitchFamily="34" charset="-122"/>
                <a:cs typeface="Courier New" pitchFamily="34" charset="-120"/>
              </a:rPr>
              <a:t>ussen.org</a:t>
            </a:r>
            <a:endParaRPr lang="en-US" sz="950" dirty="0"/>
          </a:p>
        </p:txBody>
      </p:sp>
      <p:sp>
        <p:nvSpPr>
          <p:cNvPr id="17" name="Text 15"/>
          <p:cNvSpPr/>
          <p:nvPr/>
        </p:nvSpPr>
        <p:spPr>
          <a:xfrm>
            <a:off x="411480" y="2209190"/>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RIPESS (Intercontinental Network for Social Solidarity Economy)  </a:t>
            </a:r>
            <a:pPr indent="0" marL="0">
              <a:buNone/>
            </a:pPr>
            <a:r>
              <a:rPr lang="en-US" sz="850" dirty="0">
                <a:solidFill>
                  <a:srgbClr val="4A7A4B"/>
                </a:solidFill>
                <a:latin typeface="Courier New" pitchFamily="34" charset="0"/>
                <a:ea typeface="Courier New" pitchFamily="34" charset="-122"/>
                <a:cs typeface="Courier New" pitchFamily="34" charset="-120"/>
              </a:rPr>
              <a:t>ripess.org</a:t>
            </a:r>
            <a:endParaRPr lang="en-US" sz="950" dirty="0"/>
          </a:p>
        </p:txBody>
      </p:sp>
      <p:sp>
        <p:nvSpPr>
          <p:cNvPr id="18" name="Text 16"/>
          <p:cNvSpPr/>
          <p:nvPr/>
        </p:nvSpPr>
        <p:spPr>
          <a:xfrm>
            <a:off x="411480" y="2384755"/>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TimeBanks USA and hOurworld (time-banking networks)  </a:t>
            </a:r>
            <a:pPr indent="0" marL="0">
              <a:buNone/>
            </a:pPr>
            <a:r>
              <a:rPr lang="en-US" sz="850" dirty="0">
                <a:solidFill>
                  <a:srgbClr val="4A7A4B"/>
                </a:solidFill>
                <a:latin typeface="Courier New" pitchFamily="34" charset="0"/>
                <a:ea typeface="Courier New" pitchFamily="34" charset="-122"/>
                <a:cs typeface="Courier New" pitchFamily="34" charset="-120"/>
              </a:rPr>
              <a:t>timebanks.org</a:t>
            </a:r>
            <a:endParaRPr lang="en-US" sz="950" dirty="0"/>
          </a:p>
        </p:txBody>
      </p:sp>
      <p:sp>
        <p:nvSpPr>
          <p:cNvPr id="19" name="Text 17"/>
          <p:cNvSpPr/>
          <p:nvPr/>
        </p:nvSpPr>
        <p:spPr>
          <a:xfrm>
            <a:off x="411480" y="2560320"/>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National Cooperative Bank  </a:t>
            </a:r>
            <a:pPr indent="0" marL="0">
              <a:buNone/>
            </a:pPr>
            <a:r>
              <a:rPr lang="en-US" sz="850" dirty="0">
                <a:solidFill>
                  <a:srgbClr val="4A7A4B"/>
                </a:solidFill>
                <a:latin typeface="Courier New" pitchFamily="34" charset="0"/>
                <a:ea typeface="Courier New" pitchFamily="34" charset="-122"/>
                <a:cs typeface="Courier New" pitchFamily="34" charset="-120"/>
              </a:rPr>
              <a:t>ncb.coop</a:t>
            </a:r>
            <a:endParaRPr lang="en-US" sz="950" dirty="0"/>
          </a:p>
        </p:txBody>
      </p:sp>
      <p:sp>
        <p:nvSpPr>
          <p:cNvPr id="20" name="Text 18"/>
          <p:cNvSpPr/>
          <p:nvPr/>
        </p:nvSpPr>
        <p:spPr>
          <a:xfrm>
            <a:off x="411480" y="2735885"/>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Platform Cooperativism Consortium  </a:t>
            </a:r>
            <a:pPr indent="0" marL="0">
              <a:buNone/>
            </a:pPr>
            <a:r>
              <a:rPr lang="en-US" sz="850" dirty="0">
                <a:solidFill>
                  <a:srgbClr val="4A7A4B"/>
                </a:solidFill>
                <a:latin typeface="Courier New" pitchFamily="34" charset="0"/>
                <a:ea typeface="Courier New" pitchFamily="34" charset="-122"/>
                <a:cs typeface="Courier New" pitchFamily="34" charset="-120"/>
              </a:rPr>
              <a:t>platform.coop</a:t>
            </a:r>
            <a:endParaRPr lang="en-US" sz="950" dirty="0"/>
          </a:p>
        </p:txBody>
      </p:sp>
      <p:sp>
        <p:nvSpPr>
          <p:cNvPr id="21" name="Text 19"/>
          <p:cNvSpPr/>
          <p:nvPr/>
        </p:nvSpPr>
        <p:spPr>
          <a:xfrm>
            <a:off x="411480" y="2911450"/>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Mondragon Corporation (Basque Country cooperative federation)  </a:t>
            </a:r>
            <a:pPr indent="0" marL="0">
              <a:buNone/>
            </a:pPr>
            <a:r>
              <a:rPr lang="en-US" sz="850" dirty="0">
                <a:solidFill>
                  <a:srgbClr val="4A7A4B"/>
                </a:solidFill>
                <a:latin typeface="Courier New" pitchFamily="34" charset="0"/>
                <a:ea typeface="Courier New" pitchFamily="34" charset="-122"/>
                <a:cs typeface="Courier New" pitchFamily="34" charset="-120"/>
              </a:rPr>
              <a:t>mondragon-corporation.com</a:t>
            </a:r>
            <a:endParaRPr lang="en-US" sz="950" dirty="0"/>
          </a:p>
        </p:txBody>
      </p:sp>
      <p:sp>
        <p:nvSpPr>
          <p:cNvPr id="22" name="Text 20"/>
          <p:cNvSpPr/>
          <p:nvPr/>
        </p:nvSpPr>
        <p:spPr>
          <a:xfrm>
            <a:off x="411480" y="3087014"/>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LabGov / Co-City Protocol (urban commons governance, 200+ cities)  </a:t>
            </a:r>
            <a:pPr indent="0" marL="0">
              <a:buNone/>
            </a:pPr>
            <a:r>
              <a:rPr lang="en-US" sz="850" dirty="0">
                <a:solidFill>
                  <a:srgbClr val="4A7A4B"/>
                </a:solidFill>
                <a:latin typeface="Courier New" pitchFamily="34" charset="0"/>
                <a:ea typeface="Courier New" pitchFamily="34" charset="-122"/>
                <a:cs typeface="Courier New" pitchFamily="34" charset="-120"/>
              </a:rPr>
              <a:t>labgov.city</a:t>
            </a:r>
            <a:endParaRPr lang="en-US" sz="950" dirty="0"/>
          </a:p>
        </p:txBody>
      </p:sp>
      <p:sp>
        <p:nvSpPr>
          <p:cNvPr id="23" name="Text 21"/>
          <p:cNvSpPr/>
          <p:nvPr/>
        </p:nvSpPr>
        <p:spPr>
          <a:xfrm>
            <a:off x="411480" y="3262579"/>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Sarafu Network / Community Exchange System (Global South mutual credit)  </a:t>
            </a:r>
            <a:pPr indent="0" marL="0">
              <a:buNone/>
            </a:pPr>
            <a:r>
              <a:rPr lang="en-US" sz="850" dirty="0">
                <a:solidFill>
                  <a:srgbClr val="4A7A4B"/>
                </a:solidFill>
                <a:latin typeface="Courier New" pitchFamily="34" charset="0"/>
                <a:ea typeface="Courier New" pitchFamily="34" charset="-122"/>
                <a:cs typeface="Courier New" pitchFamily="34" charset="-120"/>
              </a:rPr>
              <a:t>sarafu.network</a:t>
            </a:r>
            <a:endParaRPr lang="en-US" sz="950" dirty="0"/>
          </a:p>
        </p:txBody>
      </p:sp>
      <p:sp>
        <p:nvSpPr>
          <p:cNvPr id="24" name="Text 22"/>
          <p:cNvSpPr/>
          <p:nvPr/>
        </p:nvSpPr>
        <p:spPr>
          <a:xfrm>
            <a:off x="411480" y="3438144"/>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Ostrom Workshop, Indiana University  </a:t>
            </a:r>
            <a:pPr indent="0" marL="0">
              <a:buNone/>
            </a:pPr>
            <a:r>
              <a:rPr lang="en-US" sz="850" dirty="0">
                <a:solidFill>
                  <a:srgbClr val="4A7A4B"/>
                </a:solidFill>
                <a:latin typeface="Courier New" pitchFamily="34" charset="0"/>
                <a:ea typeface="Courier New" pitchFamily="34" charset="-122"/>
                <a:cs typeface="Courier New" pitchFamily="34" charset="-120"/>
              </a:rPr>
              <a:t>ostromworkshop.indiana.edu</a:t>
            </a:r>
            <a:endParaRPr lang="en-US" sz="950" dirty="0"/>
          </a:p>
        </p:txBody>
      </p:sp>
      <p:sp>
        <p:nvSpPr>
          <p:cNvPr id="25" name="Text 23"/>
          <p:cNvSpPr/>
          <p:nvPr/>
        </p:nvSpPr>
        <p:spPr>
          <a:xfrm>
            <a:off x="411480" y="3613709"/>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Creative Commons  </a:t>
            </a:r>
            <a:pPr indent="0" marL="0">
              <a:buNone/>
            </a:pPr>
            <a:r>
              <a:rPr lang="en-US" sz="850" dirty="0">
                <a:solidFill>
                  <a:srgbClr val="4A7A4B"/>
                </a:solidFill>
                <a:latin typeface="Courier New" pitchFamily="34" charset="0"/>
                <a:ea typeface="Courier New" pitchFamily="34" charset="-122"/>
                <a:cs typeface="Courier New" pitchFamily="34" charset="-120"/>
              </a:rPr>
              <a:t>creativecommons.org</a:t>
            </a:r>
            <a:endParaRPr lang="en-US" sz="950" dirty="0"/>
          </a:p>
        </p:txBody>
      </p:sp>
      <p:sp>
        <p:nvSpPr>
          <p:cNvPr id="26" name="Text 24"/>
          <p:cNvSpPr/>
          <p:nvPr/>
        </p:nvSpPr>
        <p:spPr>
          <a:xfrm>
            <a:off x="411480" y="3789274"/>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Open Knowledge Foundation / Open Definition  </a:t>
            </a:r>
            <a:pPr indent="0" marL="0">
              <a:buNone/>
            </a:pPr>
            <a:r>
              <a:rPr lang="en-US" sz="850" dirty="0">
                <a:solidFill>
                  <a:srgbClr val="4A7A4B"/>
                </a:solidFill>
                <a:latin typeface="Courier New" pitchFamily="34" charset="0"/>
                <a:ea typeface="Courier New" pitchFamily="34" charset="-122"/>
                <a:cs typeface="Courier New" pitchFamily="34" charset="-120"/>
              </a:rPr>
              <a:t>opendefinition.org</a:t>
            </a:r>
            <a:endParaRPr lang="en-US" sz="950" dirty="0"/>
          </a:p>
        </p:txBody>
      </p:sp>
      <p:sp>
        <p:nvSpPr>
          <p:cNvPr id="27" name="Text 25"/>
          <p:cNvSpPr/>
          <p:nvPr/>
        </p:nvSpPr>
        <p:spPr>
          <a:xfrm>
            <a:off x="411480" y="3964838"/>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SPARC (Scholarly Publishing and Academic Resources Coalition)  </a:t>
            </a:r>
            <a:pPr indent="0" marL="0">
              <a:buNone/>
            </a:pPr>
            <a:r>
              <a:rPr lang="en-US" sz="850" dirty="0">
                <a:solidFill>
                  <a:srgbClr val="4A7A4B"/>
                </a:solidFill>
                <a:latin typeface="Courier New" pitchFamily="34" charset="0"/>
                <a:ea typeface="Courier New" pitchFamily="34" charset="-122"/>
                <a:cs typeface="Courier New" pitchFamily="34" charset="-120"/>
              </a:rPr>
              <a:t>sparcopen.org</a:t>
            </a:r>
            <a:endParaRPr lang="en-US" sz="950" dirty="0"/>
          </a:p>
        </p:txBody>
      </p:sp>
      <p:sp>
        <p:nvSpPr>
          <p:cNvPr id="28" name="Text 26"/>
          <p:cNvSpPr/>
          <p:nvPr/>
        </p:nvSpPr>
        <p:spPr>
          <a:xfrm>
            <a:off x="411480" y="4140403"/>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COAR (Confederation of Open Access Repositories)  </a:t>
            </a:r>
            <a:pPr indent="0" marL="0">
              <a:buNone/>
            </a:pPr>
            <a:r>
              <a:rPr lang="en-US" sz="850" dirty="0">
                <a:solidFill>
                  <a:srgbClr val="4A7A4B"/>
                </a:solidFill>
                <a:latin typeface="Courier New" pitchFamily="34" charset="0"/>
                <a:ea typeface="Courier New" pitchFamily="34" charset="-122"/>
                <a:cs typeface="Courier New" pitchFamily="34" charset="-120"/>
              </a:rPr>
              <a:t>coar-repositories.org</a:t>
            </a:r>
            <a:endParaRPr lang="en-US" sz="950" dirty="0"/>
          </a:p>
        </p:txBody>
      </p:sp>
      <p:sp>
        <p:nvSpPr>
          <p:cNvPr id="29" name="Text 27"/>
          <p:cNvSpPr/>
          <p:nvPr/>
        </p:nvSpPr>
        <p:spPr>
          <a:xfrm>
            <a:off x="411480" y="4315968"/>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Decidim Foundation (participatory governance platform)  </a:t>
            </a:r>
            <a:pPr indent="0" marL="0">
              <a:buNone/>
            </a:pPr>
            <a:r>
              <a:rPr lang="en-US" sz="850" dirty="0">
                <a:solidFill>
                  <a:srgbClr val="4A7A4B"/>
                </a:solidFill>
                <a:latin typeface="Courier New" pitchFamily="34" charset="0"/>
                <a:ea typeface="Courier New" pitchFamily="34" charset="-122"/>
                <a:cs typeface="Courier New" pitchFamily="34" charset="-120"/>
              </a:rPr>
              <a:t>decidim.org</a:t>
            </a:r>
            <a:endParaRPr lang="en-US" sz="950" dirty="0"/>
          </a:p>
        </p:txBody>
      </p:sp>
      <p:sp>
        <p:nvSpPr>
          <p:cNvPr id="30" name="Text 28"/>
          <p:cNvSpPr/>
          <p:nvPr/>
        </p:nvSpPr>
        <p:spPr>
          <a:xfrm>
            <a:off x="411480" y="4491533"/>
            <a:ext cx="8321040" cy="166421"/>
          </a:xfrm>
          <a:prstGeom prst="rect">
            <a:avLst/>
          </a:prstGeom>
          <a:noFill/>
          <a:ln/>
        </p:spPr>
        <p:txBody>
          <a:bodyPr wrap="square" rtlCol="0" anchor="ctr"/>
          <a:lstStyle/>
          <a:p>
            <a:pPr indent="0" marL="0">
              <a:buNone/>
            </a:pPr>
            <a:r>
              <a:rPr lang="en-US" sz="950" dirty="0">
                <a:solidFill>
                  <a:srgbClr val="1E2E1F"/>
                </a:solidFill>
                <a:latin typeface="Calibri" pitchFamily="34" charset="0"/>
                <a:ea typeface="Calibri" pitchFamily="34" charset="-122"/>
                <a:cs typeface="Calibri" pitchFamily="34" charset="-120"/>
              </a:rPr>
              <a:t>Commons Stack  </a:t>
            </a:r>
            <a:pPr indent="0" marL="0">
              <a:buNone/>
            </a:pPr>
            <a:r>
              <a:rPr lang="en-US" sz="850" dirty="0">
                <a:solidFill>
                  <a:srgbClr val="4A7A4B"/>
                </a:solidFill>
                <a:latin typeface="Courier New" pitchFamily="34" charset="0"/>
                <a:ea typeface="Courier New" pitchFamily="34" charset="-122"/>
                <a:cs typeface="Courier New" pitchFamily="34" charset="-120"/>
              </a:rPr>
              <a:t>commonsstack.org</a:t>
            </a:r>
            <a:endParaRPr lang="en-US" sz="950" dirty="0"/>
          </a:p>
        </p:txBody>
      </p:sp>
      <p:sp>
        <p:nvSpPr>
          <p:cNvPr id="31" name="Text 29"/>
          <p:cNvSpPr/>
          <p:nvPr/>
        </p:nvSpPr>
        <p:spPr>
          <a:xfrm>
            <a:off x="411480" y="4709160"/>
            <a:ext cx="2194560" cy="256032"/>
          </a:xfrm>
          <a:prstGeom prst="rect">
            <a:avLst/>
          </a:prstGeom>
          <a:noFill/>
          <a:ln/>
        </p:spPr>
        <p:txBody>
          <a:bodyPr wrap="square" rtlCol="0" anchor="ctr"/>
          <a:lstStyle/>
          <a:p>
            <a:pPr indent="0" marL="0">
              <a:buNone/>
            </a:pPr>
            <a:r>
              <a:rPr lang="en-US" sz="1000" b="1" dirty="0">
                <a:solidFill>
                  <a:srgbClr val="1E2E1F"/>
                </a:solidFill>
                <a:latin typeface="Calibri" pitchFamily="34" charset="0"/>
                <a:ea typeface="Calibri" pitchFamily="34" charset="-122"/>
                <a:cs typeface="Calibri" pitchFamily="34" charset="-120"/>
              </a:rPr>
              <a:t>Full bill text &amp; README:</a:t>
            </a:r>
            <a:endParaRPr lang="en-US" sz="1000" dirty="0"/>
          </a:p>
        </p:txBody>
      </p:sp>
      <p:sp>
        <p:nvSpPr>
          <p:cNvPr id="32" name="Text 30"/>
          <p:cNvSpPr/>
          <p:nvPr/>
        </p:nvSpPr>
        <p:spPr>
          <a:xfrm>
            <a:off x="2606040" y="4709160"/>
            <a:ext cx="6126480" cy="256032"/>
          </a:xfrm>
          <a:prstGeom prst="rect">
            <a:avLst/>
          </a:prstGeom>
          <a:noFill/>
          <a:ln/>
        </p:spPr>
        <p:txBody>
          <a:bodyPr wrap="square" rtlCol="0" anchor="ctr"/>
          <a:lstStyle/>
          <a:p>
            <a:pPr indent="0" marL="0">
              <a:buNone/>
            </a:pPr>
            <a:r>
              <a:rPr lang="en-US" sz="1000" dirty="0">
                <a:solidFill>
                  <a:srgbClr val="4A7A4B"/>
                </a:solidFill>
                <a:latin typeface="Courier New" pitchFamily="34" charset="0"/>
                <a:ea typeface="Courier New" pitchFamily="34" charset="-122"/>
                <a:cs typeface="Courier New" pitchFamily="34" charset="-120"/>
              </a:rPr>
              <a:t>github.com/clg1980/LegislativeSequence</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256032"/>
            <a:ext cx="8321040" cy="420624"/>
          </a:xfrm>
          <a:prstGeom prst="roundRect">
            <a:avLst>
              <a:gd name="adj" fmla="val 10870"/>
            </a:avLst>
          </a:prstGeom>
          <a:solidFill>
            <a:srgbClr val="2C5F2D"/>
          </a:solidFill>
          <a:ln/>
        </p:spPr>
      </p:sp>
      <p:sp>
        <p:nvSpPr>
          <p:cNvPr id="8" name="Text 6"/>
          <p:cNvSpPr/>
          <p:nvPr/>
        </p:nvSpPr>
        <p:spPr>
          <a:xfrm>
            <a:off x="411480" y="256032"/>
            <a:ext cx="832104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Further Reading</a:t>
            </a:r>
            <a:endParaRPr lang="en-US" sz="1500" dirty="0"/>
          </a:p>
        </p:txBody>
      </p:sp>
      <p:sp>
        <p:nvSpPr>
          <p:cNvPr id="9" name="Text 7"/>
          <p:cNvSpPr/>
          <p:nvPr/>
        </p:nvSpPr>
        <p:spPr>
          <a:xfrm>
            <a:off x="411480" y="804672"/>
            <a:ext cx="8321040" cy="438912"/>
          </a:xfrm>
          <a:prstGeom prst="rect">
            <a:avLst/>
          </a:prstGeom>
          <a:noFill/>
          <a:ln/>
        </p:spPr>
        <p:txBody>
          <a:bodyPr wrap="square" rtlCol="0" anchor="t"/>
          <a:lstStyle/>
          <a:p>
            <a:pPr indent="0" marL="0">
              <a:lnSpc>
                <a:spcPct val="90000"/>
              </a:lnSpc>
              <a:buNone/>
            </a:pPr>
            <a:r>
              <a:rPr lang="en-US" sz="1100" b="1" dirty="0">
                <a:solidFill>
                  <a:srgbClr val="1E2E1F"/>
                </a:solidFill>
                <a:latin typeface="Cambria" pitchFamily="34" charset="0"/>
                <a:ea typeface="Cambria" pitchFamily="34" charset="-122"/>
                <a:cs typeface="Cambria" pitchFamily="34" charset="-120"/>
              </a:rPr>
              <a:t>Governing the Commons</a:t>
            </a:r>
            <a:pPr indent="0" marL="0">
              <a:lnSpc>
                <a:spcPct val="90000"/>
              </a:lnSpc>
              <a:buNone/>
            </a:pPr>
            <a:r>
              <a:rPr lang="en-US" sz="950" dirty="0">
                <a:solidFill>
                  <a:srgbClr val="4A7A4B"/>
                </a:solidFill>
                <a:latin typeface="Calibri" pitchFamily="34" charset="0"/>
                <a:ea typeface="Calibri" pitchFamily="34" charset="-122"/>
                <a:cs typeface="Calibri" pitchFamily="34" charset="-120"/>
              </a:rPr>
              <a:t>  (1990, Cambridge University Press),  Elinor Ostrom.</a:t>
            </a:r>
            <a:pPr indent="0" marL="0">
              <a:lnSpc>
                <a:spcPct val="90000"/>
              </a:lnSpc>
              <a:buNone/>
            </a:pPr>
            <a:r>
              <a:rPr lang="en-US" sz="950" dirty="0">
                <a:solidFill>
                  <a:srgbClr val="1E2E1F"/>
                </a:solidFill>
                <a:latin typeface="Calibri" pitchFamily="34" charset="0"/>
                <a:ea typeface="Calibri" pitchFamily="34" charset="-122"/>
                <a:cs typeface="Calibri" pitchFamily="34" charset="-120"/>
              </a:rPr>
              <a:t>  The foundational work. Eight design principles derived from empirical fieldwork across five continents.</a:t>
            </a:r>
            <a:endParaRPr lang="en-US" sz="1100" dirty="0"/>
          </a:p>
        </p:txBody>
      </p:sp>
      <p:sp>
        <p:nvSpPr>
          <p:cNvPr id="10" name="Text 8"/>
          <p:cNvSpPr/>
          <p:nvPr/>
        </p:nvSpPr>
        <p:spPr>
          <a:xfrm>
            <a:off x="411480" y="1261872"/>
            <a:ext cx="8321040" cy="438912"/>
          </a:xfrm>
          <a:prstGeom prst="rect">
            <a:avLst/>
          </a:prstGeom>
          <a:noFill/>
          <a:ln/>
        </p:spPr>
        <p:txBody>
          <a:bodyPr wrap="square" rtlCol="0" anchor="t"/>
          <a:lstStyle/>
          <a:p>
            <a:pPr indent="0" marL="0">
              <a:lnSpc>
                <a:spcPct val="90000"/>
              </a:lnSpc>
              <a:buNone/>
            </a:pPr>
            <a:r>
              <a:rPr lang="en-US" sz="1100" b="1" dirty="0">
                <a:solidFill>
                  <a:srgbClr val="1E2E1F"/>
                </a:solidFill>
                <a:latin typeface="Cambria" pitchFamily="34" charset="0"/>
                <a:ea typeface="Cambria" pitchFamily="34" charset="-122"/>
                <a:cs typeface="Cambria" pitchFamily="34" charset="-120"/>
              </a:rPr>
              <a:t>Understanding Institutional Diversity</a:t>
            </a:r>
            <a:pPr indent="0" marL="0">
              <a:lnSpc>
                <a:spcPct val="90000"/>
              </a:lnSpc>
              <a:buNone/>
            </a:pPr>
            <a:r>
              <a:rPr lang="en-US" sz="950" dirty="0">
                <a:solidFill>
                  <a:srgbClr val="4A7A4B"/>
                </a:solidFill>
                <a:latin typeface="Calibri" pitchFamily="34" charset="0"/>
                <a:ea typeface="Calibri" pitchFamily="34" charset="-122"/>
                <a:cs typeface="Calibri" pitchFamily="34" charset="-120"/>
              </a:rPr>
              <a:t>  (2005, Princeton University Press),  Elinor Ostrom.</a:t>
            </a:r>
            <a:pPr indent="0" marL="0">
              <a:lnSpc>
                <a:spcPct val="90000"/>
              </a:lnSpc>
              <a:buNone/>
            </a:pPr>
            <a:r>
              <a:rPr lang="en-US" sz="950" dirty="0">
                <a:solidFill>
                  <a:srgbClr val="1E2E1F"/>
                </a:solidFill>
                <a:latin typeface="Calibri" pitchFamily="34" charset="0"/>
                <a:ea typeface="Calibri" pitchFamily="34" charset="-122"/>
                <a:cs typeface="Calibri" pitchFamily="34" charset="-120"/>
              </a:rPr>
              <a:t>  The deeper theoretical framework. More technical than Governing the Commons.</a:t>
            </a:r>
            <a:endParaRPr lang="en-US" sz="1100" dirty="0"/>
          </a:p>
        </p:txBody>
      </p:sp>
      <p:sp>
        <p:nvSpPr>
          <p:cNvPr id="11" name="Text 9"/>
          <p:cNvSpPr/>
          <p:nvPr/>
        </p:nvSpPr>
        <p:spPr>
          <a:xfrm>
            <a:off x="411480" y="1719072"/>
            <a:ext cx="8321040" cy="438912"/>
          </a:xfrm>
          <a:prstGeom prst="rect">
            <a:avLst/>
          </a:prstGeom>
          <a:noFill/>
          <a:ln/>
        </p:spPr>
        <p:txBody>
          <a:bodyPr wrap="square" rtlCol="0" anchor="t"/>
          <a:lstStyle/>
          <a:p>
            <a:pPr indent="0" marL="0">
              <a:lnSpc>
                <a:spcPct val="90000"/>
              </a:lnSpc>
              <a:buNone/>
            </a:pPr>
            <a:r>
              <a:rPr lang="en-US" sz="1100" b="1" dirty="0">
                <a:solidFill>
                  <a:srgbClr val="1E2E1F"/>
                </a:solidFill>
                <a:latin typeface="Cambria" pitchFamily="34" charset="0"/>
                <a:ea typeface="Cambria" pitchFamily="34" charset="-122"/>
                <a:cs typeface="Cambria" pitchFamily="34" charset="-120"/>
              </a:rPr>
              <a:t>Free Culture</a:t>
            </a:r>
            <a:pPr indent="0" marL="0">
              <a:lnSpc>
                <a:spcPct val="90000"/>
              </a:lnSpc>
              <a:buNone/>
            </a:pPr>
            <a:r>
              <a:rPr lang="en-US" sz="950" dirty="0">
                <a:solidFill>
                  <a:srgbClr val="4A7A4B"/>
                </a:solidFill>
                <a:latin typeface="Calibri" pitchFamily="34" charset="0"/>
                <a:ea typeface="Calibri" pitchFamily="34" charset="-122"/>
                <a:cs typeface="Calibri" pitchFamily="34" charset="-120"/>
              </a:rPr>
              <a:t>  (2004, Penguin Press),  Lawrence Lessig.</a:t>
            </a:r>
            <a:pPr indent="0" marL="0">
              <a:lnSpc>
                <a:spcPct val="90000"/>
              </a:lnSpc>
              <a:buNone/>
            </a:pPr>
            <a:r>
              <a:rPr lang="en-US" sz="950" dirty="0">
                <a:solidFill>
                  <a:srgbClr val="1E2E1F"/>
                </a:solidFill>
                <a:latin typeface="Calibri" pitchFamily="34" charset="0"/>
                <a:ea typeface="Calibri" pitchFamily="34" charset="-122"/>
                <a:cs typeface="Calibri" pitchFamily="34" charset="-120"/>
              </a:rPr>
              <a:t>  The constitutional and cultural case for the IP commons. Direct context for Title V.</a:t>
            </a:r>
            <a:endParaRPr lang="en-US" sz="1100" dirty="0"/>
          </a:p>
        </p:txBody>
      </p:sp>
      <p:sp>
        <p:nvSpPr>
          <p:cNvPr id="12" name="Text 10"/>
          <p:cNvSpPr/>
          <p:nvPr/>
        </p:nvSpPr>
        <p:spPr>
          <a:xfrm>
            <a:off x="411480" y="2176272"/>
            <a:ext cx="8321040" cy="438912"/>
          </a:xfrm>
          <a:prstGeom prst="rect">
            <a:avLst/>
          </a:prstGeom>
          <a:noFill/>
          <a:ln/>
        </p:spPr>
        <p:txBody>
          <a:bodyPr wrap="square" rtlCol="0" anchor="t"/>
          <a:lstStyle/>
          <a:p>
            <a:pPr indent="0" marL="0">
              <a:lnSpc>
                <a:spcPct val="90000"/>
              </a:lnSpc>
              <a:buNone/>
            </a:pPr>
            <a:r>
              <a:rPr lang="en-US" sz="1100" b="1" dirty="0">
                <a:solidFill>
                  <a:srgbClr val="1E2E1F"/>
                </a:solidFill>
                <a:latin typeface="Cambria" pitchFamily="34" charset="0"/>
                <a:ea typeface="Cambria" pitchFamily="34" charset="-122"/>
                <a:cs typeface="Cambria" pitchFamily="34" charset="-120"/>
              </a:rPr>
              <a:t>Chokepoint Capitalism</a:t>
            </a:r>
            <a:pPr indent="0" marL="0">
              <a:lnSpc>
                <a:spcPct val="90000"/>
              </a:lnSpc>
              <a:buNone/>
            </a:pPr>
            <a:r>
              <a:rPr lang="en-US" sz="950" dirty="0">
                <a:solidFill>
                  <a:srgbClr val="4A7A4B"/>
                </a:solidFill>
                <a:latin typeface="Calibri" pitchFamily="34" charset="0"/>
                <a:ea typeface="Calibri" pitchFamily="34" charset="-122"/>
                <a:cs typeface="Calibri" pitchFamily="34" charset="-120"/>
              </a:rPr>
              <a:t>  (2022, Beacon Press),  Cory Doctorow.</a:t>
            </a:r>
            <a:pPr indent="0" marL="0">
              <a:lnSpc>
                <a:spcPct val="90000"/>
              </a:lnSpc>
              <a:buNone/>
            </a:pPr>
            <a:r>
              <a:rPr lang="en-US" sz="950" dirty="0">
                <a:solidFill>
                  <a:srgbClr val="1E2E1F"/>
                </a:solidFill>
                <a:latin typeface="Calibri" pitchFamily="34" charset="0"/>
                <a:ea typeface="Calibri" pitchFamily="34" charset="-122"/>
                <a:cs typeface="Calibri" pitchFamily="34" charset="-120"/>
              </a:rPr>
              <a:t>  The contemporary account of IP enclosure and the case for creator-side commons reform.</a:t>
            </a:r>
            <a:endParaRPr lang="en-US" sz="1100" dirty="0"/>
          </a:p>
        </p:txBody>
      </p:sp>
      <p:sp>
        <p:nvSpPr>
          <p:cNvPr id="13" name="Text 11"/>
          <p:cNvSpPr/>
          <p:nvPr/>
        </p:nvSpPr>
        <p:spPr>
          <a:xfrm>
            <a:off x="411480" y="2633472"/>
            <a:ext cx="8321040" cy="438912"/>
          </a:xfrm>
          <a:prstGeom prst="rect">
            <a:avLst/>
          </a:prstGeom>
          <a:noFill/>
          <a:ln/>
        </p:spPr>
        <p:txBody>
          <a:bodyPr wrap="square" rtlCol="0" anchor="t"/>
          <a:lstStyle/>
          <a:p>
            <a:pPr indent="0" marL="0">
              <a:lnSpc>
                <a:spcPct val="90000"/>
              </a:lnSpc>
              <a:buNone/>
            </a:pPr>
            <a:r>
              <a:rPr lang="en-US" sz="1100" b="1" dirty="0">
                <a:solidFill>
                  <a:srgbClr val="1E2E1F"/>
                </a:solidFill>
                <a:latin typeface="Cambria" pitchFamily="34" charset="0"/>
                <a:ea typeface="Cambria" pitchFamily="34" charset="-122"/>
                <a:cs typeface="Cambria" pitchFamily="34" charset="-120"/>
              </a:rPr>
              <a:t>Democracy at Work</a:t>
            </a:r>
            <a:pPr indent="0" marL="0">
              <a:lnSpc>
                <a:spcPct val="90000"/>
              </a:lnSpc>
              <a:buNone/>
            </a:pPr>
            <a:r>
              <a:rPr lang="en-US" sz="950" dirty="0">
                <a:solidFill>
                  <a:srgbClr val="4A7A4B"/>
                </a:solidFill>
                <a:latin typeface="Calibri" pitchFamily="34" charset="0"/>
                <a:ea typeface="Calibri" pitchFamily="34" charset="-122"/>
                <a:cs typeface="Calibri" pitchFamily="34" charset="-120"/>
              </a:rPr>
              <a:t>  (2012, Haymarket Books),  Richard D. Wolff.</a:t>
            </a:r>
            <a:pPr indent="0" marL="0">
              <a:lnSpc>
                <a:spcPct val="90000"/>
              </a:lnSpc>
              <a:buNone/>
            </a:pPr>
            <a:r>
              <a:rPr lang="en-US" sz="950" dirty="0">
                <a:solidFill>
                  <a:srgbClr val="1E2E1F"/>
                </a:solidFill>
                <a:latin typeface="Calibri" pitchFamily="34" charset="0"/>
                <a:ea typeface="Calibri" pitchFamily="34" charset="-122"/>
                <a:cs typeface="Calibri" pitchFamily="34" charset="-120"/>
              </a:rPr>
              <a:t>  The most widely read American treatment of worker cooperative economics. Context for Title III.</a:t>
            </a:r>
            <a:endParaRPr lang="en-US" sz="1100" dirty="0"/>
          </a:p>
        </p:txBody>
      </p:sp>
      <p:sp>
        <p:nvSpPr>
          <p:cNvPr id="14" name="Text 12"/>
          <p:cNvSpPr/>
          <p:nvPr/>
        </p:nvSpPr>
        <p:spPr>
          <a:xfrm>
            <a:off x="411480" y="3090672"/>
            <a:ext cx="8321040" cy="438912"/>
          </a:xfrm>
          <a:prstGeom prst="rect">
            <a:avLst/>
          </a:prstGeom>
          <a:noFill/>
          <a:ln/>
        </p:spPr>
        <p:txBody>
          <a:bodyPr wrap="square" rtlCol="0" anchor="t"/>
          <a:lstStyle/>
          <a:p>
            <a:pPr indent="0" marL="0">
              <a:lnSpc>
                <a:spcPct val="90000"/>
              </a:lnSpc>
              <a:buNone/>
            </a:pPr>
            <a:r>
              <a:rPr lang="en-US" sz="1100" b="1" dirty="0">
                <a:solidFill>
                  <a:srgbClr val="1E2E1F"/>
                </a:solidFill>
                <a:latin typeface="Cambria" pitchFamily="34" charset="0"/>
                <a:ea typeface="Cambria" pitchFamily="34" charset="-122"/>
                <a:cs typeface="Cambria" pitchFamily="34" charset="-120"/>
              </a:rPr>
              <a:t>After Capitalism</a:t>
            </a:r>
            <a:pPr indent="0" marL="0">
              <a:lnSpc>
                <a:spcPct val="90000"/>
              </a:lnSpc>
              <a:buNone/>
            </a:pPr>
            <a:r>
              <a:rPr lang="en-US" sz="950" dirty="0">
                <a:solidFill>
                  <a:srgbClr val="4A7A4B"/>
                </a:solidFill>
                <a:latin typeface="Calibri" pitchFamily="34" charset="0"/>
                <a:ea typeface="Calibri" pitchFamily="34" charset="-122"/>
                <a:cs typeface="Calibri" pitchFamily="34" charset="-120"/>
              </a:rPr>
              <a:t>  (2002, Rowman &amp; Littlefield),  David Schweickart.</a:t>
            </a:r>
            <a:pPr indent="0" marL="0">
              <a:lnSpc>
                <a:spcPct val="90000"/>
              </a:lnSpc>
              <a:buNone/>
            </a:pPr>
            <a:r>
              <a:rPr lang="en-US" sz="950" dirty="0">
                <a:solidFill>
                  <a:srgbClr val="1E2E1F"/>
                </a:solidFill>
                <a:latin typeface="Calibri" pitchFamily="34" charset="0"/>
                <a:ea typeface="Calibri" pitchFamily="34" charset="-122"/>
                <a:cs typeface="Calibri" pitchFamily="34" charset="-120"/>
              </a:rPr>
              <a:t>  The theoretical case for economic democracy through cooperative enterprise. Context for the succession provisions.</a:t>
            </a:r>
            <a:endParaRPr lang="en-US" sz="1100" dirty="0"/>
          </a:p>
        </p:txBody>
      </p:sp>
      <p:sp>
        <p:nvSpPr>
          <p:cNvPr id="15" name="Text 13"/>
          <p:cNvSpPr/>
          <p:nvPr/>
        </p:nvSpPr>
        <p:spPr>
          <a:xfrm>
            <a:off x="411480" y="3547872"/>
            <a:ext cx="8321040" cy="438912"/>
          </a:xfrm>
          <a:prstGeom prst="rect">
            <a:avLst/>
          </a:prstGeom>
          <a:noFill/>
          <a:ln/>
        </p:spPr>
        <p:txBody>
          <a:bodyPr wrap="square" rtlCol="0" anchor="t"/>
          <a:lstStyle/>
          <a:p>
            <a:pPr indent="0" marL="0">
              <a:lnSpc>
                <a:spcPct val="90000"/>
              </a:lnSpc>
              <a:buNone/>
            </a:pPr>
            <a:r>
              <a:rPr lang="en-US" sz="1100" b="1" dirty="0">
                <a:solidFill>
                  <a:srgbClr val="1E2E1F"/>
                </a:solidFill>
                <a:latin typeface="Cambria" pitchFamily="34" charset="0"/>
                <a:ea typeface="Cambria" pitchFamily="34" charset="-122"/>
                <a:cs typeface="Cambria" pitchFamily="34" charset="-120"/>
              </a:rPr>
              <a:t>Mutual Aid: A Factor of Evolution</a:t>
            </a:r>
            <a:pPr indent="0" marL="0">
              <a:lnSpc>
                <a:spcPct val="90000"/>
              </a:lnSpc>
              <a:buNone/>
            </a:pPr>
            <a:r>
              <a:rPr lang="en-US" sz="950" dirty="0">
                <a:solidFill>
                  <a:srgbClr val="4A7A4B"/>
                </a:solidFill>
                <a:latin typeface="Calibri" pitchFamily="34" charset="0"/>
                <a:ea typeface="Calibri" pitchFamily="34" charset="-122"/>
                <a:cs typeface="Calibri" pitchFamily="34" charset="-120"/>
              </a:rPr>
              <a:t>  (1902, Heinemann),  Pyotr Kropotkin.</a:t>
            </a:r>
            <a:pPr indent="0" marL="0">
              <a:lnSpc>
                <a:spcPct val="90000"/>
              </a:lnSpc>
              <a:buNone/>
            </a:pPr>
            <a:r>
              <a:rPr lang="en-US" sz="950" dirty="0">
                <a:solidFill>
                  <a:srgbClr val="1E2E1F"/>
                </a:solidFill>
                <a:latin typeface="Calibri" pitchFamily="34" charset="0"/>
                <a:ea typeface="Calibri" pitchFamily="34" charset="-122"/>
                <a:cs typeface="Calibri" pitchFamily="34" charset="-120"/>
              </a:rPr>
              <a:t>  The foundational text for commons-based mutual provision. Historical anchor for the Guaranteed Provision Standard.</a:t>
            </a:r>
            <a:endParaRPr lang="en-US" sz="1100" dirty="0"/>
          </a:p>
        </p:txBody>
      </p:sp>
      <p:sp>
        <p:nvSpPr>
          <p:cNvPr id="16" name="Text 14"/>
          <p:cNvSpPr/>
          <p:nvPr/>
        </p:nvSpPr>
        <p:spPr>
          <a:xfrm>
            <a:off x="411480" y="4005072"/>
            <a:ext cx="8321040" cy="438912"/>
          </a:xfrm>
          <a:prstGeom prst="rect">
            <a:avLst/>
          </a:prstGeom>
          <a:noFill/>
          <a:ln/>
        </p:spPr>
        <p:txBody>
          <a:bodyPr wrap="square" rtlCol="0" anchor="t"/>
          <a:lstStyle/>
          <a:p>
            <a:pPr indent="0" marL="0">
              <a:lnSpc>
                <a:spcPct val="90000"/>
              </a:lnSpc>
              <a:buNone/>
            </a:pPr>
            <a:r>
              <a:rPr lang="en-US" sz="1100" b="1" dirty="0">
                <a:solidFill>
                  <a:srgbClr val="1E2E1F"/>
                </a:solidFill>
                <a:latin typeface="Cambria" pitchFamily="34" charset="0"/>
                <a:ea typeface="Cambria" pitchFamily="34" charset="-122"/>
                <a:cs typeface="Cambria" pitchFamily="34" charset="-120"/>
              </a:rPr>
              <a:t>Peer to Peer: The Commons Manifesto</a:t>
            </a:r>
            <a:pPr indent="0" marL="0">
              <a:lnSpc>
                <a:spcPct val="90000"/>
              </a:lnSpc>
              <a:buNone/>
            </a:pPr>
            <a:r>
              <a:rPr lang="en-US" sz="950" dirty="0">
                <a:solidFill>
                  <a:srgbClr val="4A7A4B"/>
                </a:solidFill>
                <a:latin typeface="Calibri" pitchFamily="34" charset="0"/>
                <a:ea typeface="Calibri" pitchFamily="34" charset="-122"/>
                <a:cs typeface="Calibri" pitchFamily="34" charset="-120"/>
              </a:rPr>
              <a:t>  (2019, University of Westminster Press),  Michel Bauwens, Vasilis Kostakis &amp; Alex Pazaitis.</a:t>
            </a:r>
            <a:pPr indent="0" marL="0">
              <a:lnSpc>
                <a:spcPct val="90000"/>
              </a:lnSpc>
              <a:buNone/>
            </a:pPr>
            <a:r>
              <a:rPr lang="en-US" sz="950" dirty="0">
                <a:solidFill>
                  <a:srgbClr val="1E2E1F"/>
                </a:solidFill>
                <a:latin typeface="Calibri" pitchFamily="34" charset="0"/>
                <a:ea typeface="Calibri" pitchFamily="34" charset="-122"/>
                <a:cs typeface="Calibri" pitchFamily="34" charset="-120"/>
              </a:rPr>
              <a:t>  The P2P Foundation framework for commons-based peer production. Context for the FMOS and ARC protocol architecture.</a:t>
            </a:r>
            <a:endParaRPr lang="en-US" sz="1100" dirty="0"/>
          </a:p>
        </p:txBody>
      </p:sp>
      <p:sp>
        <p:nvSpPr>
          <p:cNvPr id="17" name="Text 15"/>
          <p:cNvSpPr/>
          <p:nvPr/>
        </p:nvSpPr>
        <p:spPr>
          <a:xfrm>
            <a:off x="411480" y="4462272"/>
            <a:ext cx="8321040" cy="438912"/>
          </a:xfrm>
          <a:prstGeom prst="rect">
            <a:avLst/>
          </a:prstGeom>
          <a:noFill/>
          <a:ln/>
        </p:spPr>
        <p:txBody>
          <a:bodyPr wrap="square" rtlCol="0" anchor="t"/>
          <a:lstStyle/>
          <a:p>
            <a:pPr indent="0" marL="0">
              <a:lnSpc>
                <a:spcPct val="90000"/>
              </a:lnSpc>
              <a:buNone/>
            </a:pPr>
            <a:r>
              <a:rPr lang="en-US" sz="1100" b="1" dirty="0">
                <a:solidFill>
                  <a:srgbClr val="1E2E1F"/>
                </a:solidFill>
                <a:latin typeface="Cambria" pitchFamily="34" charset="0"/>
                <a:ea typeface="Cambria" pitchFamily="34" charset="-122"/>
                <a:cs typeface="Cambria" pitchFamily="34" charset="-120"/>
              </a:rPr>
              <a:t>Collective Courage</a:t>
            </a:r>
            <a:pPr indent="0" marL="0">
              <a:lnSpc>
                <a:spcPct val="90000"/>
              </a:lnSpc>
              <a:buNone/>
            </a:pPr>
            <a:r>
              <a:rPr lang="en-US" sz="950" dirty="0">
                <a:solidFill>
                  <a:srgbClr val="4A7A4B"/>
                </a:solidFill>
                <a:latin typeface="Calibri" pitchFamily="34" charset="0"/>
                <a:ea typeface="Calibri" pitchFamily="34" charset="-122"/>
                <a:cs typeface="Calibri" pitchFamily="34" charset="-120"/>
              </a:rPr>
              <a:t>  (2014, Penn State University Press),  Jessica Gordon Nembhard.</a:t>
            </a:r>
            <a:pPr indent="0" marL="0">
              <a:lnSpc>
                <a:spcPct val="90000"/>
              </a:lnSpc>
              <a:buNone/>
            </a:pPr>
            <a:r>
              <a:rPr lang="en-US" sz="950" dirty="0">
                <a:solidFill>
                  <a:srgbClr val="1E2E1F"/>
                </a:solidFill>
                <a:latin typeface="Calibri" pitchFamily="34" charset="0"/>
                <a:ea typeface="Calibri" pitchFamily="34" charset="-122"/>
                <a:cs typeface="Calibri" pitchFamily="34" charset="-120"/>
              </a:rPr>
              <a:t>  The definitive history of Black cooperative economics in America. Essential context for Finding 14C.</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FRDI Act — Federal Resilience and Decentralization Initiatives Act</dc:title>
  <dc:subject>PptxGenJS Presentation</dc:subject>
  <dc:creator>Curtis L. Gates</dc:creator>
  <cp:lastModifiedBy>Curtis L. Gates</cp:lastModifiedBy>
  <cp:revision>1</cp:revision>
  <dcterms:created xsi:type="dcterms:W3CDTF">2026-07-02T17:46:32Z</dcterms:created>
  <dcterms:modified xsi:type="dcterms:W3CDTF">2026-07-02T17:46:32Z</dcterms:modified>
</cp:coreProperties>
</file>