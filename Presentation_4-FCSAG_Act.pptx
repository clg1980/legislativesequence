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FCSAG is Vol. III of four. It is introduced two to three years after the FRDI Act has demonstrated its domestic resilience value. The strategic case for defense posture reorientation is only credible once the material alternative exists. Emphasize: this is the strategic commons. The FRDI Act built the material commons. The HRCR Act built the social commons. This Act builds the security and automation governance architecture on top of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I anchors the FCSAG in four distinct constitutional provisions. The defense power, the Preamble's purposes, the Fifth Amendment's due process guarantee, and the First and Fourth Amendments' privacy and association protections each generate a specific operative mandate in the bill's four titles.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 1 is the Article I §8 anchor. The key interpretive move: the constitutional defense power is purposively limited to securing the safety and welfare of the people. A military posture organized around protecting dollar hegemony is outside that purpose. This is an originalist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101 is the strategic declaration. The withdrawal of congressional authorization for petrodollar-protection military activity is its most consequential operative provision. Congress can legitimately specify the purposes for which its authorization of military force applies — this is the mechanism for doing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 2 is the Preamble anchor. The argument: the current defense posture is a wealth transfer from the general public (who pay for it) to the holders of dollar-denominated financial assets (who benefit from petrodollar maintenance). This framing works across the political spectrum.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Force Structure Transition is the operative expression of Finding 2. Base closures are mandated, not optional, for installations whose primary rationale is petrodollar protection. The Commons Infrastructure Defense Command is a new command whose mission is explicitly directed at domestic resilience rather than overseas power projection.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 3 is the Fifth Amendment anchor for the Algorithmic Governance Prohibition. 'No efficiency argument' is the key phrase: this is a constitutional floor, not a policy preference. Speed and cost savings do not justify replacing the human deliberation that due process requires.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Algorithmic Governance Prohibition is the operative Fifth Amendment provision. The Human-in-the-Loop Layer (FRDI Act Title VIII § 803) is the mechanism through which the due process requirement is fulfilled: every automated determination affecting individual rights gets human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 4 is the First and Fourth Amendment anchor. The 'governmental direction or inducement' language addresses the public-private surveillance partnership: surveillance conducted through private platforms at governmental request is subject to the Fourth Amendment even when the government does not conduct the surveillance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mechanisms: § 104 terminates bulk surveillance programs and converts intelligence infrastructure to the analytics commons. § 206 protects QFN governance processes from governmental infiltration under the First Amendment. Together they address the surveillance finding structurally rather than through regulation of existing surveillance programs.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II makes the strategic case using the same systems-level analysis that any serious military logistics planner would apply. The petrodollar defense posture is organized around protecting a finite, ecologically destructive resource whose displacement is already underway. The domestic commons infrastructure provides the strategic alternative.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 5 names the arrangement plainly. The petrodollar system is not a secret; it has been openly discussed in academic and policy literature for decades. What is unusual is naming it as such in federal statutory Findings.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Force Structure Transition requires a Joint Chiefs plan with specific milestones. This is Congress directing the military to plan for its own strategic reorientation — a legitimate exercise of the constitutional authority to 'make rules for the government and regulation of the land and naval forces'.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 6 is the climate-as-security-threat argument. The key framing: protecting petroleum access accelerates climate change, and climate change is a security threat. A defense posture organized around petroleum protection is therefore a defense posture organized around accelerating the threats it claims to address. This is a contradictions-of-the-system argument, not an environmental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mechanisms: § 101(c) incorporates climate into defense planning doctrine. § 201 designates commons renewable energy infrastructure as Critical National Infrastructure, making its protection a defense mission. Together they align the defense establishment's incentives with the energy transition rather than against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 7 is the institutional opportunity argument. The energy transition is not only ecologically necessary; it happens to be institutionally compatible with the commons governance architecture. The physics of distributed renewable generation aligns with the governance design principles of the federated commons.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Commons Security R&amp;D program (§ 205) is the mechanism that aligns federal defense R&amp;D investment with the energy transition. Instead of funding research that makes petroleum infrastructure more secure, it funds research that makes cooperative renewable energy infrastructure more secure.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 8 names specific cases. The Strait of Hormuz and Venezuela are not abstract examples; they are named instances of the pattern Finding 5 identifies. This is rare in statutory Findings and signals congressional intent to assess the actual costs of the existing posture rather than accept its premises.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synchronization of the defense posture drawdown with the domestic energy transition timeline is the key architectural feature of Finding 8's mechanism. The drawdown is not immediate; it is conditioned on the maturation of the domestic energy commons that removes the strategic rationale for the Gulf presence.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 9 establishes the dependency and the timeline. The defense posture reorientation is not immediate; it is conditioned on the maturation of the FRDI Act's domestic commons infrastructure. This is the strategic coherence argument: you can only reorient the defense posture once the material alternative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501's dependency provision and § 102's commons infrastructure protection mission together operationalize Finding 9. The defense posture reorientation is triggered by the maturation of the commons infrastructure, not by a fixed calendar date. The OFS certification requirement ensures the reorientation happens when it is strategically coherent, not prematurely.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 10 closes the constitutional argument. The resilience-based posture is not only strategically superior — it is constitutionally superior, because it actually serves the common defense rather than private economic interests. This frames the reorientation as constitutional compliance rather than strategic retreat.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milestone reporting requirement in § 103 is the accountability mechanism: the Joint Chiefs must demonstrate, not just assert, that the reoriented force structure delivers superior constitutional mission performance. This creates an ongoing evidentiary record of the transition's strategic effectiveness.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III addresses the defining economic question of the coming decades. Automation will displace labor across every sector. The question is not whether this happens but who captures the abundance it creates. The commons governance architecture provides a different answer than either private ownership or state administration.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 11 frames the automation question correctly. This is not a question about whether automation is good or bad. It is a question about ownership and distribution. The commons governance architecture provides a structural answer that neither 'retrain workers' nor 'tax robots' can match.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Automation Dividend is the most politically resonant provision in the Act for a general audience. It answers 'what happens to my job when it gets automated?' with 'the productivity gain belongs to the community, and you receive a share of it through reduced labor requirements and improved material provisions.' This is the commons answer to the robot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 12 establishes that the FRDI Act's institutional architecture is the prerequisite for the automation governance provisions. You cannot deploy the Automation Dividend without the commons credit system, the Guaranteed Provision Standard, and the Federated Network governance architecture. This is why FCSAG is Vol. III, not Vol. 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501's dependency declaration is as important for Title IV as it is for Title I. The automation governance provisions are not freestanding: they depend on the FRDI Act's institutional infrastructure to function. This is the architectural honesty of the staggered introduction strategy.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 13 reframes automation governance as a security issue, not just an economic one. Proprietary automation of critical infrastructure means a private actor controls the software that runs the power grid. Whether that actor is a foreign adversary or a domestic monopolist, the security risk is the same: a single point of control that can be captured, coerced, or corrupted.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Open-Source Automation Mandate is the security mechanism for Finding 13. Publicly auditable, copyleft-licensed automation of critical infrastructure eliminates the single point of control that makes proprietary automation a security risk. The mandate applies to all commons-critical infrastructure — not just federal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 14 makes the positive security argument for open-source automation. This is not a concession to idealism — it is an empirical claim supported by the track record of open-source security in high-consequence domains. The Linux kernel, Apache, and OpenSSL are more extensively audited and more quickly patched than comparable proprietary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Analytics Commons (§ 301) is the monitoring and detection layer for the open-source automation mandate. Open-source code is only a security improvement if someone is actually auditing it and monitoring its operation. The Analytics Commons provides the institutional infrastructure for that ongoing surveillance by the commons membership.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IV addresses the intelligence community's publicly funded analytics infrastructure. Decades of public investment in sophisticated data integration and decision-support tools have produced capabilities that are precisely what commons governance requires — and that are currently locked in proprietary platforms under private control. The commons recapture principle applies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 15 identifies the publicly funded analytics infrastructure as subject to the commons recapture principle established in the FRDI Act. The core capabilities of intelligence community analytics platforms — data integration, decision support, logistics coordination — are identical to the capabilities commons governance requires. The public paid for them. The public should have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platform capture provision is one of the most novel in the Act. In-Q-Tel and DARPA-funded platforms whose surveillance capabilities were built with public money are recaptured for public use — with the surveillance stripped out. What remains is the data integration and coordination capability that commons governance actually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 16 draws the architectural distinction between the Analytics Commons and surveillance capitalism. The distinction is not a matter of policy intent — it is built into the architecture. A platform governed by its users, with publicly auditable code and data sovereignty protections, cannot be surveillance capitalism regardless of what any individual actor intends.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mechanisms together operationalize Finding 16: the commons infrastructure (§ 301), the data sovereignty standards (§ 305), and the peer governance council (§ 306). The architecture makes surveillance capitalism structurally impossible within the Analytics Commons regardless of the behavior of any individual actor.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 17 applies the Bayh-Dole reversal principle specifically to intelligence community analytics platforms. The FRDI Act's § 503 reversed Bayh-Dole for new research. Finding 17 extends the recapture principle to the specific category of existing platforms whose foundational capabilities were developed through public investment.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coordination with FRDI Title V § 502 is the key operative mechanism: captured platforms enter the IP Commons under the same copyleft license as any other commons contribution. This ensures that the surveillance-stripped platforms remain in the commons and cannot be re-enclosed by any private actor.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V provides both the constitutional and empirical case for the Human-in-the-Loop requirement. Algorithmic governance of individual rights is not just a constitutional problem — the empirical record of automated decision-making demonstrates that human oversight produces more accurate, more just, and more legitimate outcomes.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 18 is the empirical case for the Algorithmic Governance Prohibition. The systematic bias finding is well-documented: COMPAS recidivism scores, HireVue assessment tools, automated benefits determination, and military targeting algorithms all show systematic bias that amplifies existing injustice at scale. The prohibition is grounded in evidence, not technophobia.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prohibition applies to all consequential individual determinations, not just the categories known to produce bias. This is the 'precautionary' reading of the empirical evidence: because bias amplification is not predictable from system design, the safeguard must be universal, not categorical.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 19 makes the positive empirical case for human oversight. This is not just about constitutional compliance — it is about accuracy. Human-in-the-loop produces better outcomes by the system's own standards. This is the most important finding for a policy audience skeptical of the HITL requirement as bureaucratic overhead: it makes the system better, not just more constitutionally compliant.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HITL architecture is designed to capture the accuracy benefit Finding 19 identifies: automation for data integration and pattern recognition, human deliberation for contextual judgment and final determination. The two work together — neither replaces the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VI situates FCSAG within the four-bill sequence and addresses the 'not new from scratch' argument. The defense posture reorientation builds on existing DoD capabilities. The automation governance builds on the open-source commons already governing critical infrastructure at global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 20 is the sequence statement. It names the position of this Act in the four-bill program and previews the ISRN Act. For a staff audience reading this deck, it is the navigation marker: we are three-quarters of the way through the program, and this Act's provisions create the conditions the ISRN requires.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501's dependency declaration is the architectural map of the four-bill program expressed in operative statutory language. Each dependency in the declaration corresponds to a specific operative provision that cannot function without its predecessor.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 21 is the sequencing rationale. This is why FCSAG is Vol. III, not Vol. I: the defense posture reorientation is only strategically coherent once the domestic commons infrastructure exists. Without the FRDI Act's distributed energy and food systems, reorienting the defense posture toward domestic resilience is a strategic risk, not a strategic improvement.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positive feedback loop between commons maturation and defense posture reorientation is the key dynamic Finding 21 describes. As the commons infrastructure grows, the defense establishment's incentives align with protecting it rather than protecting the petrodollar infrastructure it replaces.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 22 is the prefigurative argument for the FCSAG. The analytics commons and open-source automation mandate build on infrastructure that already governs the majority of the world's internet servers and cloud computing infrastructure. The answer to 'has this been tried?' is yes — at global scale, in production, for decades.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Open-Source Analytics Development Program (§ 303) builds on the existing institutions rather than creating new ones. Federal investment goes to extending capabilities that already exist, not to creating a new federal analytics bureaucracy. The Open-Source Automation Mandate leverages existing copyleft license infrastructure rather than inventing new legal forms.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Resources: organizations directly named in this Act or primary institutional homes for the program's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Further 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p:bgPr>
    </p:bg>
    <p:spTree>
      <p:nvGrpSpPr>
        <p:cNvPr id="1" name=""/>
        <p:cNvGrpSpPr/>
        <p:nvPr/>
      </p:nvGrpSpPr>
      <p:grpSpPr>
        <a:xfrm>
          <a:off x="0" y="0"/>
          <a:ext cx="0" cy="0"/>
          <a:chOff x="0" y="0"/>
          <a:chExt cx="0" cy="0"/>
        </a:xfrm>
      </p:grpSpPr>
      <p:sp>
        <p:nvSpPr>
          <p:cNvPr id="2" name="Text 0"/>
          <p:cNvSpPr/>
          <p:nvPr/>
        </p:nvSpPr>
        <p:spPr>
          <a:xfrm>
            <a:off x="457200" y="548640"/>
            <a:ext cx="8229600" cy="640080"/>
          </a:xfrm>
          <a:prstGeom prst="rect">
            <a:avLst/>
          </a:prstGeom>
          <a:noFill/>
          <a:ln/>
        </p:spPr>
        <p:txBody>
          <a:bodyPr wrap="square" rtlCol="0" anchor="ctr"/>
          <a:lstStyle/>
          <a:p>
            <a:pPr algn="ctr" indent="0" marL="0">
              <a:buNone/>
            </a:pPr>
            <a:r>
              <a:rPr lang="en-US" sz="1400" b="1" spc="600" kern="0" dirty="0">
                <a:solidFill>
                  <a:srgbClr val="A8C5E8"/>
                </a:solidFill>
                <a:latin typeface="Calibri" pitchFamily="34" charset="0"/>
                <a:ea typeface="Calibri" pitchFamily="34" charset="-122"/>
                <a:cs typeface="Calibri" pitchFamily="34" charset="-120"/>
              </a:rPr>
              <a:t>FCSAG</a:t>
            </a:r>
            <a:endParaRPr lang="en-US" sz="1400" dirty="0"/>
          </a:p>
        </p:txBody>
      </p:sp>
      <p:sp>
        <p:nvSpPr>
          <p:cNvPr id="3" name="Text 1"/>
          <p:cNvSpPr/>
          <p:nvPr/>
        </p:nvSpPr>
        <p:spPr>
          <a:xfrm>
            <a:off x="457200" y="1188720"/>
            <a:ext cx="8229600" cy="1371600"/>
          </a:xfrm>
          <a:prstGeom prst="rect">
            <a:avLst/>
          </a:prstGeom>
          <a:noFill/>
          <a:ln/>
        </p:spPr>
        <p:txBody>
          <a:bodyPr wrap="square" rtlCol="0" anchor="ctr"/>
          <a:lstStyle/>
          <a:p>
            <a:pPr algn="ctr" indent="0" marL="0">
              <a:buNone/>
            </a:pPr>
            <a:r>
              <a:rPr lang="en-US" sz="3600" b="1" dirty="0">
                <a:solidFill>
                  <a:srgbClr val="FFFFFF"/>
                </a:solidFill>
                <a:latin typeface="Cambria" pitchFamily="34" charset="0"/>
                <a:ea typeface="Cambria" pitchFamily="34" charset="-122"/>
                <a:cs typeface="Cambria" pitchFamily="34" charset="-120"/>
              </a:rPr>
              <a:t>Federal Commons Security and</a:t>
            </a:r>
            <a:endParaRPr lang="en-US" sz="3600" dirty="0"/>
          </a:p>
          <a:p>
            <a:pPr algn="ctr" indent="0" marL="0">
              <a:buNone/>
            </a:pPr>
            <a:r>
              <a:rPr lang="en-US" sz="3600" b="1" dirty="0">
                <a:solidFill>
                  <a:srgbClr val="FFFFFF"/>
                </a:solidFill>
                <a:latin typeface="Cambria" pitchFamily="34" charset="0"/>
                <a:ea typeface="Cambria" pitchFamily="34" charset="-122"/>
                <a:cs typeface="Cambria" pitchFamily="34" charset="-120"/>
              </a:rPr>
              <a:t>Automation Governance Act</a:t>
            </a:r>
            <a:endParaRPr lang="en-US" sz="3600" dirty="0"/>
          </a:p>
        </p:txBody>
      </p:sp>
      <p:sp>
        <p:nvSpPr>
          <p:cNvPr id="4" name="Shape 2"/>
          <p:cNvSpPr/>
          <p:nvPr/>
        </p:nvSpPr>
        <p:spPr>
          <a:xfrm>
            <a:off x="2286000" y="2743200"/>
            <a:ext cx="4572000" cy="0"/>
          </a:xfrm>
          <a:prstGeom prst="line">
            <a:avLst/>
          </a:prstGeom>
          <a:noFill/>
          <a:ln w="25400">
            <a:solidFill>
              <a:srgbClr val="A8C5E8"/>
            </a:solidFill>
            <a:prstDash val="solid"/>
          </a:ln>
        </p:spPr>
      </p:sp>
      <p:sp>
        <p:nvSpPr>
          <p:cNvPr id="5" name="Text 3"/>
          <p:cNvSpPr/>
          <p:nvPr/>
        </p:nvSpPr>
        <p:spPr>
          <a:xfrm>
            <a:off x="457200" y="2926080"/>
            <a:ext cx="8229600" cy="457200"/>
          </a:xfrm>
          <a:prstGeom prst="rect">
            <a:avLst/>
          </a:prstGeom>
          <a:noFill/>
          <a:ln/>
        </p:spPr>
        <p:txBody>
          <a:bodyPr wrap="square" rtlCol="0" anchor="ctr"/>
          <a:lstStyle/>
          <a:p>
            <a:pPr algn="ctr" indent="0" marL="0">
              <a:buNone/>
            </a:pPr>
            <a:r>
              <a:rPr lang="en-US" sz="1600" i="1" dirty="0">
                <a:solidFill>
                  <a:srgbClr val="A8C5E8"/>
                </a:solidFill>
                <a:latin typeface="Calibri" pitchFamily="34" charset="0"/>
                <a:ea typeface="Calibri" pitchFamily="34" charset="-122"/>
                <a:cs typeface="Calibri" pitchFamily="34" charset="-120"/>
              </a:rPr>
              <a:t>A Polycentric Commons Legislative Program — Vol. III</a:t>
            </a:r>
            <a:endParaRPr lang="en-US" sz="1600" dirty="0"/>
          </a:p>
        </p:txBody>
      </p:sp>
      <p:sp>
        <p:nvSpPr>
          <p:cNvPr id="6" name="Text 4"/>
          <p:cNvSpPr/>
          <p:nvPr/>
        </p:nvSpPr>
        <p:spPr>
          <a:xfrm>
            <a:off x="914400" y="3520440"/>
            <a:ext cx="7315200" cy="457200"/>
          </a:xfrm>
          <a:prstGeom prst="rect">
            <a:avLst/>
          </a:prstGeom>
          <a:noFill/>
          <a:ln/>
        </p:spPr>
        <p:txBody>
          <a:bodyPr wrap="square" rtlCol="0" anchor="ctr"/>
          <a:lstStyle/>
          <a:p>
            <a:pPr algn="ctr" indent="0" marL="0">
              <a:buNone/>
            </a:pPr>
            <a:r>
              <a:rPr lang="en-US" sz="1300" dirty="0">
                <a:solidFill>
                  <a:srgbClr val="F0F4F8"/>
                </a:solidFill>
                <a:latin typeface="Calibri" pitchFamily="34" charset="0"/>
                <a:ea typeface="Calibri" pitchFamily="34" charset="-122"/>
                <a:cs typeface="Calibri" pitchFamily="34" charset="-120"/>
              </a:rPr>
              <a:t>Dependent upon the FRDI Act (Vol. I) and HRCR Act (Vol. II)</a:t>
            </a:r>
            <a:endParaRPr lang="en-US" sz="1300" dirty="0"/>
          </a:p>
        </p:txBody>
      </p:sp>
      <p:sp>
        <p:nvSpPr>
          <p:cNvPr id="7" name="Text 5"/>
          <p:cNvSpPr/>
          <p:nvPr/>
        </p:nvSpPr>
        <p:spPr>
          <a:xfrm>
            <a:off x="914400" y="3977640"/>
            <a:ext cx="7315200" cy="548640"/>
          </a:xfrm>
          <a:prstGeom prst="rect">
            <a:avLst/>
          </a:prstGeom>
          <a:noFill/>
          <a:ln/>
        </p:spPr>
        <p:txBody>
          <a:bodyPr wrap="square" rtlCol="0" anchor="ctr"/>
          <a:lstStyle/>
          <a:p>
            <a:pPr algn="ctr" indent="0" marL="0">
              <a:buNone/>
            </a:pPr>
            <a:r>
              <a:rPr lang="en-US" sz="1200" dirty="0">
                <a:solidFill>
                  <a:srgbClr val="F0F4F8"/>
                </a:solidFill>
                <a:latin typeface="Calibri" pitchFamily="34" charset="0"/>
                <a:ea typeface="Calibri" pitchFamily="34" charset="-122"/>
                <a:cs typeface="Calibri" pitchFamily="34" charset="-120"/>
              </a:rPr>
              <a:t>Built on the Governance Design Principles of Elinor Ostrom</a:t>
            </a:r>
            <a:endParaRPr lang="en-US" sz="1200" dirty="0"/>
          </a:p>
          <a:p>
            <a:pPr algn="ctr" indent="0" marL="0">
              <a:buNone/>
            </a:pPr>
            <a:r>
              <a:rPr lang="en-US" sz="1200" dirty="0">
                <a:solidFill>
                  <a:srgbClr val="F0F4F8"/>
                </a:solidFill>
                <a:latin typeface="Calibri" pitchFamily="34" charset="0"/>
                <a:ea typeface="Calibri" pitchFamily="34" charset="-122"/>
                <a:cs typeface="Calibri" pitchFamily="34" charset="-120"/>
              </a:rPr>
              <a:t>Nobel Laureate in Economics, 2009</a:t>
            </a:r>
            <a:endParaRPr lang="en-US" sz="1200" dirty="0"/>
          </a:p>
        </p:txBody>
      </p:sp>
      <p:sp>
        <p:nvSpPr>
          <p:cNvPr id="8" name="Text 6"/>
          <p:cNvSpPr/>
          <p:nvPr/>
        </p:nvSpPr>
        <p:spPr>
          <a:xfrm>
            <a:off x="457200" y="4663440"/>
            <a:ext cx="8229600" cy="365760"/>
          </a:xfrm>
          <a:prstGeom prst="rect">
            <a:avLst/>
          </a:prstGeom>
          <a:noFill/>
          <a:ln/>
        </p:spPr>
        <p:txBody>
          <a:bodyPr wrap="square" rtlCol="0" anchor="ctr"/>
          <a:lstStyle/>
          <a:p>
            <a:pPr algn="ctr" indent="0" marL="0">
              <a:buNone/>
            </a:pPr>
            <a:r>
              <a:rPr lang="en-US" sz="1100" dirty="0">
                <a:solidFill>
                  <a:srgbClr val="6B8CAD"/>
                </a:solidFill>
                <a:latin typeface="Courier New" pitchFamily="34" charset="0"/>
                <a:ea typeface="Courier New" pitchFamily="34" charset="-122"/>
                <a:cs typeface="Courier New" pitchFamily="34" charset="-120"/>
              </a:rPr>
              <a:t>github.com/clg1980/LegislativeSequence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4A90D9"/>
        </a:solidFill>
      </p:bgPr>
    </p:bg>
    <p:spTree>
      <p:nvGrpSpPr>
        <p:cNvPr id="1" name=""/>
        <p:cNvGrpSpPr/>
        <p:nvPr/>
      </p:nvGrpSpPr>
      <p:grpSpPr>
        <a:xfrm>
          <a:off x="0" y="0"/>
          <a:ext cx="0" cy="0"/>
          <a:chOff x="0" y="0"/>
          <a:chExt cx="0" cy="0"/>
        </a:xfrm>
      </p:grpSpPr>
      <p:sp>
        <p:nvSpPr>
          <p:cNvPr id="2" name="Text 0"/>
          <p:cNvSpPr/>
          <p:nvPr/>
        </p:nvSpPr>
        <p:spPr>
          <a:xfrm>
            <a:off x="548640" y="640080"/>
            <a:ext cx="8046720" cy="411480"/>
          </a:xfrm>
          <a:prstGeom prst="rect">
            <a:avLst/>
          </a:prstGeom>
          <a:noFill/>
          <a:ln/>
        </p:spPr>
        <p:txBody>
          <a:bodyPr wrap="square" rtlCol="0" anchor="ctr"/>
          <a:lstStyle/>
          <a:p>
            <a:pPr indent="0" marL="0">
              <a:buNone/>
            </a:pPr>
            <a:r>
              <a:rPr lang="en-US" sz="1400" b="1" spc="400" kern="0" dirty="0">
                <a:solidFill>
                  <a:srgbClr val="FFFFFF"/>
                </a:solidFill>
                <a:latin typeface="Arial" pitchFamily="34" charset="0"/>
                <a:ea typeface="Arial" pitchFamily="34" charset="-122"/>
                <a:cs typeface="Arial" pitchFamily="34" charset="-120"/>
              </a:rPr>
              <a:t>Section I</a:t>
            </a:r>
            <a:endParaRPr lang="en-US" sz="1400" dirty="0"/>
          </a:p>
        </p:txBody>
      </p:sp>
      <p:sp>
        <p:nvSpPr>
          <p:cNvPr id="3" name="Text 1"/>
          <p:cNvSpPr/>
          <p:nvPr/>
        </p:nvSpPr>
        <p:spPr>
          <a:xfrm>
            <a:off x="548640" y="1097280"/>
            <a:ext cx="8046720" cy="1828800"/>
          </a:xfrm>
          <a:prstGeom prst="rect">
            <a:avLst/>
          </a:prstGeom>
          <a:noFill/>
          <a:ln/>
        </p:spPr>
        <p:txBody>
          <a:bodyPr wrap="square"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Constitutional</a:t>
            </a:r>
            <a:endParaRPr lang="en-US" sz="3400" dirty="0"/>
          </a:p>
          <a:p>
            <a:pPr indent="0" marL="0">
              <a:buNone/>
            </a:pPr>
            <a:r>
              <a:rPr lang="en-US" sz="3400" b="1" dirty="0">
                <a:solidFill>
                  <a:srgbClr val="FFFFFF"/>
                </a:solidFill>
                <a:latin typeface="Cambria" pitchFamily="34" charset="0"/>
                <a:ea typeface="Cambria" pitchFamily="34" charset="-122"/>
                <a:cs typeface="Cambria" pitchFamily="34" charset="-120"/>
              </a:rPr>
              <a:t>Basis</a:t>
            </a:r>
            <a:endParaRPr lang="en-US" sz="3400" dirty="0"/>
          </a:p>
        </p:txBody>
      </p:sp>
      <p:sp>
        <p:nvSpPr>
          <p:cNvPr id="4" name="Text 2"/>
          <p:cNvSpPr/>
          <p:nvPr/>
        </p:nvSpPr>
        <p:spPr>
          <a:xfrm>
            <a:off x="548640" y="3017520"/>
            <a:ext cx="8046720" cy="822960"/>
          </a:xfrm>
          <a:prstGeom prst="rect">
            <a:avLst/>
          </a:prstGeom>
          <a:noFill/>
          <a:ln/>
        </p:spPr>
        <p:txBody>
          <a:bodyPr wrap="square" rtlCol="0" anchor="ctr"/>
          <a:lstStyle/>
          <a:p>
            <a:pPr indent="0" marL="0">
              <a:buNone/>
            </a:pPr>
            <a:r>
              <a:rPr lang="en-US" sz="1500" i="1" dirty="0">
                <a:solidFill>
                  <a:srgbClr val="F0F4F8"/>
                </a:solidFill>
                <a:latin typeface="Calibri" pitchFamily="34" charset="0"/>
                <a:ea typeface="Calibri" pitchFamily="34" charset="-122"/>
                <a:cs typeface="Calibri" pitchFamily="34" charset="-120"/>
              </a:rPr>
              <a:t>Findings 1–4: Four constitutional provisions, four operative mandates</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457200" y="347472"/>
            <a:ext cx="1188720" cy="347472"/>
          </a:xfrm>
          <a:prstGeom prst="roundRect">
            <a:avLst>
              <a:gd name="adj" fmla="val 13158"/>
            </a:avLst>
          </a:prstGeom>
          <a:solidFill>
            <a:srgbClr val="1E3A5F"/>
          </a:solidFill>
          <a:ln/>
        </p:spPr>
      </p:sp>
      <p:sp>
        <p:nvSpPr>
          <p:cNvPr id="3" name="Text 1"/>
          <p:cNvSpPr/>
          <p:nvPr/>
        </p:nvSpPr>
        <p:spPr>
          <a:xfrm>
            <a:off x="457200" y="347472"/>
            <a:ext cx="118872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Finding 1</a:t>
            </a:r>
            <a:endParaRPr lang="en-US" sz="1000" dirty="0"/>
          </a:p>
        </p:txBody>
      </p:sp>
      <p:sp>
        <p:nvSpPr>
          <p:cNvPr id="4" name="Text 2"/>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0D1A2E"/>
                </a:solidFill>
                <a:latin typeface="Cambria" pitchFamily="34" charset="0"/>
                <a:ea typeface="Cambria" pitchFamily="34" charset="-122"/>
                <a:cs typeface="Cambria" pitchFamily="34" charset="-120"/>
              </a:rPr>
              <a:t>Article I §8: Defense Powers Serve the People, Not Monetary Arrangements</a:t>
            </a:r>
            <a:endParaRPr lang="en-US" sz="2200" dirty="0"/>
          </a:p>
        </p:txBody>
      </p:sp>
      <p:sp>
        <p:nvSpPr>
          <p:cNvPr id="5" name="Shape 3"/>
          <p:cNvSpPr/>
          <p:nvPr/>
        </p:nvSpPr>
        <p:spPr>
          <a:xfrm>
            <a:off x="457200" y="1554480"/>
            <a:ext cx="8229600" cy="0"/>
          </a:xfrm>
          <a:prstGeom prst="line">
            <a:avLst/>
          </a:prstGeom>
          <a:noFill/>
          <a:ln w="19050">
            <a:solidFill>
              <a:srgbClr val="4A90D9"/>
            </a:solidFill>
            <a:prstDash val="solid"/>
          </a:ln>
        </p:spPr>
      </p:sp>
      <p:pic>
        <p:nvPicPr>
          <p:cNvPr id="6" name="Image 0" descr="preencoded.png">    </p:cNvPr>
          <p:cNvPicPr>
            <a:picLocks noChangeAspect="1"/>
          </p:cNvPicPr>
          <p:nvPr/>
        </p:nvPicPr>
        <p:blipFill>
          <a:blip r:embed="rId1"/>
          <a:stretch>
            <a:fillRect/>
          </a:stretch>
        </p:blipFill>
        <p:spPr>
          <a:xfrm>
            <a:off x="7863840" y="301752"/>
            <a:ext cx="594360" cy="594360"/>
          </a:xfrm>
          <a:prstGeom prst="rect">
            <a:avLst/>
          </a:prstGeom>
        </p:spPr>
      </p:pic>
      <p:sp>
        <p:nvSpPr>
          <p:cNvPr id="7" name="Text 4"/>
          <p:cNvSpPr/>
          <p:nvPr/>
        </p:nvSpPr>
        <p:spPr>
          <a:xfrm>
            <a:off x="457200" y="1691640"/>
            <a:ext cx="8229600" cy="3218688"/>
          </a:xfrm>
          <a:prstGeom prst="rect">
            <a:avLst/>
          </a:prstGeom>
          <a:noFill/>
          <a:ln/>
        </p:spPr>
        <p:txBody>
          <a:bodyPr wrap="square" rtlCol="0" anchor="t"/>
          <a:lstStyle/>
          <a:p>
            <a:pPr algn="l" indent="0" marL="0">
              <a:lnSpc>
                <a:spcPct val="88000"/>
              </a:lnSpc>
              <a:buNone/>
            </a:pPr>
            <a:r>
              <a:rPr lang="en-US" sz="1350" dirty="0">
                <a:solidFill>
                  <a:srgbClr val="1A2332"/>
                </a:solidFill>
                <a:latin typeface="Calibri" pitchFamily="34" charset="0"/>
                <a:ea typeface="Calibri" pitchFamily="34" charset="-122"/>
                <a:cs typeface="Calibri" pitchFamily="34" charset="-120"/>
              </a:rPr>
              <a:t>The Constitution vests in Congress the power to provide for the common defense, raise armies, and maintain a navy. These powers are granted for the purpose of securing the safety and welfare of the American people — not for the purpose of maintaining any particular global monetary arrangement or projecting military power in service of private economic interests.</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A2332"/>
                </a:solidFill>
                <a:latin typeface="Calibri" pitchFamily="34" charset="0"/>
                <a:ea typeface="Calibri" pitchFamily="34" charset="-122"/>
                <a:cs typeface="Calibri" pitchFamily="34" charset="-120"/>
              </a:rPr>
              <a:t>The constitutional defense power has never authorized, and cannot sustain, a military posture whose primary function is the protection of the petrodollar system rather than the security of the American people.</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2EAF2"/>
        </a:solidFill>
      </p:bgPr>
    </p:bg>
    <p:spTree>
      <p:nvGrpSpPr>
        <p:cNvPr id="1" name=""/>
        <p:cNvGrpSpPr/>
        <p:nvPr/>
      </p:nvGrpSpPr>
      <p:grpSpPr>
        <a:xfrm>
          <a:off x="0" y="0"/>
          <a:ext cx="0" cy="0"/>
          <a:chOff x="0" y="0"/>
          <a:chExt cx="0" cy="0"/>
        </a:xfrm>
      </p:grpSpPr>
      <p:sp>
        <p:nvSpPr>
          <p:cNvPr id="2" name="Shape 0"/>
          <p:cNvSpPr/>
          <p:nvPr/>
        </p:nvSpPr>
        <p:spPr>
          <a:xfrm>
            <a:off x="457200" y="347472"/>
            <a:ext cx="1463040" cy="347472"/>
          </a:xfrm>
          <a:prstGeom prst="roundRect">
            <a:avLst>
              <a:gd name="adj" fmla="val 13158"/>
            </a:avLst>
          </a:prstGeom>
          <a:solidFill>
            <a:srgbClr val="2C4A6E"/>
          </a:solidFill>
          <a:ln/>
        </p:spPr>
      </p:sp>
      <p:sp>
        <p:nvSpPr>
          <p:cNvPr id="3" name="Text 1"/>
          <p:cNvSpPr/>
          <p:nvPr/>
        </p:nvSpPr>
        <p:spPr>
          <a:xfrm>
            <a:off x="457200" y="347472"/>
            <a:ext cx="146304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Mechanism</a:t>
            </a:r>
            <a:endParaRPr lang="en-US" sz="1000" dirty="0"/>
          </a:p>
        </p:txBody>
      </p:sp>
      <p:sp>
        <p:nvSpPr>
          <p:cNvPr id="4" name="Text 2"/>
          <p:cNvSpPr/>
          <p:nvPr/>
        </p:nvSpPr>
        <p:spPr>
          <a:xfrm>
            <a:off x="2011680" y="347472"/>
            <a:ext cx="6492240" cy="347472"/>
          </a:xfrm>
          <a:prstGeom prst="rect">
            <a:avLst/>
          </a:prstGeom>
          <a:noFill/>
          <a:ln/>
        </p:spPr>
        <p:txBody>
          <a:bodyPr wrap="square" rtlCol="0" anchor="ctr"/>
          <a:lstStyle/>
          <a:p>
            <a:pPr indent="0" marL="0">
              <a:buNone/>
            </a:pPr>
            <a:r>
              <a:rPr lang="en-US" sz="1000" dirty="0">
                <a:solidFill>
                  <a:srgbClr val="2C4A6E"/>
                </a:solidFill>
                <a:latin typeface="Calibri" pitchFamily="34" charset="0"/>
                <a:ea typeface="Calibri" pitchFamily="34" charset="-122"/>
                <a:cs typeface="Calibri" pitchFamily="34" charset="-120"/>
              </a:rPr>
              <a:t>Finding 1 → Title I § 101</a:t>
            </a:r>
            <a:endParaRPr lang="en-US" sz="1000" dirty="0"/>
          </a:p>
        </p:txBody>
      </p:sp>
      <p:sp>
        <p:nvSpPr>
          <p:cNvPr id="5" name="Text 3"/>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0D1A2E"/>
                </a:solidFill>
                <a:latin typeface="Cambria" pitchFamily="34" charset="0"/>
                <a:ea typeface="Cambria" pitchFamily="34" charset="-122"/>
                <a:cs typeface="Cambria" pitchFamily="34" charset="-120"/>
              </a:rPr>
              <a:t>What the Bill Does</a:t>
            </a:r>
            <a:endParaRPr lang="en-US" sz="2200" dirty="0"/>
          </a:p>
        </p:txBody>
      </p:sp>
      <p:sp>
        <p:nvSpPr>
          <p:cNvPr id="6" name="Shape 4"/>
          <p:cNvSpPr/>
          <p:nvPr/>
        </p:nvSpPr>
        <p:spPr>
          <a:xfrm>
            <a:off x="457200" y="1554480"/>
            <a:ext cx="8229600" cy="0"/>
          </a:xfrm>
          <a:prstGeom prst="line">
            <a:avLst/>
          </a:prstGeom>
          <a:noFill/>
          <a:ln w="19050">
            <a:solidFill>
              <a:srgbClr val="2C4A6E"/>
            </a:solidFill>
            <a:prstDash val="solid"/>
          </a:ln>
        </p:spPr>
      </p:sp>
      <p:sp>
        <p:nvSpPr>
          <p:cNvPr id="7" name="Text 5"/>
          <p:cNvSpPr/>
          <p:nvPr/>
        </p:nvSpPr>
        <p:spPr>
          <a:xfrm>
            <a:off x="457200" y="1691640"/>
            <a:ext cx="8229600" cy="2761488"/>
          </a:xfrm>
          <a:prstGeom prst="rect">
            <a:avLst/>
          </a:prstGeom>
          <a:noFill/>
          <a:ln/>
        </p:spPr>
        <p:txBody>
          <a:bodyPr wrap="square" rtlCol="0" anchor="t"/>
          <a:lstStyle/>
          <a:p>
            <a:pPr algn="l" indent="0" marL="0">
              <a:lnSpc>
                <a:spcPct val="88000"/>
              </a:lnSpc>
              <a:buNone/>
            </a:pPr>
            <a:r>
              <a:rPr lang="en-US" sz="1350" dirty="0">
                <a:solidFill>
                  <a:srgbClr val="1A2332"/>
                </a:solidFill>
                <a:latin typeface="Calibri" pitchFamily="34" charset="0"/>
                <a:ea typeface="Calibri" pitchFamily="34" charset="-122"/>
                <a:cs typeface="Calibri" pitchFamily="34" charset="-120"/>
              </a:rPr>
              <a:t>Section 101 establishes the Resilience-Based Defense Posture Declaration and Doctrine: a formal congressional declaration reorienting the primary mission of the United States Armed Forces from the protection and extension of the petrodollar system to the protection of the territorial integrity of the United States and its allies and the deterrence of direct attacks on commons infrastructure.</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A2332"/>
                </a:solidFill>
                <a:latin typeface="Calibri" pitchFamily="34" charset="0"/>
                <a:ea typeface="Calibri" pitchFamily="34" charset="-122"/>
                <a:cs typeface="Calibri" pitchFamily="34" charset="-120"/>
              </a:rPr>
              <a:t>The Declaration explicitly withdraws congressional authorization for the use of military force in connection with the protection of petroleum shipping lanes or the enforcement of dollar-denominated commodity market arrangements, and directs the Department of Defense to develop a force structure aligned with the resilience-based mission rather than the power-projection posture.</a:t>
            </a:r>
            <a:endParaRPr lang="en-US" sz="1350" dirty="0"/>
          </a:p>
        </p:txBody>
      </p:sp>
      <p:sp>
        <p:nvSpPr>
          <p:cNvPr id="8" name="Text 6"/>
          <p:cNvSpPr/>
          <p:nvPr/>
        </p:nvSpPr>
        <p:spPr>
          <a:xfrm>
            <a:off x="457200" y="4507992"/>
            <a:ext cx="8229600" cy="384048"/>
          </a:xfrm>
          <a:prstGeom prst="rect">
            <a:avLst/>
          </a:prstGeom>
          <a:noFill/>
          <a:ln/>
        </p:spPr>
        <p:txBody>
          <a:bodyPr wrap="square" rtlCol="0" anchor="ctr"/>
          <a:lstStyle/>
          <a:p>
            <a:pPr indent="0" marL="0">
              <a:buNone/>
            </a:pPr>
            <a:r>
              <a:rPr lang="en-US" sz="1000" dirty="0">
                <a:solidFill>
                  <a:srgbClr val="2C4A6E"/>
                </a:solidFill>
                <a:latin typeface="Courier New" pitchFamily="34" charset="0"/>
                <a:ea typeface="Courier New" pitchFamily="34" charset="-122"/>
                <a:cs typeface="Courier New" pitchFamily="34" charset="-120"/>
              </a:rPr>
              <a:t>Title I § 101</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457200" y="347472"/>
            <a:ext cx="1188720" cy="347472"/>
          </a:xfrm>
          <a:prstGeom prst="roundRect">
            <a:avLst>
              <a:gd name="adj" fmla="val 13158"/>
            </a:avLst>
          </a:prstGeom>
          <a:solidFill>
            <a:srgbClr val="1E3A5F"/>
          </a:solidFill>
          <a:ln/>
        </p:spPr>
      </p:sp>
      <p:sp>
        <p:nvSpPr>
          <p:cNvPr id="3" name="Text 1"/>
          <p:cNvSpPr/>
          <p:nvPr/>
        </p:nvSpPr>
        <p:spPr>
          <a:xfrm>
            <a:off x="457200" y="347472"/>
            <a:ext cx="118872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Finding 2</a:t>
            </a:r>
            <a:endParaRPr lang="en-US" sz="1000" dirty="0"/>
          </a:p>
        </p:txBody>
      </p:sp>
      <p:sp>
        <p:nvSpPr>
          <p:cNvPr id="4" name="Text 2"/>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0D1A2E"/>
                </a:solidFill>
                <a:latin typeface="Cambria" pitchFamily="34" charset="0"/>
                <a:ea typeface="Cambria" pitchFamily="34" charset="-122"/>
                <a:cs typeface="Cambria" pitchFamily="34" charset="-120"/>
              </a:rPr>
              <a:t>The Preamble: Defense Costs Borne by All, Benefits Flowing to Few</a:t>
            </a:r>
            <a:endParaRPr lang="en-US" sz="2200" dirty="0"/>
          </a:p>
        </p:txBody>
      </p:sp>
      <p:sp>
        <p:nvSpPr>
          <p:cNvPr id="5" name="Shape 3"/>
          <p:cNvSpPr/>
          <p:nvPr/>
        </p:nvSpPr>
        <p:spPr>
          <a:xfrm>
            <a:off x="457200" y="1554480"/>
            <a:ext cx="8229600" cy="0"/>
          </a:xfrm>
          <a:prstGeom prst="line">
            <a:avLst/>
          </a:prstGeom>
          <a:noFill/>
          <a:ln w="19050">
            <a:solidFill>
              <a:srgbClr val="4A90D9"/>
            </a:solidFill>
            <a:prstDash val="solid"/>
          </a:ln>
        </p:spPr>
      </p:sp>
      <p:pic>
        <p:nvPicPr>
          <p:cNvPr id="6" name="Image 0" descr="preencoded.png">    </p:cNvPr>
          <p:cNvPicPr>
            <a:picLocks noChangeAspect="1"/>
          </p:cNvPicPr>
          <p:nvPr/>
        </p:nvPicPr>
        <p:blipFill>
          <a:blip r:embed="rId1"/>
          <a:stretch>
            <a:fillRect/>
          </a:stretch>
        </p:blipFill>
        <p:spPr>
          <a:xfrm>
            <a:off x="7863840" y="301752"/>
            <a:ext cx="594360" cy="594360"/>
          </a:xfrm>
          <a:prstGeom prst="rect">
            <a:avLst/>
          </a:prstGeom>
        </p:spPr>
      </p:pic>
      <p:sp>
        <p:nvSpPr>
          <p:cNvPr id="7" name="Text 4"/>
          <p:cNvSpPr/>
          <p:nvPr/>
        </p:nvSpPr>
        <p:spPr>
          <a:xfrm>
            <a:off x="457200" y="1691640"/>
            <a:ext cx="8229600" cy="3218688"/>
          </a:xfrm>
          <a:prstGeom prst="rect">
            <a:avLst/>
          </a:prstGeom>
          <a:noFill/>
          <a:ln/>
        </p:spPr>
        <p:txBody>
          <a:bodyPr wrap="square" rtlCol="0" anchor="t"/>
          <a:lstStyle/>
          <a:p>
            <a:pPr algn="l" indent="0" marL="0">
              <a:lnSpc>
                <a:spcPct val="88000"/>
              </a:lnSpc>
              <a:buNone/>
            </a:pPr>
            <a:r>
              <a:rPr lang="en-US" sz="1350" dirty="0">
                <a:solidFill>
                  <a:srgbClr val="1A2332"/>
                </a:solidFill>
                <a:latin typeface="Calibri" pitchFamily="34" charset="0"/>
                <a:ea typeface="Calibri" pitchFamily="34" charset="-122"/>
                <a:cs typeface="Calibri" pitchFamily="34" charset="-120"/>
              </a:rPr>
              <a:t>The Preamble enumerates the purposes of the federal government as including the common defense, domestic tranquility, the general welfare, and the blessings of liberty. A defense posture oriented toward protecting petrodollar hegemony serves some of these purposes poorly and others not at all.</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A2332"/>
                </a:solidFill>
                <a:latin typeface="Calibri" pitchFamily="34" charset="0"/>
                <a:ea typeface="Calibri" pitchFamily="34" charset="-122"/>
                <a:cs typeface="Calibri" pitchFamily="34" charset="-120"/>
              </a:rPr>
              <a:t>No interpretation of the constitutional defense power can sustain indefinitely a military posture whose costs are borne by the general public while its primary benefits flow to the holders of dollar-denominated financial assets.</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2EAF2"/>
        </a:solidFill>
      </p:bgPr>
    </p:bg>
    <p:spTree>
      <p:nvGrpSpPr>
        <p:cNvPr id="1" name=""/>
        <p:cNvGrpSpPr/>
        <p:nvPr/>
      </p:nvGrpSpPr>
      <p:grpSpPr>
        <a:xfrm>
          <a:off x="0" y="0"/>
          <a:ext cx="0" cy="0"/>
          <a:chOff x="0" y="0"/>
          <a:chExt cx="0" cy="0"/>
        </a:xfrm>
      </p:grpSpPr>
      <p:sp>
        <p:nvSpPr>
          <p:cNvPr id="2" name="Shape 0"/>
          <p:cNvSpPr/>
          <p:nvPr/>
        </p:nvSpPr>
        <p:spPr>
          <a:xfrm>
            <a:off x="457200" y="347472"/>
            <a:ext cx="1463040" cy="347472"/>
          </a:xfrm>
          <a:prstGeom prst="roundRect">
            <a:avLst>
              <a:gd name="adj" fmla="val 13158"/>
            </a:avLst>
          </a:prstGeom>
          <a:solidFill>
            <a:srgbClr val="2C4A6E"/>
          </a:solidFill>
          <a:ln/>
        </p:spPr>
      </p:sp>
      <p:sp>
        <p:nvSpPr>
          <p:cNvPr id="3" name="Text 1"/>
          <p:cNvSpPr/>
          <p:nvPr/>
        </p:nvSpPr>
        <p:spPr>
          <a:xfrm>
            <a:off x="457200" y="347472"/>
            <a:ext cx="146304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Mechanism</a:t>
            </a:r>
            <a:endParaRPr lang="en-US" sz="1000" dirty="0"/>
          </a:p>
        </p:txBody>
      </p:sp>
      <p:sp>
        <p:nvSpPr>
          <p:cNvPr id="4" name="Text 2"/>
          <p:cNvSpPr/>
          <p:nvPr/>
        </p:nvSpPr>
        <p:spPr>
          <a:xfrm>
            <a:off x="2011680" y="347472"/>
            <a:ext cx="6492240" cy="347472"/>
          </a:xfrm>
          <a:prstGeom prst="rect">
            <a:avLst/>
          </a:prstGeom>
          <a:noFill/>
          <a:ln/>
        </p:spPr>
        <p:txBody>
          <a:bodyPr wrap="square" rtlCol="0" anchor="ctr"/>
          <a:lstStyle/>
          <a:p>
            <a:pPr indent="0" marL="0">
              <a:buNone/>
            </a:pPr>
            <a:r>
              <a:rPr lang="en-US" sz="1000" dirty="0">
                <a:solidFill>
                  <a:srgbClr val="2C4A6E"/>
                </a:solidFill>
                <a:latin typeface="Calibri" pitchFamily="34" charset="0"/>
                <a:ea typeface="Calibri" pitchFamily="34" charset="-122"/>
                <a:cs typeface="Calibri" pitchFamily="34" charset="-120"/>
              </a:rPr>
              <a:t>Finding 2 → Title I § 103</a:t>
            </a:r>
            <a:endParaRPr lang="en-US" sz="1000" dirty="0"/>
          </a:p>
        </p:txBody>
      </p:sp>
      <p:sp>
        <p:nvSpPr>
          <p:cNvPr id="5" name="Text 3"/>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0D1A2E"/>
                </a:solidFill>
                <a:latin typeface="Cambria" pitchFamily="34" charset="0"/>
                <a:ea typeface="Cambria" pitchFamily="34" charset="-122"/>
                <a:cs typeface="Cambria" pitchFamily="34" charset="-120"/>
              </a:rPr>
              <a:t>What the Bill Does</a:t>
            </a:r>
            <a:endParaRPr lang="en-US" sz="2200" dirty="0"/>
          </a:p>
        </p:txBody>
      </p:sp>
      <p:sp>
        <p:nvSpPr>
          <p:cNvPr id="6" name="Shape 4"/>
          <p:cNvSpPr/>
          <p:nvPr/>
        </p:nvSpPr>
        <p:spPr>
          <a:xfrm>
            <a:off x="457200" y="1554480"/>
            <a:ext cx="8229600" cy="0"/>
          </a:xfrm>
          <a:prstGeom prst="line">
            <a:avLst/>
          </a:prstGeom>
          <a:noFill/>
          <a:ln w="19050">
            <a:solidFill>
              <a:srgbClr val="2C4A6E"/>
            </a:solidFill>
            <a:prstDash val="solid"/>
          </a:ln>
        </p:spPr>
      </p:sp>
      <p:sp>
        <p:nvSpPr>
          <p:cNvPr id="7" name="Text 5"/>
          <p:cNvSpPr/>
          <p:nvPr/>
        </p:nvSpPr>
        <p:spPr>
          <a:xfrm>
            <a:off x="457200" y="1691640"/>
            <a:ext cx="8229600" cy="2761488"/>
          </a:xfrm>
          <a:prstGeom prst="rect">
            <a:avLst/>
          </a:prstGeom>
          <a:noFill/>
          <a:ln/>
        </p:spPr>
        <p:txBody>
          <a:bodyPr wrap="square" rtlCol="0" anchor="t"/>
          <a:lstStyle/>
          <a:p>
            <a:pPr algn="l" indent="0" marL="0">
              <a:lnSpc>
                <a:spcPct val="88000"/>
              </a:lnSpc>
              <a:buNone/>
            </a:pPr>
            <a:r>
              <a:rPr lang="en-US" sz="1350" dirty="0">
                <a:solidFill>
                  <a:srgbClr val="1A2332"/>
                </a:solidFill>
                <a:latin typeface="Calibri" pitchFamily="34" charset="0"/>
                <a:ea typeface="Calibri" pitchFamily="34" charset="-122"/>
                <a:cs typeface="Calibri" pitchFamily="34" charset="-120"/>
              </a:rPr>
              <a:t>Section 103 establishes the Force Structure Transition: a phased, mandatory reorientation of the United States military force structure from the current power-projection posture toward a resilience-based posture calibrated to the missions of territorial defense, deterrence of direct attacks, and protection of commons infrastructure.</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A2332"/>
                </a:solidFill>
                <a:latin typeface="Calibri" pitchFamily="34" charset="0"/>
                <a:ea typeface="Calibri" pitchFamily="34" charset="-122"/>
                <a:cs typeface="Calibri" pitchFamily="34" charset="-120"/>
              </a:rPr>
              <a:t>The transition includes: closure of overseas military bases whose primary strategic rationale is the protection of petroleum shipping lanes or dollar-denominated commodity markets; reorientation of procurement toward technologies appropriate to resilience-based defense; and the establishment of a Commons Infrastructure Defense Command responsible for coordinating the protection of Strategic Commons Infrastructure.</a:t>
            </a:r>
            <a:endParaRPr lang="en-US" sz="1350" dirty="0"/>
          </a:p>
        </p:txBody>
      </p:sp>
      <p:sp>
        <p:nvSpPr>
          <p:cNvPr id="8" name="Text 6"/>
          <p:cNvSpPr/>
          <p:nvPr/>
        </p:nvSpPr>
        <p:spPr>
          <a:xfrm>
            <a:off x="457200" y="4507992"/>
            <a:ext cx="8229600" cy="384048"/>
          </a:xfrm>
          <a:prstGeom prst="rect">
            <a:avLst/>
          </a:prstGeom>
          <a:noFill/>
          <a:ln/>
        </p:spPr>
        <p:txBody>
          <a:bodyPr wrap="square" rtlCol="0" anchor="ctr"/>
          <a:lstStyle/>
          <a:p>
            <a:pPr indent="0" marL="0">
              <a:buNone/>
            </a:pPr>
            <a:r>
              <a:rPr lang="en-US" sz="1000" dirty="0">
                <a:solidFill>
                  <a:srgbClr val="2C4A6E"/>
                </a:solidFill>
                <a:latin typeface="Courier New" pitchFamily="34" charset="0"/>
                <a:ea typeface="Courier New" pitchFamily="34" charset="-122"/>
                <a:cs typeface="Courier New" pitchFamily="34" charset="-120"/>
              </a:rPr>
              <a:t>Title I § 103</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457200" y="347472"/>
            <a:ext cx="1188720" cy="347472"/>
          </a:xfrm>
          <a:prstGeom prst="roundRect">
            <a:avLst>
              <a:gd name="adj" fmla="val 13158"/>
            </a:avLst>
          </a:prstGeom>
          <a:solidFill>
            <a:srgbClr val="1E3A5F"/>
          </a:solidFill>
          <a:ln/>
        </p:spPr>
      </p:sp>
      <p:sp>
        <p:nvSpPr>
          <p:cNvPr id="3" name="Text 1"/>
          <p:cNvSpPr/>
          <p:nvPr/>
        </p:nvSpPr>
        <p:spPr>
          <a:xfrm>
            <a:off x="457200" y="347472"/>
            <a:ext cx="118872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Finding 3</a:t>
            </a:r>
            <a:endParaRPr lang="en-US" sz="1000" dirty="0"/>
          </a:p>
        </p:txBody>
      </p:sp>
      <p:sp>
        <p:nvSpPr>
          <p:cNvPr id="4" name="Text 2"/>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0D1A2E"/>
                </a:solidFill>
                <a:latin typeface="Cambria" pitchFamily="34" charset="0"/>
                <a:ea typeface="Cambria" pitchFamily="34" charset="-122"/>
                <a:cs typeface="Cambria" pitchFamily="34" charset="-120"/>
              </a:rPr>
              <a:t>The Fifth Amendment: Automated Governance Violates Due Process</a:t>
            </a:r>
            <a:endParaRPr lang="en-US" sz="2200" dirty="0"/>
          </a:p>
        </p:txBody>
      </p:sp>
      <p:sp>
        <p:nvSpPr>
          <p:cNvPr id="5" name="Shape 3"/>
          <p:cNvSpPr/>
          <p:nvPr/>
        </p:nvSpPr>
        <p:spPr>
          <a:xfrm>
            <a:off x="457200" y="1554480"/>
            <a:ext cx="8229600" cy="0"/>
          </a:xfrm>
          <a:prstGeom prst="line">
            <a:avLst/>
          </a:prstGeom>
          <a:noFill/>
          <a:ln w="19050">
            <a:solidFill>
              <a:srgbClr val="4A90D9"/>
            </a:solidFill>
            <a:prstDash val="solid"/>
          </a:ln>
        </p:spPr>
      </p:sp>
      <p:pic>
        <p:nvPicPr>
          <p:cNvPr id="6" name="Image 0" descr="preencoded.png">    </p:cNvPr>
          <p:cNvPicPr>
            <a:picLocks noChangeAspect="1"/>
          </p:cNvPicPr>
          <p:nvPr/>
        </p:nvPicPr>
        <p:blipFill>
          <a:blip r:embed="rId1"/>
          <a:stretch>
            <a:fillRect/>
          </a:stretch>
        </p:blipFill>
        <p:spPr>
          <a:xfrm>
            <a:off x="7863840" y="301752"/>
            <a:ext cx="594360" cy="594360"/>
          </a:xfrm>
          <a:prstGeom prst="rect">
            <a:avLst/>
          </a:prstGeom>
        </p:spPr>
      </p:pic>
      <p:sp>
        <p:nvSpPr>
          <p:cNvPr id="7" name="Text 4"/>
          <p:cNvSpPr/>
          <p:nvPr/>
        </p:nvSpPr>
        <p:spPr>
          <a:xfrm>
            <a:off x="457200" y="1691640"/>
            <a:ext cx="8229600" cy="3218688"/>
          </a:xfrm>
          <a:prstGeom prst="rect">
            <a:avLst/>
          </a:prstGeom>
          <a:noFill/>
          <a:ln/>
        </p:spPr>
        <p:txBody>
          <a:bodyPr wrap="square" rtlCol="0" anchor="t"/>
          <a:lstStyle/>
          <a:p>
            <a:pPr algn="l" indent="0" marL="0">
              <a:lnSpc>
                <a:spcPct val="88000"/>
              </a:lnSpc>
              <a:buNone/>
            </a:pPr>
            <a:r>
              <a:rPr lang="en-US" sz="1350" dirty="0">
                <a:solidFill>
                  <a:srgbClr val="1A2332"/>
                </a:solidFill>
                <a:latin typeface="Calibri" pitchFamily="34" charset="0"/>
                <a:ea typeface="Calibri" pitchFamily="34" charset="-122"/>
                <a:cs typeface="Calibri" pitchFamily="34" charset="-120"/>
              </a:rPr>
              <a:t>The Fifth Amendment prohibits the deprivation of liberty without due process of law. Automated systems that make or substantially determine governmental decisions affecting individual rights without meaningful human review constitute a deprivation of liberty without the process that the Constitution demands.</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A2332"/>
                </a:solidFill>
                <a:latin typeface="Calibri" pitchFamily="34" charset="0"/>
                <a:ea typeface="Calibri" pitchFamily="34" charset="-122"/>
                <a:cs typeface="Calibri" pitchFamily="34" charset="-120"/>
              </a:rPr>
              <a:t>No efficiency argument can justify the replacement of constitutionally required human judgment with algorithmic determination. The Constitution requires human deliberation wherever governmental decisions affect individual liberty.</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2EAF2"/>
        </a:solidFill>
      </p:bgPr>
    </p:bg>
    <p:spTree>
      <p:nvGrpSpPr>
        <p:cNvPr id="1" name=""/>
        <p:cNvGrpSpPr/>
        <p:nvPr/>
      </p:nvGrpSpPr>
      <p:grpSpPr>
        <a:xfrm>
          <a:off x="0" y="0"/>
          <a:ext cx="0" cy="0"/>
          <a:chOff x="0" y="0"/>
          <a:chExt cx="0" cy="0"/>
        </a:xfrm>
      </p:grpSpPr>
      <p:sp>
        <p:nvSpPr>
          <p:cNvPr id="2" name="Shape 0"/>
          <p:cNvSpPr/>
          <p:nvPr/>
        </p:nvSpPr>
        <p:spPr>
          <a:xfrm>
            <a:off x="457200" y="347472"/>
            <a:ext cx="1463040" cy="347472"/>
          </a:xfrm>
          <a:prstGeom prst="roundRect">
            <a:avLst>
              <a:gd name="adj" fmla="val 13158"/>
            </a:avLst>
          </a:prstGeom>
          <a:solidFill>
            <a:srgbClr val="2C4A6E"/>
          </a:solidFill>
          <a:ln/>
        </p:spPr>
      </p:sp>
      <p:sp>
        <p:nvSpPr>
          <p:cNvPr id="3" name="Text 1"/>
          <p:cNvSpPr/>
          <p:nvPr/>
        </p:nvSpPr>
        <p:spPr>
          <a:xfrm>
            <a:off x="457200" y="347472"/>
            <a:ext cx="146304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Mechanism</a:t>
            </a:r>
            <a:endParaRPr lang="en-US" sz="1000" dirty="0"/>
          </a:p>
        </p:txBody>
      </p:sp>
      <p:sp>
        <p:nvSpPr>
          <p:cNvPr id="4" name="Text 2"/>
          <p:cNvSpPr/>
          <p:nvPr/>
        </p:nvSpPr>
        <p:spPr>
          <a:xfrm>
            <a:off x="2011680" y="347472"/>
            <a:ext cx="6492240" cy="347472"/>
          </a:xfrm>
          <a:prstGeom prst="rect">
            <a:avLst/>
          </a:prstGeom>
          <a:noFill/>
          <a:ln/>
        </p:spPr>
        <p:txBody>
          <a:bodyPr wrap="square" rtlCol="0" anchor="ctr"/>
          <a:lstStyle/>
          <a:p>
            <a:pPr indent="0" marL="0">
              <a:buNone/>
            </a:pPr>
            <a:r>
              <a:rPr lang="en-US" sz="1000" dirty="0">
                <a:solidFill>
                  <a:srgbClr val="2C4A6E"/>
                </a:solidFill>
                <a:latin typeface="Calibri" pitchFamily="34" charset="0"/>
                <a:ea typeface="Calibri" pitchFamily="34" charset="-122"/>
                <a:cs typeface="Calibri" pitchFamily="34" charset="-120"/>
              </a:rPr>
              <a:t>Finding 3 → Title IV § 404</a:t>
            </a:r>
            <a:endParaRPr lang="en-US" sz="1000" dirty="0"/>
          </a:p>
        </p:txBody>
      </p:sp>
      <p:sp>
        <p:nvSpPr>
          <p:cNvPr id="5" name="Text 3"/>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0D1A2E"/>
                </a:solidFill>
                <a:latin typeface="Cambria" pitchFamily="34" charset="0"/>
                <a:ea typeface="Cambria" pitchFamily="34" charset="-122"/>
                <a:cs typeface="Cambria" pitchFamily="34" charset="-120"/>
              </a:rPr>
              <a:t>What the Bill Does</a:t>
            </a:r>
            <a:endParaRPr lang="en-US" sz="2200" dirty="0"/>
          </a:p>
        </p:txBody>
      </p:sp>
      <p:sp>
        <p:nvSpPr>
          <p:cNvPr id="6" name="Shape 4"/>
          <p:cNvSpPr/>
          <p:nvPr/>
        </p:nvSpPr>
        <p:spPr>
          <a:xfrm>
            <a:off x="457200" y="1554480"/>
            <a:ext cx="8229600" cy="0"/>
          </a:xfrm>
          <a:prstGeom prst="line">
            <a:avLst/>
          </a:prstGeom>
          <a:noFill/>
          <a:ln w="19050">
            <a:solidFill>
              <a:srgbClr val="2C4A6E"/>
            </a:solidFill>
            <a:prstDash val="solid"/>
          </a:ln>
        </p:spPr>
      </p:sp>
      <p:sp>
        <p:nvSpPr>
          <p:cNvPr id="7" name="Text 5"/>
          <p:cNvSpPr/>
          <p:nvPr/>
        </p:nvSpPr>
        <p:spPr>
          <a:xfrm>
            <a:off x="457200" y="1691640"/>
            <a:ext cx="8229600" cy="2761488"/>
          </a:xfrm>
          <a:prstGeom prst="rect">
            <a:avLst/>
          </a:prstGeom>
          <a:noFill/>
          <a:ln/>
        </p:spPr>
        <p:txBody>
          <a:bodyPr wrap="square" rtlCol="0" anchor="t"/>
          <a:lstStyle/>
          <a:p>
            <a:pPr algn="l" indent="0" marL="0">
              <a:lnSpc>
                <a:spcPct val="88000"/>
              </a:lnSpc>
              <a:buNone/>
            </a:pPr>
            <a:r>
              <a:rPr lang="en-US" sz="1350" dirty="0">
                <a:solidFill>
                  <a:srgbClr val="1A2332"/>
                </a:solidFill>
                <a:latin typeface="Calibri" pitchFamily="34" charset="0"/>
                <a:ea typeface="Calibri" pitchFamily="34" charset="-122"/>
                <a:cs typeface="Calibri" pitchFamily="34" charset="-120"/>
              </a:rPr>
              <a:t>Section 404 establishes the Algorithmic Governance Prohibition: no automated system, algorithm, scoring instrument, or artificial intelligence platform may make or substantially determine any final governmental decision affecting the rights, benefits, obligations, or status of any individual Commons Member without meaningful human review and the opportunity for human override.</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A2332"/>
                </a:solidFill>
                <a:latin typeface="Calibri" pitchFamily="34" charset="0"/>
                <a:ea typeface="Calibri" pitchFamily="34" charset="-122"/>
                <a:cs typeface="Calibri" pitchFamily="34" charset="-120"/>
              </a:rPr>
              <a:t>The prohibition applies to: benefits eligibility determinations; accountability process outcomes; resource allocation decisions affecting individual members; governance participation records; and any other consequential determination affecting individual rights. Every automated determination is subject to mandatory human review within defined timeframes through the Human-in-the-Loop Layer established under the FRDI Act.</a:t>
            </a:r>
            <a:endParaRPr lang="en-US" sz="1350" dirty="0"/>
          </a:p>
        </p:txBody>
      </p:sp>
      <p:sp>
        <p:nvSpPr>
          <p:cNvPr id="8" name="Text 6"/>
          <p:cNvSpPr/>
          <p:nvPr/>
        </p:nvSpPr>
        <p:spPr>
          <a:xfrm>
            <a:off x="457200" y="4507992"/>
            <a:ext cx="8229600" cy="384048"/>
          </a:xfrm>
          <a:prstGeom prst="rect">
            <a:avLst/>
          </a:prstGeom>
          <a:noFill/>
          <a:ln/>
        </p:spPr>
        <p:txBody>
          <a:bodyPr wrap="square" rtlCol="0" anchor="ctr"/>
          <a:lstStyle/>
          <a:p>
            <a:pPr indent="0" marL="0">
              <a:buNone/>
            </a:pPr>
            <a:r>
              <a:rPr lang="en-US" sz="1000" dirty="0">
                <a:solidFill>
                  <a:srgbClr val="2C4A6E"/>
                </a:solidFill>
                <a:latin typeface="Courier New" pitchFamily="34" charset="0"/>
                <a:ea typeface="Courier New" pitchFamily="34" charset="-122"/>
                <a:cs typeface="Courier New" pitchFamily="34" charset="-120"/>
              </a:rPr>
              <a:t>Title IV § 404</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457200" y="347472"/>
            <a:ext cx="1188720" cy="347472"/>
          </a:xfrm>
          <a:prstGeom prst="roundRect">
            <a:avLst>
              <a:gd name="adj" fmla="val 13158"/>
            </a:avLst>
          </a:prstGeom>
          <a:solidFill>
            <a:srgbClr val="1E3A5F"/>
          </a:solidFill>
          <a:ln/>
        </p:spPr>
      </p:sp>
      <p:sp>
        <p:nvSpPr>
          <p:cNvPr id="3" name="Text 1"/>
          <p:cNvSpPr/>
          <p:nvPr/>
        </p:nvSpPr>
        <p:spPr>
          <a:xfrm>
            <a:off x="457200" y="347472"/>
            <a:ext cx="118872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Finding 4</a:t>
            </a:r>
            <a:endParaRPr lang="en-US" sz="1000" dirty="0"/>
          </a:p>
        </p:txBody>
      </p:sp>
      <p:sp>
        <p:nvSpPr>
          <p:cNvPr id="4" name="Text 2"/>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0D1A2E"/>
                </a:solidFill>
                <a:latin typeface="Cambria" pitchFamily="34" charset="0"/>
                <a:ea typeface="Cambria" pitchFamily="34" charset="-122"/>
                <a:cs typeface="Cambria" pitchFamily="34" charset="-120"/>
              </a:rPr>
              <a:t>The First and Fourth Amendments: Mass Surveillance Is Unconstitutional at Scale</a:t>
            </a:r>
            <a:endParaRPr lang="en-US" sz="2200" dirty="0"/>
          </a:p>
        </p:txBody>
      </p:sp>
      <p:sp>
        <p:nvSpPr>
          <p:cNvPr id="5" name="Shape 3"/>
          <p:cNvSpPr/>
          <p:nvPr/>
        </p:nvSpPr>
        <p:spPr>
          <a:xfrm>
            <a:off x="457200" y="1554480"/>
            <a:ext cx="8229600" cy="0"/>
          </a:xfrm>
          <a:prstGeom prst="line">
            <a:avLst/>
          </a:prstGeom>
          <a:noFill/>
          <a:ln w="19050">
            <a:solidFill>
              <a:srgbClr val="4A90D9"/>
            </a:solidFill>
            <a:prstDash val="solid"/>
          </a:ln>
        </p:spPr>
      </p:sp>
      <p:pic>
        <p:nvPicPr>
          <p:cNvPr id="6" name="Image 0" descr="preencoded.png">    </p:cNvPr>
          <p:cNvPicPr>
            <a:picLocks noChangeAspect="1"/>
          </p:cNvPicPr>
          <p:nvPr/>
        </p:nvPicPr>
        <p:blipFill>
          <a:blip r:embed="rId1"/>
          <a:stretch>
            <a:fillRect/>
          </a:stretch>
        </p:blipFill>
        <p:spPr>
          <a:xfrm>
            <a:off x="7863840" y="301752"/>
            <a:ext cx="594360" cy="594360"/>
          </a:xfrm>
          <a:prstGeom prst="rect">
            <a:avLst/>
          </a:prstGeom>
        </p:spPr>
      </p:pic>
      <p:sp>
        <p:nvSpPr>
          <p:cNvPr id="7" name="Text 4"/>
          <p:cNvSpPr/>
          <p:nvPr/>
        </p:nvSpPr>
        <p:spPr>
          <a:xfrm>
            <a:off x="457200" y="1691640"/>
            <a:ext cx="8229600" cy="3218688"/>
          </a:xfrm>
          <a:prstGeom prst="rect">
            <a:avLst/>
          </a:prstGeom>
          <a:noFill/>
          <a:ln/>
        </p:spPr>
        <p:txBody>
          <a:bodyPr wrap="square" rtlCol="0" anchor="t"/>
          <a:lstStyle/>
          <a:p>
            <a:pPr algn="l" indent="0" marL="0">
              <a:lnSpc>
                <a:spcPct val="88000"/>
              </a:lnSpc>
              <a:buNone/>
            </a:pPr>
            <a:r>
              <a:rPr lang="en-US" sz="1350" dirty="0">
                <a:solidFill>
                  <a:srgbClr val="1A2332"/>
                </a:solidFill>
                <a:latin typeface="Calibri" pitchFamily="34" charset="0"/>
                <a:ea typeface="Calibri" pitchFamily="34" charset="-122"/>
                <a:cs typeface="Calibri" pitchFamily="34" charset="-120"/>
              </a:rPr>
              <a:t>The First and Fourth Amendments protect the freedom of association and the right of the people to be secure against unreasonable searches. Mass surveillance architectures — whether operated by governmental actors directly or by private entities under governmental direction or inducement — constitute ongoing violations of these protections at a scale unprecedented in the history of constitutional governance.</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2EAF2"/>
        </a:solidFill>
      </p:bgPr>
    </p:bg>
    <p:spTree>
      <p:nvGrpSpPr>
        <p:cNvPr id="1" name=""/>
        <p:cNvGrpSpPr/>
        <p:nvPr/>
      </p:nvGrpSpPr>
      <p:grpSpPr>
        <a:xfrm>
          <a:off x="0" y="0"/>
          <a:ext cx="0" cy="0"/>
          <a:chOff x="0" y="0"/>
          <a:chExt cx="0" cy="0"/>
        </a:xfrm>
      </p:grpSpPr>
      <p:sp>
        <p:nvSpPr>
          <p:cNvPr id="2" name="Shape 0"/>
          <p:cNvSpPr/>
          <p:nvPr/>
        </p:nvSpPr>
        <p:spPr>
          <a:xfrm>
            <a:off x="457200" y="347472"/>
            <a:ext cx="1463040" cy="347472"/>
          </a:xfrm>
          <a:prstGeom prst="roundRect">
            <a:avLst>
              <a:gd name="adj" fmla="val 13158"/>
            </a:avLst>
          </a:prstGeom>
          <a:solidFill>
            <a:srgbClr val="2C4A6E"/>
          </a:solidFill>
          <a:ln/>
        </p:spPr>
      </p:sp>
      <p:sp>
        <p:nvSpPr>
          <p:cNvPr id="3" name="Text 1"/>
          <p:cNvSpPr/>
          <p:nvPr/>
        </p:nvSpPr>
        <p:spPr>
          <a:xfrm>
            <a:off x="457200" y="347472"/>
            <a:ext cx="146304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Mechanism</a:t>
            </a:r>
            <a:endParaRPr lang="en-US" sz="1000" dirty="0"/>
          </a:p>
        </p:txBody>
      </p:sp>
      <p:sp>
        <p:nvSpPr>
          <p:cNvPr id="4" name="Text 2"/>
          <p:cNvSpPr/>
          <p:nvPr/>
        </p:nvSpPr>
        <p:spPr>
          <a:xfrm>
            <a:off x="2011680" y="347472"/>
            <a:ext cx="6492240" cy="347472"/>
          </a:xfrm>
          <a:prstGeom prst="rect">
            <a:avLst/>
          </a:prstGeom>
          <a:noFill/>
          <a:ln/>
        </p:spPr>
        <p:txBody>
          <a:bodyPr wrap="square" rtlCol="0" anchor="ctr"/>
          <a:lstStyle/>
          <a:p>
            <a:pPr indent="0" marL="0">
              <a:buNone/>
            </a:pPr>
            <a:r>
              <a:rPr lang="en-US" sz="1000" dirty="0">
                <a:solidFill>
                  <a:srgbClr val="2C4A6E"/>
                </a:solidFill>
                <a:latin typeface="Calibri" pitchFamily="34" charset="0"/>
                <a:ea typeface="Calibri" pitchFamily="34" charset="-122"/>
                <a:cs typeface="Calibri" pitchFamily="34" charset="-120"/>
              </a:rPr>
              <a:t>Finding 4 → Title I § 104, Title II § 206</a:t>
            </a:r>
            <a:endParaRPr lang="en-US" sz="1000" dirty="0"/>
          </a:p>
        </p:txBody>
      </p:sp>
      <p:sp>
        <p:nvSpPr>
          <p:cNvPr id="5" name="Text 3"/>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0D1A2E"/>
                </a:solidFill>
                <a:latin typeface="Cambria" pitchFamily="34" charset="0"/>
                <a:ea typeface="Cambria" pitchFamily="34" charset="-122"/>
                <a:cs typeface="Cambria" pitchFamily="34" charset="-120"/>
              </a:rPr>
              <a:t>What the Bill Does</a:t>
            </a:r>
            <a:endParaRPr lang="en-US" sz="2200" dirty="0"/>
          </a:p>
        </p:txBody>
      </p:sp>
      <p:sp>
        <p:nvSpPr>
          <p:cNvPr id="6" name="Shape 4"/>
          <p:cNvSpPr/>
          <p:nvPr/>
        </p:nvSpPr>
        <p:spPr>
          <a:xfrm>
            <a:off x="457200" y="1554480"/>
            <a:ext cx="8229600" cy="0"/>
          </a:xfrm>
          <a:prstGeom prst="line">
            <a:avLst/>
          </a:prstGeom>
          <a:noFill/>
          <a:ln w="19050">
            <a:solidFill>
              <a:srgbClr val="2C4A6E"/>
            </a:solidFill>
            <a:prstDash val="solid"/>
          </a:ln>
        </p:spPr>
      </p:sp>
      <p:sp>
        <p:nvSpPr>
          <p:cNvPr id="7" name="Text 5"/>
          <p:cNvSpPr/>
          <p:nvPr/>
        </p:nvSpPr>
        <p:spPr>
          <a:xfrm>
            <a:off x="457200" y="1691640"/>
            <a:ext cx="8229600" cy="2761488"/>
          </a:xfrm>
          <a:prstGeom prst="rect">
            <a:avLst/>
          </a:prstGeom>
          <a:noFill/>
          <a:ln/>
        </p:spPr>
        <p:txBody>
          <a:bodyPr wrap="square" rtlCol="0" anchor="t"/>
          <a:lstStyle/>
          <a:p>
            <a:pPr algn="l" indent="0" marL="0">
              <a:lnSpc>
                <a:spcPct val="88000"/>
              </a:lnSpc>
              <a:buNone/>
            </a:pPr>
            <a:r>
              <a:rPr lang="en-US" sz="1350" dirty="0">
                <a:solidFill>
                  <a:srgbClr val="1A2332"/>
                </a:solidFill>
                <a:latin typeface="Calibri" pitchFamily="34" charset="0"/>
                <a:ea typeface="Calibri" pitchFamily="34" charset="-122"/>
                <a:cs typeface="Calibri" pitchFamily="34" charset="-120"/>
              </a:rPr>
              <a:t>Section 104 establishes Intelligence Apparatus Reform: the Director of National Intelligence is directed to terminate all programs of bulk collection of data on United States persons without individualized suspicion, convert existing intelligence infrastructure to the commons-governed Analytics Commons, and submit a compliance certification to Congress.</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A2332"/>
                </a:solidFill>
                <a:latin typeface="Calibri" pitchFamily="34" charset="0"/>
                <a:ea typeface="Calibri" pitchFamily="34" charset="-122"/>
                <a:cs typeface="Calibri" pitchFamily="34" charset="-120"/>
              </a:rPr>
              <a:t>Section 206 establishes Protection of Commons Governance from Infiltration: all Qualified Federated Network governance processes, membership records, and collective-choice proceedings are designated as protected under the First Amendment's freedom of association, prohibiting governmental monitoring, infiltration, or disruption of QFN governance without individualized judicial authorization.</a:t>
            </a:r>
            <a:endParaRPr lang="en-US" sz="1350" dirty="0"/>
          </a:p>
        </p:txBody>
      </p:sp>
      <p:sp>
        <p:nvSpPr>
          <p:cNvPr id="8" name="Text 6"/>
          <p:cNvSpPr/>
          <p:nvPr/>
        </p:nvSpPr>
        <p:spPr>
          <a:xfrm>
            <a:off x="457200" y="4507992"/>
            <a:ext cx="8229600" cy="384048"/>
          </a:xfrm>
          <a:prstGeom prst="rect">
            <a:avLst/>
          </a:prstGeom>
          <a:noFill/>
          <a:ln/>
        </p:spPr>
        <p:txBody>
          <a:bodyPr wrap="square" rtlCol="0" anchor="ctr"/>
          <a:lstStyle/>
          <a:p>
            <a:pPr indent="0" marL="0">
              <a:buNone/>
            </a:pPr>
            <a:r>
              <a:rPr lang="en-US" sz="1000" dirty="0">
                <a:solidFill>
                  <a:srgbClr val="2C4A6E"/>
                </a:solidFill>
                <a:latin typeface="Courier New" pitchFamily="34" charset="0"/>
                <a:ea typeface="Courier New" pitchFamily="34" charset="-122"/>
                <a:cs typeface="Courier New" pitchFamily="34" charset="-120"/>
              </a:rPr>
              <a:t>Title I § 104 · Title II § 206</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4A90D9"/>
        </a:solidFill>
      </p:bgPr>
    </p:bg>
    <p:spTree>
      <p:nvGrpSpPr>
        <p:cNvPr id="1" name=""/>
        <p:cNvGrpSpPr/>
        <p:nvPr/>
      </p:nvGrpSpPr>
      <p:grpSpPr>
        <a:xfrm>
          <a:off x="0" y="0"/>
          <a:ext cx="0" cy="0"/>
          <a:chOff x="0" y="0"/>
          <a:chExt cx="0" cy="0"/>
        </a:xfrm>
      </p:grpSpPr>
      <p:sp>
        <p:nvSpPr>
          <p:cNvPr id="2" name="Text 0"/>
          <p:cNvSpPr/>
          <p:nvPr/>
        </p:nvSpPr>
        <p:spPr>
          <a:xfrm>
            <a:off x="548640" y="640080"/>
            <a:ext cx="8046720" cy="411480"/>
          </a:xfrm>
          <a:prstGeom prst="rect">
            <a:avLst/>
          </a:prstGeom>
          <a:noFill/>
          <a:ln/>
        </p:spPr>
        <p:txBody>
          <a:bodyPr wrap="square" rtlCol="0" anchor="ctr"/>
          <a:lstStyle/>
          <a:p>
            <a:pPr indent="0" marL="0">
              <a:buNone/>
            </a:pPr>
            <a:r>
              <a:rPr lang="en-US" sz="1400" b="1" spc="400" kern="0" dirty="0">
                <a:solidFill>
                  <a:srgbClr val="FFFFFF"/>
                </a:solidFill>
                <a:latin typeface="Arial" pitchFamily="34" charset="0"/>
                <a:ea typeface="Arial" pitchFamily="34" charset="-122"/>
                <a:cs typeface="Arial" pitchFamily="34" charset="-120"/>
              </a:rPr>
              <a:t>Section II</a:t>
            </a:r>
            <a:endParaRPr lang="en-US" sz="1400" dirty="0"/>
          </a:p>
        </p:txBody>
      </p:sp>
      <p:sp>
        <p:nvSpPr>
          <p:cNvPr id="3" name="Text 1"/>
          <p:cNvSpPr/>
          <p:nvPr/>
        </p:nvSpPr>
        <p:spPr>
          <a:xfrm>
            <a:off x="548640" y="1097280"/>
            <a:ext cx="8046720" cy="1828800"/>
          </a:xfrm>
          <a:prstGeom prst="rect">
            <a:avLst/>
          </a:prstGeom>
          <a:noFill/>
          <a:ln/>
        </p:spPr>
        <p:txBody>
          <a:bodyPr wrap="square"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The Strategic Rationale</a:t>
            </a:r>
            <a:endParaRPr lang="en-US" sz="3400" dirty="0"/>
          </a:p>
          <a:p>
            <a:pPr indent="0" marL="0">
              <a:buNone/>
            </a:pPr>
            <a:r>
              <a:rPr lang="en-US" sz="3400" b="1" dirty="0">
                <a:solidFill>
                  <a:srgbClr val="FFFFFF"/>
                </a:solidFill>
                <a:latin typeface="Cambria" pitchFamily="34" charset="0"/>
                <a:ea typeface="Cambria" pitchFamily="34" charset="-122"/>
                <a:cs typeface="Cambria" pitchFamily="34" charset="-120"/>
              </a:rPr>
              <a:t>for Defense Posture</a:t>
            </a:r>
            <a:endParaRPr lang="en-US" sz="3400" dirty="0"/>
          </a:p>
          <a:p>
            <a:pPr indent="0" marL="0">
              <a:buNone/>
            </a:pPr>
            <a:r>
              <a:rPr lang="en-US" sz="3400" b="1" dirty="0">
                <a:solidFill>
                  <a:srgbClr val="FFFFFF"/>
                </a:solidFill>
                <a:latin typeface="Cambria" pitchFamily="34" charset="0"/>
                <a:ea typeface="Cambria" pitchFamily="34" charset="-122"/>
                <a:cs typeface="Cambria" pitchFamily="34" charset="-120"/>
              </a:rPr>
              <a:t>Reorientation</a:t>
            </a:r>
            <a:endParaRPr lang="en-US" sz="3400" dirty="0"/>
          </a:p>
        </p:txBody>
      </p:sp>
      <p:sp>
        <p:nvSpPr>
          <p:cNvPr id="4" name="Text 2"/>
          <p:cNvSpPr/>
          <p:nvPr/>
        </p:nvSpPr>
        <p:spPr>
          <a:xfrm>
            <a:off x="548640" y="3017520"/>
            <a:ext cx="8046720" cy="822960"/>
          </a:xfrm>
          <a:prstGeom prst="rect">
            <a:avLst/>
          </a:prstGeom>
          <a:noFill/>
          <a:ln/>
        </p:spPr>
        <p:txBody>
          <a:bodyPr wrap="square" rtlCol="0" anchor="ctr"/>
          <a:lstStyle/>
          <a:p>
            <a:pPr indent="0" marL="0">
              <a:buNone/>
            </a:pPr>
            <a:r>
              <a:rPr lang="en-US" sz="1500" i="1" dirty="0">
                <a:solidFill>
                  <a:srgbClr val="F0F4F8"/>
                </a:solidFill>
                <a:latin typeface="Calibri" pitchFamily="34" charset="0"/>
                <a:ea typeface="Calibri" pitchFamily="34" charset="-122"/>
                <a:cs typeface="Calibri" pitchFamily="34" charset="-120"/>
              </a:rPr>
              <a:t>Findings 5–10: The empirical and strategic case</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457200" y="347472"/>
            <a:ext cx="1188720" cy="347472"/>
          </a:xfrm>
          <a:prstGeom prst="roundRect">
            <a:avLst>
              <a:gd name="adj" fmla="val 13158"/>
            </a:avLst>
          </a:prstGeom>
          <a:solidFill>
            <a:srgbClr val="1E3A5F"/>
          </a:solidFill>
          <a:ln/>
        </p:spPr>
      </p:sp>
      <p:sp>
        <p:nvSpPr>
          <p:cNvPr id="3" name="Text 1"/>
          <p:cNvSpPr/>
          <p:nvPr/>
        </p:nvSpPr>
        <p:spPr>
          <a:xfrm>
            <a:off x="457200" y="347472"/>
            <a:ext cx="118872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Finding 5</a:t>
            </a:r>
            <a:endParaRPr lang="en-US" sz="1000" dirty="0"/>
          </a:p>
        </p:txBody>
      </p:sp>
      <p:sp>
        <p:nvSpPr>
          <p:cNvPr id="4" name="Text 2"/>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0D1A2E"/>
                </a:solidFill>
                <a:latin typeface="Cambria" pitchFamily="34" charset="0"/>
                <a:ea typeface="Cambria" pitchFamily="34" charset="-122"/>
                <a:cs typeface="Cambria" pitchFamily="34" charset="-120"/>
              </a:rPr>
              <a:t>The Petrodollar Defense Posture: What It Is and What It Costs</a:t>
            </a:r>
            <a:endParaRPr lang="en-US" sz="2200" dirty="0"/>
          </a:p>
        </p:txBody>
      </p:sp>
      <p:sp>
        <p:nvSpPr>
          <p:cNvPr id="5" name="Shape 3"/>
          <p:cNvSpPr/>
          <p:nvPr/>
        </p:nvSpPr>
        <p:spPr>
          <a:xfrm>
            <a:off x="457200" y="1554480"/>
            <a:ext cx="8229600" cy="0"/>
          </a:xfrm>
          <a:prstGeom prst="line">
            <a:avLst/>
          </a:prstGeom>
          <a:noFill/>
          <a:ln w="19050">
            <a:solidFill>
              <a:srgbClr val="4A90D9"/>
            </a:solidFill>
            <a:prstDash val="solid"/>
          </a:ln>
        </p:spPr>
      </p:sp>
      <p:pic>
        <p:nvPicPr>
          <p:cNvPr id="6" name="Image 0" descr="preencoded.png">    </p:cNvPr>
          <p:cNvPicPr>
            <a:picLocks noChangeAspect="1"/>
          </p:cNvPicPr>
          <p:nvPr/>
        </p:nvPicPr>
        <p:blipFill>
          <a:blip r:embed="rId1"/>
          <a:stretch>
            <a:fillRect/>
          </a:stretch>
        </p:blipFill>
        <p:spPr>
          <a:xfrm>
            <a:off x="7863840" y="301752"/>
            <a:ext cx="594360" cy="594360"/>
          </a:xfrm>
          <a:prstGeom prst="rect">
            <a:avLst/>
          </a:prstGeom>
        </p:spPr>
      </p:pic>
      <p:sp>
        <p:nvSpPr>
          <p:cNvPr id="7" name="Text 4"/>
          <p:cNvSpPr/>
          <p:nvPr/>
        </p:nvSpPr>
        <p:spPr>
          <a:xfrm>
            <a:off x="457200" y="1691640"/>
            <a:ext cx="8229600" cy="3218688"/>
          </a:xfrm>
          <a:prstGeom prst="rect">
            <a:avLst/>
          </a:prstGeom>
          <a:noFill/>
          <a:ln/>
        </p:spPr>
        <p:txBody>
          <a:bodyPr wrap="square" rtlCol="0" anchor="t"/>
          <a:lstStyle/>
          <a:p>
            <a:pPr algn="l" indent="0" marL="0">
              <a:lnSpc>
                <a:spcPct val="88000"/>
              </a:lnSpc>
              <a:buNone/>
            </a:pPr>
            <a:r>
              <a:rPr lang="en-US" sz="1350" dirty="0">
                <a:solidFill>
                  <a:srgbClr val="1A2332"/>
                </a:solidFill>
                <a:latin typeface="Calibri" pitchFamily="34" charset="0"/>
                <a:ea typeface="Calibri" pitchFamily="34" charset="-122"/>
                <a:cs typeface="Calibri" pitchFamily="34" charset="-120"/>
              </a:rPr>
              <a:t>The military posture of the United States has been organized, since at least the early 1970s, substantially around the protection and extension of the petrodollar system: the arrangement by which global energy markets are denominated in United States dollars, generating sustained global demand for dollar-denominated assets and enabling the United States to finance its government and trade deficits through currency issuance.</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A2332"/>
                </a:solidFill>
                <a:latin typeface="Calibri" pitchFamily="34" charset="0"/>
                <a:ea typeface="Calibri" pitchFamily="34" charset="-122"/>
                <a:cs typeface="Calibri" pitchFamily="34" charset="-120"/>
              </a:rPr>
              <a:t>The maintenance of this arrangement has required the deployment of military force, overseas basing infrastructure, and alliance relationships whose primary purpose is the protection of dollar hegemony rather than the mutual security of allied peoples.</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2EAF2"/>
        </a:solidFill>
      </p:bgPr>
    </p:bg>
    <p:spTree>
      <p:nvGrpSpPr>
        <p:cNvPr id="1" name=""/>
        <p:cNvGrpSpPr/>
        <p:nvPr/>
      </p:nvGrpSpPr>
      <p:grpSpPr>
        <a:xfrm>
          <a:off x="0" y="0"/>
          <a:ext cx="0" cy="0"/>
          <a:chOff x="0" y="0"/>
          <a:chExt cx="0" cy="0"/>
        </a:xfrm>
      </p:grpSpPr>
      <p:sp>
        <p:nvSpPr>
          <p:cNvPr id="2" name="Shape 0"/>
          <p:cNvSpPr/>
          <p:nvPr/>
        </p:nvSpPr>
        <p:spPr>
          <a:xfrm>
            <a:off x="457200" y="347472"/>
            <a:ext cx="1463040" cy="347472"/>
          </a:xfrm>
          <a:prstGeom prst="roundRect">
            <a:avLst>
              <a:gd name="adj" fmla="val 13158"/>
            </a:avLst>
          </a:prstGeom>
          <a:solidFill>
            <a:srgbClr val="2C4A6E"/>
          </a:solidFill>
          <a:ln/>
        </p:spPr>
      </p:sp>
      <p:sp>
        <p:nvSpPr>
          <p:cNvPr id="3" name="Text 1"/>
          <p:cNvSpPr/>
          <p:nvPr/>
        </p:nvSpPr>
        <p:spPr>
          <a:xfrm>
            <a:off x="457200" y="347472"/>
            <a:ext cx="146304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Mechanism</a:t>
            </a:r>
            <a:endParaRPr lang="en-US" sz="1000" dirty="0"/>
          </a:p>
        </p:txBody>
      </p:sp>
      <p:sp>
        <p:nvSpPr>
          <p:cNvPr id="4" name="Text 2"/>
          <p:cNvSpPr/>
          <p:nvPr/>
        </p:nvSpPr>
        <p:spPr>
          <a:xfrm>
            <a:off x="2011680" y="347472"/>
            <a:ext cx="6492240" cy="347472"/>
          </a:xfrm>
          <a:prstGeom prst="rect">
            <a:avLst/>
          </a:prstGeom>
          <a:noFill/>
          <a:ln/>
        </p:spPr>
        <p:txBody>
          <a:bodyPr wrap="square" rtlCol="0" anchor="ctr"/>
          <a:lstStyle/>
          <a:p>
            <a:pPr indent="0" marL="0">
              <a:buNone/>
            </a:pPr>
            <a:r>
              <a:rPr lang="en-US" sz="1000" dirty="0">
                <a:solidFill>
                  <a:srgbClr val="2C4A6E"/>
                </a:solidFill>
                <a:latin typeface="Calibri" pitchFamily="34" charset="0"/>
                <a:ea typeface="Calibri" pitchFamily="34" charset="-122"/>
                <a:cs typeface="Calibri" pitchFamily="34" charset="-120"/>
              </a:rPr>
              <a:t>Finding 5 → Title I § 101, 103</a:t>
            </a:r>
            <a:endParaRPr lang="en-US" sz="1000" dirty="0"/>
          </a:p>
        </p:txBody>
      </p:sp>
      <p:sp>
        <p:nvSpPr>
          <p:cNvPr id="5" name="Text 3"/>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0D1A2E"/>
                </a:solidFill>
                <a:latin typeface="Cambria" pitchFamily="34" charset="0"/>
                <a:ea typeface="Cambria" pitchFamily="34" charset="-122"/>
                <a:cs typeface="Cambria" pitchFamily="34" charset="-120"/>
              </a:rPr>
              <a:t>What the Bill Does</a:t>
            </a:r>
            <a:endParaRPr lang="en-US" sz="2200" dirty="0"/>
          </a:p>
        </p:txBody>
      </p:sp>
      <p:sp>
        <p:nvSpPr>
          <p:cNvPr id="6" name="Shape 4"/>
          <p:cNvSpPr/>
          <p:nvPr/>
        </p:nvSpPr>
        <p:spPr>
          <a:xfrm>
            <a:off x="457200" y="1554480"/>
            <a:ext cx="8229600" cy="0"/>
          </a:xfrm>
          <a:prstGeom prst="line">
            <a:avLst/>
          </a:prstGeom>
          <a:noFill/>
          <a:ln w="19050">
            <a:solidFill>
              <a:srgbClr val="2C4A6E"/>
            </a:solidFill>
            <a:prstDash val="solid"/>
          </a:ln>
        </p:spPr>
      </p:sp>
      <p:sp>
        <p:nvSpPr>
          <p:cNvPr id="7" name="Text 5"/>
          <p:cNvSpPr/>
          <p:nvPr/>
        </p:nvSpPr>
        <p:spPr>
          <a:xfrm>
            <a:off x="457200" y="1691640"/>
            <a:ext cx="8229600" cy="2761488"/>
          </a:xfrm>
          <a:prstGeom prst="rect">
            <a:avLst/>
          </a:prstGeom>
          <a:noFill/>
          <a:ln/>
        </p:spPr>
        <p:txBody>
          <a:bodyPr wrap="square" rtlCol="0" anchor="t"/>
          <a:lstStyle/>
          <a:p>
            <a:pPr algn="l" indent="0" marL="0">
              <a:lnSpc>
                <a:spcPct val="88000"/>
              </a:lnSpc>
              <a:buNone/>
            </a:pPr>
            <a:r>
              <a:rPr lang="en-US" sz="1350" dirty="0">
                <a:solidFill>
                  <a:srgbClr val="1A2332"/>
                </a:solidFill>
                <a:latin typeface="Calibri" pitchFamily="34" charset="0"/>
                <a:ea typeface="Calibri" pitchFamily="34" charset="-122"/>
                <a:cs typeface="Calibri" pitchFamily="34" charset="-120"/>
              </a:rPr>
              <a:t>Section 101's Resilience-Based Defense Posture Declaration explicitly names the petrodollar protection mission and withdraws congressional authorization for it, requiring instead a force posture calibrated to territorial defense, deterrence, and commons infrastructure protection.</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A2332"/>
                </a:solidFill>
                <a:latin typeface="Calibri" pitchFamily="34" charset="0"/>
                <a:ea typeface="Calibri" pitchFamily="34" charset="-122"/>
                <a:cs typeface="Calibri" pitchFamily="34" charset="-120"/>
              </a:rPr>
              <a:t>Section 103's Force Structure Transition requires the closure of overseas installations whose primary strategic rationale is petrodollar protection, and the development of a force structure transition plan by the Joint Chiefs within eighteen months of enactment, with specific milestones for reorienting procurement, basing, and alliance commitments toward the resilience-based mission.</a:t>
            </a:r>
            <a:endParaRPr lang="en-US" sz="1350" dirty="0"/>
          </a:p>
        </p:txBody>
      </p:sp>
      <p:sp>
        <p:nvSpPr>
          <p:cNvPr id="8" name="Text 6"/>
          <p:cNvSpPr/>
          <p:nvPr/>
        </p:nvSpPr>
        <p:spPr>
          <a:xfrm>
            <a:off x="457200" y="4507992"/>
            <a:ext cx="8229600" cy="384048"/>
          </a:xfrm>
          <a:prstGeom prst="rect">
            <a:avLst/>
          </a:prstGeom>
          <a:noFill/>
          <a:ln/>
        </p:spPr>
        <p:txBody>
          <a:bodyPr wrap="square" rtlCol="0" anchor="ctr"/>
          <a:lstStyle/>
          <a:p>
            <a:pPr indent="0" marL="0">
              <a:buNone/>
            </a:pPr>
            <a:r>
              <a:rPr lang="en-US" sz="1000" dirty="0">
                <a:solidFill>
                  <a:srgbClr val="2C4A6E"/>
                </a:solidFill>
                <a:latin typeface="Courier New" pitchFamily="34" charset="0"/>
                <a:ea typeface="Courier New" pitchFamily="34" charset="-122"/>
                <a:cs typeface="Courier New" pitchFamily="34" charset="-120"/>
              </a:rPr>
              <a:t>Title I § 101 · § 103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457200" y="347472"/>
            <a:ext cx="1188720" cy="347472"/>
          </a:xfrm>
          <a:prstGeom prst="roundRect">
            <a:avLst>
              <a:gd name="adj" fmla="val 13158"/>
            </a:avLst>
          </a:prstGeom>
          <a:solidFill>
            <a:srgbClr val="1E3A5F"/>
          </a:solidFill>
          <a:ln/>
        </p:spPr>
      </p:sp>
      <p:sp>
        <p:nvSpPr>
          <p:cNvPr id="3" name="Text 1"/>
          <p:cNvSpPr/>
          <p:nvPr/>
        </p:nvSpPr>
        <p:spPr>
          <a:xfrm>
            <a:off x="457200" y="347472"/>
            <a:ext cx="118872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Finding 6</a:t>
            </a:r>
            <a:endParaRPr lang="en-US" sz="1000" dirty="0"/>
          </a:p>
        </p:txBody>
      </p:sp>
      <p:sp>
        <p:nvSpPr>
          <p:cNvPr id="4" name="Text 2"/>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0D1A2E"/>
                </a:solidFill>
                <a:latin typeface="Cambria" pitchFamily="34" charset="0"/>
                <a:ea typeface="Cambria" pitchFamily="34" charset="-122"/>
                <a:cs typeface="Cambria" pitchFamily="34" charset="-120"/>
              </a:rPr>
              <a:t>Fossil Fuel Finitude and Climate as First-Order Security Threats</a:t>
            </a:r>
            <a:endParaRPr lang="en-US" sz="2200" dirty="0"/>
          </a:p>
        </p:txBody>
      </p:sp>
      <p:sp>
        <p:nvSpPr>
          <p:cNvPr id="5" name="Shape 3"/>
          <p:cNvSpPr/>
          <p:nvPr/>
        </p:nvSpPr>
        <p:spPr>
          <a:xfrm>
            <a:off x="457200" y="1554480"/>
            <a:ext cx="8229600" cy="0"/>
          </a:xfrm>
          <a:prstGeom prst="line">
            <a:avLst/>
          </a:prstGeom>
          <a:noFill/>
          <a:ln w="19050">
            <a:solidFill>
              <a:srgbClr val="4A90D9"/>
            </a:solidFill>
            <a:prstDash val="solid"/>
          </a:ln>
        </p:spPr>
      </p:sp>
      <p:pic>
        <p:nvPicPr>
          <p:cNvPr id="6" name="Image 0" descr="preencoded.png">    </p:cNvPr>
          <p:cNvPicPr>
            <a:picLocks noChangeAspect="1"/>
          </p:cNvPicPr>
          <p:nvPr/>
        </p:nvPicPr>
        <p:blipFill>
          <a:blip r:embed="rId1"/>
          <a:stretch>
            <a:fillRect/>
          </a:stretch>
        </p:blipFill>
        <p:spPr>
          <a:xfrm>
            <a:off x="7863840" y="301752"/>
            <a:ext cx="594360" cy="594360"/>
          </a:xfrm>
          <a:prstGeom prst="rect">
            <a:avLst/>
          </a:prstGeom>
        </p:spPr>
      </p:pic>
      <p:sp>
        <p:nvSpPr>
          <p:cNvPr id="7" name="Text 4"/>
          <p:cNvSpPr/>
          <p:nvPr/>
        </p:nvSpPr>
        <p:spPr>
          <a:xfrm>
            <a:off x="457200" y="1691640"/>
            <a:ext cx="8229600" cy="3218688"/>
          </a:xfrm>
          <a:prstGeom prst="rect">
            <a:avLst/>
          </a:prstGeom>
          <a:noFill/>
          <a:ln/>
        </p:spPr>
        <p:txBody>
          <a:bodyPr wrap="square" rtlCol="0" anchor="t"/>
          <a:lstStyle/>
          <a:p>
            <a:pPr algn="l" indent="0" marL="0">
              <a:lnSpc>
                <a:spcPct val="88000"/>
              </a:lnSpc>
              <a:buNone/>
            </a:pPr>
            <a:r>
              <a:rPr lang="en-US" sz="1350" dirty="0">
                <a:solidFill>
                  <a:srgbClr val="1A2332"/>
                </a:solidFill>
                <a:latin typeface="Calibri" pitchFamily="34" charset="0"/>
                <a:ea typeface="Calibri" pitchFamily="34" charset="-122"/>
                <a:cs typeface="Calibri" pitchFamily="34" charset="-120"/>
              </a:rPr>
              <a:t>The resource upon which the petrodollar system depends, petroleum, is finite. Its accessible reserves are depleting at rates no policy can reverse, and the timeline of its displacement as the primary global energy source is determined by the accelerating economics of renewable alternatives and the accumulating ecological consequences of combustion.</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A2332"/>
                </a:solidFill>
                <a:latin typeface="Calibri" pitchFamily="34" charset="0"/>
                <a:ea typeface="Calibri" pitchFamily="34" charset="-122"/>
                <a:cs typeface="Calibri" pitchFamily="34" charset="-120"/>
              </a:rPr>
              <a:t>The scientific consensus on anthropogenic climate change documents that fossil fuel combustion drives atmospheric warming whose consequences — rising sea levels, intensifying extreme weather, disruption of agricultural systems, displacement of human populations — constitute security threats of the first order.</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A2332"/>
                </a:solidFill>
                <a:latin typeface="Calibri" pitchFamily="34" charset="0"/>
                <a:ea typeface="Calibri" pitchFamily="34" charset="-122"/>
                <a:cs typeface="Calibri" pitchFamily="34" charset="-120"/>
              </a:rPr>
              <a:t>A defense posture organized around protecting access to a finite resource whose combustion actively generates the conditions that defense posture is supposed to prevent is a strategy for accelerating the threats it purports to address.</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2EAF2"/>
        </a:solidFill>
      </p:bgPr>
    </p:bg>
    <p:spTree>
      <p:nvGrpSpPr>
        <p:cNvPr id="1" name=""/>
        <p:cNvGrpSpPr/>
        <p:nvPr/>
      </p:nvGrpSpPr>
      <p:grpSpPr>
        <a:xfrm>
          <a:off x="0" y="0"/>
          <a:ext cx="0" cy="0"/>
          <a:chOff x="0" y="0"/>
          <a:chExt cx="0" cy="0"/>
        </a:xfrm>
      </p:grpSpPr>
      <p:sp>
        <p:nvSpPr>
          <p:cNvPr id="2" name="Shape 0"/>
          <p:cNvSpPr/>
          <p:nvPr/>
        </p:nvSpPr>
        <p:spPr>
          <a:xfrm>
            <a:off x="457200" y="347472"/>
            <a:ext cx="1463040" cy="347472"/>
          </a:xfrm>
          <a:prstGeom prst="roundRect">
            <a:avLst>
              <a:gd name="adj" fmla="val 13158"/>
            </a:avLst>
          </a:prstGeom>
          <a:solidFill>
            <a:srgbClr val="2C4A6E"/>
          </a:solidFill>
          <a:ln/>
        </p:spPr>
      </p:sp>
      <p:sp>
        <p:nvSpPr>
          <p:cNvPr id="3" name="Text 1"/>
          <p:cNvSpPr/>
          <p:nvPr/>
        </p:nvSpPr>
        <p:spPr>
          <a:xfrm>
            <a:off x="457200" y="347472"/>
            <a:ext cx="146304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Mechanism</a:t>
            </a:r>
            <a:endParaRPr lang="en-US" sz="1000" dirty="0"/>
          </a:p>
        </p:txBody>
      </p:sp>
      <p:sp>
        <p:nvSpPr>
          <p:cNvPr id="4" name="Text 2"/>
          <p:cNvSpPr/>
          <p:nvPr/>
        </p:nvSpPr>
        <p:spPr>
          <a:xfrm>
            <a:off x="2011680" y="347472"/>
            <a:ext cx="6492240" cy="347472"/>
          </a:xfrm>
          <a:prstGeom prst="rect">
            <a:avLst/>
          </a:prstGeom>
          <a:noFill/>
          <a:ln/>
        </p:spPr>
        <p:txBody>
          <a:bodyPr wrap="square" rtlCol="0" anchor="ctr"/>
          <a:lstStyle/>
          <a:p>
            <a:pPr indent="0" marL="0">
              <a:buNone/>
            </a:pPr>
            <a:r>
              <a:rPr lang="en-US" sz="1000" dirty="0">
                <a:solidFill>
                  <a:srgbClr val="2C4A6E"/>
                </a:solidFill>
                <a:latin typeface="Calibri" pitchFamily="34" charset="0"/>
                <a:ea typeface="Calibri" pitchFamily="34" charset="-122"/>
                <a:cs typeface="Calibri" pitchFamily="34" charset="-120"/>
              </a:rPr>
              <a:t>Finding 6 → Title I § 101(c), Title II § 201</a:t>
            </a:r>
            <a:endParaRPr lang="en-US" sz="1000" dirty="0"/>
          </a:p>
        </p:txBody>
      </p:sp>
      <p:sp>
        <p:nvSpPr>
          <p:cNvPr id="5" name="Text 3"/>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0D1A2E"/>
                </a:solidFill>
                <a:latin typeface="Cambria" pitchFamily="34" charset="0"/>
                <a:ea typeface="Cambria" pitchFamily="34" charset="-122"/>
                <a:cs typeface="Cambria" pitchFamily="34" charset="-120"/>
              </a:rPr>
              <a:t>What the Bill Does</a:t>
            </a:r>
            <a:endParaRPr lang="en-US" sz="2200" dirty="0"/>
          </a:p>
        </p:txBody>
      </p:sp>
      <p:sp>
        <p:nvSpPr>
          <p:cNvPr id="6" name="Shape 4"/>
          <p:cNvSpPr/>
          <p:nvPr/>
        </p:nvSpPr>
        <p:spPr>
          <a:xfrm>
            <a:off x="457200" y="1554480"/>
            <a:ext cx="8229600" cy="0"/>
          </a:xfrm>
          <a:prstGeom prst="line">
            <a:avLst/>
          </a:prstGeom>
          <a:noFill/>
          <a:ln w="19050">
            <a:solidFill>
              <a:srgbClr val="2C4A6E"/>
            </a:solidFill>
            <a:prstDash val="solid"/>
          </a:ln>
        </p:spPr>
      </p:sp>
      <p:sp>
        <p:nvSpPr>
          <p:cNvPr id="7" name="Text 5"/>
          <p:cNvSpPr/>
          <p:nvPr/>
        </p:nvSpPr>
        <p:spPr>
          <a:xfrm>
            <a:off x="457200" y="1691640"/>
            <a:ext cx="8229600" cy="2761488"/>
          </a:xfrm>
          <a:prstGeom prst="rect">
            <a:avLst/>
          </a:prstGeom>
          <a:noFill/>
          <a:ln/>
        </p:spPr>
        <p:txBody>
          <a:bodyPr wrap="square" rtlCol="0" anchor="t"/>
          <a:lstStyle/>
          <a:p>
            <a:pPr algn="l" indent="0" marL="0">
              <a:lnSpc>
                <a:spcPct val="88000"/>
              </a:lnSpc>
              <a:buNone/>
            </a:pPr>
            <a:r>
              <a:rPr lang="en-US" sz="1350" dirty="0">
                <a:solidFill>
                  <a:srgbClr val="1A2332"/>
                </a:solidFill>
                <a:latin typeface="Calibri" pitchFamily="34" charset="0"/>
                <a:ea typeface="Calibri" pitchFamily="34" charset="-122"/>
                <a:cs typeface="Calibri" pitchFamily="34" charset="-120"/>
              </a:rPr>
              <a:t>Section 101(c) incorporates the climate security analysis into the Resilience-Based Defense Posture doctrine: the Department of Defense is directed to incorporate climate change impacts — sea level rise, extreme weather, agricultural disruption, and population displacement — into all force structure, basing, procurement, and strategic planning documents, and to treat the acceleration of the domestic energy transition as a core defense mission.</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A2332"/>
                </a:solidFill>
                <a:latin typeface="Calibri" pitchFamily="34" charset="0"/>
                <a:ea typeface="Calibri" pitchFamily="34" charset="-122"/>
                <a:cs typeface="Calibri" pitchFamily="34" charset="-120"/>
              </a:rPr>
              <a:t>Section 201 designates Commons Infrastructure — including cooperative renewable energy systems — as Critical National Infrastructure entitled to the full protection of the defense establishment, establishing that defending the energy transition is as much a defense mission as defending any other form of critical infrastructure.</a:t>
            </a:r>
            <a:endParaRPr lang="en-US" sz="1350" dirty="0"/>
          </a:p>
        </p:txBody>
      </p:sp>
      <p:sp>
        <p:nvSpPr>
          <p:cNvPr id="8" name="Text 6"/>
          <p:cNvSpPr/>
          <p:nvPr/>
        </p:nvSpPr>
        <p:spPr>
          <a:xfrm>
            <a:off x="457200" y="4507992"/>
            <a:ext cx="8229600" cy="384048"/>
          </a:xfrm>
          <a:prstGeom prst="rect">
            <a:avLst/>
          </a:prstGeom>
          <a:noFill/>
          <a:ln/>
        </p:spPr>
        <p:txBody>
          <a:bodyPr wrap="square" rtlCol="0" anchor="ctr"/>
          <a:lstStyle/>
          <a:p>
            <a:pPr indent="0" marL="0">
              <a:buNone/>
            </a:pPr>
            <a:r>
              <a:rPr lang="en-US" sz="1000" dirty="0">
                <a:solidFill>
                  <a:srgbClr val="2C4A6E"/>
                </a:solidFill>
                <a:latin typeface="Courier New" pitchFamily="34" charset="0"/>
                <a:ea typeface="Courier New" pitchFamily="34" charset="-122"/>
                <a:cs typeface="Courier New" pitchFamily="34" charset="-120"/>
              </a:rPr>
              <a:t>Title I § 101(c) · Title II § 201</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457200" y="347472"/>
            <a:ext cx="1188720" cy="347472"/>
          </a:xfrm>
          <a:prstGeom prst="roundRect">
            <a:avLst>
              <a:gd name="adj" fmla="val 13158"/>
            </a:avLst>
          </a:prstGeom>
          <a:solidFill>
            <a:srgbClr val="1E3A5F"/>
          </a:solidFill>
          <a:ln/>
        </p:spPr>
      </p:sp>
      <p:sp>
        <p:nvSpPr>
          <p:cNvPr id="3" name="Text 1"/>
          <p:cNvSpPr/>
          <p:nvPr/>
        </p:nvSpPr>
        <p:spPr>
          <a:xfrm>
            <a:off x="457200" y="347472"/>
            <a:ext cx="118872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Finding 7</a:t>
            </a:r>
            <a:endParaRPr lang="en-US" sz="1000" dirty="0"/>
          </a:p>
        </p:txBody>
      </p:sp>
      <p:sp>
        <p:nvSpPr>
          <p:cNvPr id="4" name="Text 2"/>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0D1A2E"/>
                </a:solidFill>
                <a:latin typeface="Cambria" pitchFamily="34" charset="0"/>
                <a:ea typeface="Cambria" pitchFamily="34" charset="-122"/>
                <a:cs typeface="Cambria" pitchFamily="34" charset="-120"/>
              </a:rPr>
              <a:t>Renewable Energy Is Structurally Compatible with Commons Governance</a:t>
            </a:r>
            <a:endParaRPr lang="en-US" sz="2200" dirty="0"/>
          </a:p>
        </p:txBody>
      </p:sp>
      <p:sp>
        <p:nvSpPr>
          <p:cNvPr id="5" name="Shape 3"/>
          <p:cNvSpPr/>
          <p:nvPr/>
        </p:nvSpPr>
        <p:spPr>
          <a:xfrm>
            <a:off x="457200" y="1554480"/>
            <a:ext cx="8229600" cy="0"/>
          </a:xfrm>
          <a:prstGeom prst="line">
            <a:avLst/>
          </a:prstGeom>
          <a:noFill/>
          <a:ln w="19050">
            <a:solidFill>
              <a:srgbClr val="4A90D9"/>
            </a:solidFill>
            <a:prstDash val="solid"/>
          </a:ln>
        </p:spPr>
      </p:sp>
      <p:pic>
        <p:nvPicPr>
          <p:cNvPr id="6" name="Image 0" descr="preencoded.png">    </p:cNvPr>
          <p:cNvPicPr>
            <a:picLocks noChangeAspect="1"/>
          </p:cNvPicPr>
          <p:nvPr/>
        </p:nvPicPr>
        <p:blipFill>
          <a:blip r:embed="rId1"/>
          <a:stretch>
            <a:fillRect/>
          </a:stretch>
        </p:blipFill>
        <p:spPr>
          <a:xfrm>
            <a:off x="7863840" y="301752"/>
            <a:ext cx="594360" cy="594360"/>
          </a:xfrm>
          <a:prstGeom prst="rect">
            <a:avLst/>
          </a:prstGeom>
        </p:spPr>
      </p:pic>
      <p:sp>
        <p:nvSpPr>
          <p:cNvPr id="7" name="Text 4"/>
          <p:cNvSpPr/>
          <p:nvPr/>
        </p:nvSpPr>
        <p:spPr>
          <a:xfrm>
            <a:off x="457200" y="1691640"/>
            <a:ext cx="8229600" cy="3218688"/>
          </a:xfrm>
          <a:prstGeom prst="rect">
            <a:avLst/>
          </a:prstGeom>
          <a:noFill/>
          <a:ln/>
        </p:spPr>
        <p:txBody>
          <a:bodyPr wrap="square" rtlCol="0" anchor="t"/>
          <a:lstStyle/>
          <a:p>
            <a:pPr algn="l" indent="0" marL="0">
              <a:lnSpc>
                <a:spcPct val="88000"/>
              </a:lnSpc>
              <a:buNone/>
            </a:pPr>
            <a:r>
              <a:rPr lang="en-US" sz="1350" dirty="0">
                <a:solidFill>
                  <a:srgbClr val="1A2332"/>
                </a:solidFill>
                <a:latin typeface="Calibri" pitchFamily="34" charset="0"/>
                <a:ea typeface="Calibri" pitchFamily="34" charset="-122"/>
                <a:cs typeface="Calibri" pitchFamily="34" charset="-120"/>
              </a:rPr>
              <a:t>Petroleum extraction requires centralized infrastructure, long-distance distribution networks, and concentrations of capital that make it a natural monopoly and a natural instrument of geopolitical leverage. Distributed renewable generation is precisely the kind of resource that cooperative microgrids, community energy enterprises, and federated commons networks are designed to govern.</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A2332"/>
                </a:solidFill>
                <a:latin typeface="Calibri" pitchFamily="34" charset="0"/>
                <a:ea typeface="Calibri" pitchFamily="34" charset="-122"/>
                <a:cs typeface="Calibri" pitchFamily="34" charset="-120"/>
              </a:rPr>
              <a:t>The energy transition therefore represents not only an environmental imperative but an institutional opportunity: the progressive replacement of a resource whose scarcity and centralization supported extractive power arrangements with resources whose distributed abundance supports commons governance.</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2EAF2"/>
        </a:solidFill>
      </p:bgPr>
    </p:bg>
    <p:spTree>
      <p:nvGrpSpPr>
        <p:cNvPr id="1" name=""/>
        <p:cNvGrpSpPr/>
        <p:nvPr/>
      </p:nvGrpSpPr>
      <p:grpSpPr>
        <a:xfrm>
          <a:off x="0" y="0"/>
          <a:ext cx="0" cy="0"/>
          <a:chOff x="0" y="0"/>
          <a:chExt cx="0" cy="0"/>
        </a:xfrm>
      </p:grpSpPr>
      <p:sp>
        <p:nvSpPr>
          <p:cNvPr id="2" name="Shape 0"/>
          <p:cNvSpPr/>
          <p:nvPr/>
        </p:nvSpPr>
        <p:spPr>
          <a:xfrm>
            <a:off x="457200" y="347472"/>
            <a:ext cx="1463040" cy="347472"/>
          </a:xfrm>
          <a:prstGeom prst="roundRect">
            <a:avLst>
              <a:gd name="adj" fmla="val 13158"/>
            </a:avLst>
          </a:prstGeom>
          <a:solidFill>
            <a:srgbClr val="2C4A6E"/>
          </a:solidFill>
          <a:ln/>
        </p:spPr>
      </p:sp>
      <p:sp>
        <p:nvSpPr>
          <p:cNvPr id="3" name="Text 1"/>
          <p:cNvSpPr/>
          <p:nvPr/>
        </p:nvSpPr>
        <p:spPr>
          <a:xfrm>
            <a:off x="457200" y="347472"/>
            <a:ext cx="146304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Mechanism</a:t>
            </a:r>
            <a:endParaRPr lang="en-US" sz="1000" dirty="0"/>
          </a:p>
        </p:txBody>
      </p:sp>
      <p:sp>
        <p:nvSpPr>
          <p:cNvPr id="4" name="Text 2"/>
          <p:cNvSpPr/>
          <p:nvPr/>
        </p:nvSpPr>
        <p:spPr>
          <a:xfrm>
            <a:off x="2011680" y="347472"/>
            <a:ext cx="6492240" cy="347472"/>
          </a:xfrm>
          <a:prstGeom prst="rect">
            <a:avLst/>
          </a:prstGeom>
          <a:noFill/>
          <a:ln/>
        </p:spPr>
        <p:txBody>
          <a:bodyPr wrap="square" rtlCol="0" anchor="ctr"/>
          <a:lstStyle/>
          <a:p>
            <a:pPr indent="0" marL="0">
              <a:buNone/>
            </a:pPr>
            <a:r>
              <a:rPr lang="en-US" sz="1000" dirty="0">
                <a:solidFill>
                  <a:srgbClr val="2C4A6E"/>
                </a:solidFill>
                <a:latin typeface="Calibri" pitchFamily="34" charset="0"/>
                <a:ea typeface="Calibri" pitchFamily="34" charset="-122"/>
                <a:cs typeface="Calibri" pitchFamily="34" charset="-120"/>
              </a:rPr>
              <a:t>Finding 7 → Title II § 201, 205</a:t>
            </a:r>
            <a:endParaRPr lang="en-US" sz="1000" dirty="0"/>
          </a:p>
        </p:txBody>
      </p:sp>
      <p:sp>
        <p:nvSpPr>
          <p:cNvPr id="5" name="Text 3"/>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0D1A2E"/>
                </a:solidFill>
                <a:latin typeface="Cambria" pitchFamily="34" charset="0"/>
                <a:ea typeface="Cambria" pitchFamily="34" charset="-122"/>
                <a:cs typeface="Cambria" pitchFamily="34" charset="-120"/>
              </a:rPr>
              <a:t>What the Bill Does</a:t>
            </a:r>
            <a:endParaRPr lang="en-US" sz="2200" dirty="0"/>
          </a:p>
        </p:txBody>
      </p:sp>
      <p:sp>
        <p:nvSpPr>
          <p:cNvPr id="6" name="Shape 4"/>
          <p:cNvSpPr/>
          <p:nvPr/>
        </p:nvSpPr>
        <p:spPr>
          <a:xfrm>
            <a:off x="457200" y="1554480"/>
            <a:ext cx="8229600" cy="0"/>
          </a:xfrm>
          <a:prstGeom prst="line">
            <a:avLst/>
          </a:prstGeom>
          <a:noFill/>
          <a:ln w="19050">
            <a:solidFill>
              <a:srgbClr val="2C4A6E"/>
            </a:solidFill>
            <a:prstDash val="solid"/>
          </a:ln>
        </p:spPr>
      </p:sp>
      <p:sp>
        <p:nvSpPr>
          <p:cNvPr id="7" name="Text 5"/>
          <p:cNvSpPr/>
          <p:nvPr/>
        </p:nvSpPr>
        <p:spPr>
          <a:xfrm>
            <a:off x="457200" y="1691640"/>
            <a:ext cx="8229600" cy="2761488"/>
          </a:xfrm>
          <a:prstGeom prst="rect">
            <a:avLst/>
          </a:prstGeom>
          <a:noFill/>
          <a:ln/>
        </p:spPr>
        <p:txBody>
          <a:bodyPr wrap="square" rtlCol="0" anchor="t"/>
          <a:lstStyle/>
          <a:p>
            <a:pPr algn="l" indent="0" marL="0">
              <a:lnSpc>
                <a:spcPct val="88000"/>
              </a:lnSpc>
              <a:buNone/>
            </a:pPr>
            <a:r>
              <a:rPr lang="en-US" sz="1350" dirty="0">
                <a:solidFill>
                  <a:srgbClr val="1A2332"/>
                </a:solidFill>
                <a:latin typeface="Calibri" pitchFamily="34" charset="0"/>
                <a:ea typeface="Calibri" pitchFamily="34" charset="-122"/>
                <a:cs typeface="Calibri" pitchFamily="34" charset="-120"/>
              </a:rPr>
              <a:t>Section 201's designation of cooperative renewable energy systems as Critical National Infrastructure creates the legal framework for the federal defense establishment to actively support the buildout of commons energy infrastructure rather than treating it as a civilian matter outside its mandate.</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A2332"/>
                </a:solidFill>
                <a:latin typeface="Calibri" pitchFamily="34" charset="0"/>
                <a:ea typeface="Calibri" pitchFamily="34" charset="-122"/>
                <a:cs typeface="Calibri" pitchFamily="34" charset="-120"/>
              </a:rPr>
              <a:t>Section 205 establishes Commons Security Research and Development: a federally funded R&amp;D program specifically directed at developing security standards, resilience protocols, and commons-governance tools for distributed renewable energy microgrids, ensuring that the technical infrastructure of the energy transition is secured against adversarial interference from the outset.</a:t>
            </a:r>
            <a:endParaRPr lang="en-US" sz="1350" dirty="0"/>
          </a:p>
        </p:txBody>
      </p:sp>
      <p:sp>
        <p:nvSpPr>
          <p:cNvPr id="8" name="Text 6"/>
          <p:cNvSpPr/>
          <p:nvPr/>
        </p:nvSpPr>
        <p:spPr>
          <a:xfrm>
            <a:off x="457200" y="4507992"/>
            <a:ext cx="8229600" cy="384048"/>
          </a:xfrm>
          <a:prstGeom prst="rect">
            <a:avLst/>
          </a:prstGeom>
          <a:noFill/>
          <a:ln/>
        </p:spPr>
        <p:txBody>
          <a:bodyPr wrap="square" rtlCol="0" anchor="ctr"/>
          <a:lstStyle/>
          <a:p>
            <a:pPr indent="0" marL="0">
              <a:buNone/>
            </a:pPr>
            <a:r>
              <a:rPr lang="en-US" sz="1000" dirty="0">
                <a:solidFill>
                  <a:srgbClr val="2C4A6E"/>
                </a:solidFill>
                <a:latin typeface="Courier New" pitchFamily="34" charset="0"/>
                <a:ea typeface="Courier New" pitchFamily="34" charset="-122"/>
                <a:cs typeface="Courier New" pitchFamily="34" charset="-120"/>
              </a:rPr>
              <a:t>Title II § 201 · § 205</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457200" y="347472"/>
            <a:ext cx="1188720" cy="347472"/>
          </a:xfrm>
          <a:prstGeom prst="roundRect">
            <a:avLst>
              <a:gd name="adj" fmla="val 13158"/>
            </a:avLst>
          </a:prstGeom>
          <a:solidFill>
            <a:srgbClr val="1E3A5F"/>
          </a:solidFill>
          <a:ln/>
        </p:spPr>
      </p:sp>
      <p:sp>
        <p:nvSpPr>
          <p:cNvPr id="3" name="Text 1"/>
          <p:cNvSpPr/>
          <p:nvPr/>
        </p:nvSpPr>
        <p:spPr>
          <a:xfrm>
            <a:off x="457200" y="347472"/>
            <a:ext cx="118872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Finding 8</a:t>
            </a:r>
            <a:endParaRPr lang="en-US" sz="1000" dirty="0"/>
          </a:p>
        </p:txBody>
      </p:sp>
      <p:sp>
        <p:nvSpPr>
          <p:cNvPr id="4" name="Text 2"/>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0D1A2E"/>
                </a:solidFill>
                <a:latin typeface="Cambria" pitchFamily="34" charset="0"/>
                <a:ea typeface="Cambria" pitchFamily="34" charset="-122"/>
                <a:cs typeface="Cambria" pitchFamily="34" charset="-120"/>
              </a:rPr>
              <a:t>The Strategic Costs: Strait of Hormuz and Venezuela</a:t>
            </a:r>
            <a:endParaRPr lang="en-US" sz="2200" dirty="0"/>
          </a:p>
        </p:txBody>
      </p:sp>
      <p:sp>
        <p:nvSpPr>
          <p:cNvPr id="5" name="Shape 3"/>
          <p:cNvSpPr/>
          <p:nvPr/>
        </p:nvSpPr>
        <p:spPr>
          <a:xfrm>
            <a:off x="457200" y="1554480"/>
            <a:ext cx="8229600" cy="0"/>
          </a:xfrm>
          <a:prstGeom prst="line">
            <a:avLst/>
          </a:prstGeom>
          <a:noFill/>
          <a:ln w="19050">
            <a:solidFill>
              <a:srgbClr val="4A90D9"/>
            </a:solidFill>
            <a:prstDash val="solid"/>
          </a:ln>
        </p:spPr>
      </p:sp>
      <p:pic>
        <p:nvPicPr>
          <p:cNvPr id="6" name="Image 0" descr="preencoded.png">    </p:cNvPr>
          <p:cNvPicPr>
            <a:picLocks noChangeAspect="1"/>
          </p:cNvPicPr>
          <p:nvPr/>
        </p:nvPicPr>
        <p:blipFill>
          <a:blip r:embed="rId1"/>
          <a:stretch>
            <a:fillRect/>
          </a:stretch>
        </p:blipFill>
        <p:spPr>
          <a:xfrm>
            <a:off x="7863840" y="301752"/>
            <a:ext cx="594360" cy="594360"/>
          </a:xfrm>
          <a:prstGeom prst="rect">
            <a:avLst/>
          </a:prstGeom>
        </p:spPr>
      </p:pic>
      <p:sp>
        <p:nvSpPr>
          <p:cNvPr id="7" name="Text 4"/>
          <p:cNvSpPr/>
          <p:nvPr/>
        </p:nvSpPr>
        <p:spPr>
          <a:xfrm>
            <a:off x="457200" y="1691640"/>
            <a:ext cx="8229600" cy="3218688"/>
          </a:xfrm>
          <a:prstGeom prst="rect">
            <a:avLst/>
          </a:prstGeom>
          <a:noFill/>
          <a:ln/>
        </p:spPr>
        <p:txBody>
          <a:bodyPr wrap="square" rtlCol="0" anchor="t"/>
          <a:lstStyle/>
          <a:p>
            <a:pPr algn="l" indent="0" marL="0">
              <a:lnSpc>
                <a:spcPct val="88000"/>
              </a:lnSpc>
              <a:buNone/>
            </a:pPr>
            <a:r>
              <a:rPr lang="en-US" sz="1350" dirty="0">
                <a:solidFill>
                  <a:srgbClr val="1A2332"/>
                </a:solidFill>
                <a:latin typeface="Calibri" pitchFamily="34" charset="0"/>
                <a:ea typeface="Calibri" pitchFamily="34" charset="-122"/>
                <a:cs typeface="Calibri" pitchFamily="34" charset="-120"/>
              </a:rPr>
              <a:t>The strategic costs of petrodollar-dependent defense posture are not theoretical. American military and diplomatic involvement in the Persian Gulf region, including operations and posturing connected to tensions over navigation rights in the Strait of Hormuz, has subordinated American security commitments to the protection of fossil fuel shipping lanes whose strategic significance diminishes with every solar panel installed.</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A2332"/>
                </a:solidFill>
                <a:latin typeface="Calibri" pitchFamily="34" charset="0"/>
                <a:ea typeface="Calibri" pitchFamily="34" charset="-122"/>
                <a:cs typeface="Calibri" pitchFamily="34" charset="-120"/>
              </a:rPr>
              <a:t>American economic and military pressure on Venezuela — a nation whose primary geopolitical significance to the United States derives from its petroleum reserves — illustrates the same pattern: military and economic instruments deployed in service of resource access rather than in service of the security and welfare of the American people.</a:t>
            </a:r>
            <a:endParaRPr lang="en-US" sz="13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E2EAF2"/>
        </a:solidFill>
      </p:bgPr>
    </p:bg>
    <p:spTree>
      <p:nvGrpSpPr>
        <p:cNvPr id="1" name=""/>
        <p:cNvGrpSpPr/>
        <p:nvPr/>
      </p:nvGrpSpPr>
      <p:grpSpPr>
        <a:xfrm>
          <a:off x="0" y="0"/>
          <a:ext cx="0" cy="0"/>
          <a:chOff x="0" y="0"/>
          <a:chExt cx="0" cy="0"/>
        </a:xfrm>
      </p:grpSpPr>
      <p:sp>
        <p:nvSpPr>
          <p:cNvPr id="2" name="Shape 0"/>
          <p:cNvSpPr/>
          <p:nvPr/>
        </p:nvSpPr>
        <p:spPr>
          <a:xfrm>
            <a:off x="457200" y="347472"/>
            <a:ext cx="1463040" cy="347472"/>
          </a:xfrm>
          <a:prstGeom prst="roundRect">
            <a:avLst>
              <a:gd name="adj" fmla="val 13158"/>
            </a:avLst>
          </a:prstGeom>
          <a:solidFill>
            <a:srgbClr val="2C4A6E"/>
          </a:solidFill>
          <a:ln/>
        </p:spPr>
      </p:sp>
      <p:sp>
        <p:nvSpPr>
          <p:cNvPr id="3" name="Text 1"/>
          <p:cNvSpPr/>
          <p:nvPr/>
        </p:nvSpPr>
        <p:spPr>
          <a:xfrm>
            <a:off x="457200" y="347472"/>
            <a:ext cx="146304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Mechanism</a:t>
            </a:r>
            <a:endParaRPr lang="en-US" sz="1000" dirty="0"/>
          </a:p>
        </p:txBody>
      </p:sp>
      <p:sp>
        <p:nvSpPr>
          <p:cNvPr id="4" name="Text 2"/>
          <p:cNvSpPr/>
          <p:nvPr/>
        </p:nvSpPr>
        <p:spPr>
          <a:xfrm>
            <a:off x="2011680" y="347472"/>
            <a:ext cx="6492240" cy="347472"/>
          </a:xfrm>
          <a:prstGeom prst="rect">
            <a:avLst/>
          </a:prstGeom>
          <a:noFill/>
          <a:ln/>
        </p:spPr>
        <p:txBody>
          <a:bodyPr wrap="square" rtlCol="0" anchor="ctr"/>
          <a:lstStyle/>
          <a:p>
            <a:pPr indent="0" marL="0">
              <a:buNone/>
            </a:pPr>
            <a:r>
              <a:rPr lang="en-US" sz="1000" dirty="0">
                <a:solidFill>
                  <a:srgbClr val="2C4A6E"/>
                </a:solidFill>
                <a:latin typeface="Calibri" pitchFamily="34" charset="0"/>
                <a:ea typeface="Calibri" pitchFamily="34" charset="-122"/>
                <a:cs typeface="Calibri" pitchFamily="34" charset="-120"/>
              </a:rPr>
              <a:t>Finding 8 → Title I § 101, 103</a:t>
            </a:r>
            <a:endParaRPr lang="en-US" sz="1000" dirty="0"/>
          </a:p>
        </p:txBody>
      </p:sp>
      <p:sp>
        <p:nvSpPr>
          <p:cNvPr id="5" name="Text 3"/>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0D1A2E"/>
                </a:solidFill>
                <a:latin typeface="Cambria" pitchFamily="34" charset="0"/>
                <a:ea typeface="Cambria" pitchFamily="34" charset="-122"/>
                <a:cs typeface="Cambria" pitchFamily="34" charset="-120"/>
              </a:rPr>
              <a:t>What the Bill Does</a:t>
            </a:r>
            <a:endParaRPr lang="en-US" sz="2200" dirty="0"/>
          </a:p>
        </p:txBody>
      </p:sp>
      <p:sp>
        <p:nvSpPr>
          <p:cNvPr id="6" name="Shape 4"/>
          <p:cNvSpPr/>
          <p:nvPr/>
        </p:nvSpPr>
        <p:spPr>
          <a:xfrm>
            <a:off x="457200" y="1554480"/>
            <a:ext cx="8229600" cy="0"/>
          </a:xfrm>
          <a:prstGeom prst="line">
            <a:avLst/>
          </a:prstGeom>
          <a:noFill/>
          <a:ln w="19050">
            <a:solidFill>
              <a:srgbClr val="2C4A6E"/>
            </a:solidFill>
            <a:prstDash val="solid"/>
          </a:ln>
        </p:spPr>
      </p:sp>
      <p:sp>
        <p:nvSpPr>
          <p:cNvPr id="7" name="Text 5"/>
          <p:cNvSpPr/>
          <p:nvPr/>
        </p:nvSpPr>
        <p:spPr>
          <a:xfrm>
            <a:off x="457200" y="1691640"/>
            <a:ext cx="8229600" cy="2761488"/>
          </a:xfrm>
          <a:prstGeom prst="rect">
            <a:avLst/>
          </a:prstGeom>
          <a:noFill/>
          <a:ln/>
        </p:spPr>
        <p:txBody>
          <a:bodyPr wrap="square" rtlCol="0" anchor="t"/>
          <a:lstStyle/>
          <a:p>
            <a:pPr algn="l" indent="0" marL="0">
              <a:lnSpc>
                <a:spcPct val="88000"/>
              </a:lnSpc>
              <a:buNone/>
            </a:pPr>
            <a:r>
              <a:rPr lang="en-US" sz="1350" dirty="0">
                <a:solidFill>
                  <a:srgbClr val="1A2332"/>
                </a:solidFill>
                <a:latin typeface="Calibri" pitchFamily="34" charset="0"/>
                <a:ea typeface="Calibri" pitchFamily="34" charset="-122"/>
                <a:cs typeface="Calibri" pitchFamily="34" charset="-120"/>
              </a:rPr>
              <a:t>Section 101's Resilience-Based Defense Posture Declaration explicitly includes the Strait of Hormuz shipping lane protection mission among the missions for which congressional authorization is withdrawn, pending the development of an alternative strategic posture that does not require the United States to maintain a military presence in the Persian Gulf to protect petroleum shipping.</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A2332"/>
                </a:solidFill>
                <a:latin typeface="Calibri" pitchFamily="34" charset="0"/>
                <a:ea typeface="Calibri" pitchFamily="34" charset="-122"/>
                <a:cs typeface="Calibri" pitchFamily="34" charset="-120"/>
              </a:rPr>
              <a:t>Section 103's Force Structure Transition requires a specific timeline for drawing down the military footprint in the Persian Gulf region in coordination with the domestic energy transition timeline established under the FRDI Act, ensuring that the strategic drawdown is synchronized with the development of the domestic energy capacity that makes it possible.</a:t>
            </a:r>
            <a:endParaRPr lang="en-US" sz="1350" dirty="0"/>
          </a:p>
        </p:txBody>
      </p:sp>
      <p:sp>
        <p:nvSpPr>
          <p:cNvPr id="8" name="Text 6"/>
          <p:cNvSpPr/>
          <p:nvPr/>
        </p:nvSpPr>
        <p:spPr>
          <a:xfrm>
            <a:off x="457200" y="4507992"/>
            <a:ext cx="8229600" cy="384048"/>
          </a:xfrm>
          <a:prstGeom prst="rect">
            <a:avLst/>
          </a:prstGeom>
          <a:noFill/>
          <a:ln/>
        </p:spPr>
        <p:txBody>
          <a:bodyPr wrap="square" rtlCol="0" anchor="ctr"/>
          <a:lstStyle/>
          <a:p>
            <a:pPr indent="0" marL="0">
              <a:buNone/>
            </a:pPr>
            <a:r>
              <a:rPr lang="en-US" sz="1000" dirty="0">
                <a:solidFill>
                  <a:srgbClr val="2C4A6E"/>
                </a:solidFill>
                <a:latin typeface="Courier New" pitchFamily="34" charset="0"/>
                <a:ea typeface="Courier New" pitchFamily="34" charset="-122"/>
                <a:cs typeface="Courier New" pitchFamily="34" charset="-120"/>
              </a:rPr>
              <a:t>Title I § 101 · § 103</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457200" y="347472"/>
            <a:ext cx="1188720" cy="347472"/>
          </a:xfrm>
          <a:prstGeom prst="roundRect">
            <a:avLst>
              <a:gd name="adj" fmla="val 13158"/>
            </a:avLst>
          </a:prstGeom>
          <a:solidFill>
            <a:srgbClr val="1E3A5F"/>
          </a:solidFill>
          <a:ln/>
        </p:spPr>
      </p:sp>
      <p:sp>
        <p:nvSpPr>
          <p:cNvPr id="3" name="Text 1"/>
          <p:cNvSpPr/>
          <p:nvPr/>
        </p:nvSpPr>
        <p:spPr>
          <a:xfrm>
            <a:off x="457200" y="347472"/>
            <a:ext cx="118872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Finding 9</a:t>
            </a:r>
            <a:endParaRPr lang="en-US" sz="1000" dirty="0"/>
          </a:p>
        </p:txBody>
      </p:sp>
      <p:sp>
        <p:nvSpPr>
          <p:cNvPr id="4" name="Text 2"/>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0D1A2E"/>
                </a:solidFill>
                <a:latin typeface="Cambria" pitchFamily="34" charset="0"/>
                <a:ea typeface="Cambria" pitchFamily="34" charset="-122"/>
                <a:cs typeface="Cambria" pitchFamily="34" charset="-120"/>
              </a:rPr>
              <a:t>The FRDI Infrastructure as Strategic Petrodollar Hedge</a:t>
            </a:r>
            <a:endParaRPr lang="en-US" sz="2200" dirty="0"/>
          </a:p>
        </p:txBody>
      </p:sp>
      <p:sp>
        <p:nvSpPr>
          <p:cNvPr id="5" name="Shape 3"/>
          <p:cNvSpPr/>
          <p:nvPr/>
        </p:nvSpPr>
        <p:spPr>
          <a:xfrm>
            <a:off x="457200" y="1554480"/>
            <a:ext cx="8229600" cy="0"/>
          </a:xfrm>
          <a:prstGeom prst="line">
            <a:avLst/>
          </a:prstGeom>
          <a:noFill/>
          <a:ln w="19050">
            <a:solidFill>
              <a:srgbClr val="4A90D9"/>
            </a:solidFill>
            <a:prstDash val="solid"/>
          </a:ln>
        </p:spPr>
      </p:sp>
      <p:pic>
        <p:nvPicPr>
          <p:cNvPr id="6" name="Image 0" descr="preencoded.png">    </p:cNvPr>
          <p:cNvPicPr>
            <a:picLocks noChangeAspect="1"/>
          </p:cNvPicPr>
          <p:nvPr/>
        </p:nvPicPr>
        <p:blipFill>
          <a:blip r:embed="rId1"/>
          <a:stretch>
            <a:fillRect/>
          </a:stretch>
        </p:blipFill>
        <p:spPr>
          <a:xfrm>
            <a:off x="7863840" y="301752"/>
            <a:ext cx="594360" cy="594360"/>
          </a:xfrm>
          <a:prstGeom prst="rect">
            <a:avLst/>
          </a:prstGeom>
        </p:spPr>
      </p:pic>
      <p:sp>
        <p:nvSpPr>
          <p:cNvPr id="7" name="Text 4"/>
          <p:cNvSpPr/>
          <p:nvPr/>
        </p:nvSpPr>
        <p:spPr>
          <a:xfrm>
            <a:off x="457200" y="1691640"/>
            <a:ext cx="8229600" cy="3218688"/>
          </a:xfrm>
          <a:prstGeom prst="rect">
            <a:avLst/>
          </a:prstGeom>
          <a:noFill/>
          <a:ln/>
        </p:spPr>
        <p:txBody>
          <a:bodyPr wrap="square" rtlCol="0" anchor="t"/>
          <a:lstStyle/>
          <a:p>
            <a:pPr algn="l" indent="0" marL="0">
              <a:lnSpc>
                <a:spcPct val="88000"/>
              </a:lnSpc>
              <a:buNone/>
            </a:pPr>
            <a:r>
              <a:rPr lang="en-US" sz="1350" dirty="0">
                <a:solidFill>
                  <a:srgbClr val="1A2332"/>
                </a:solidFill>
                <a:latin typeface="Calibri" pitchFamily="34" charset="0"/>
                <a:ea typeface="Calibri" pitchFamily="34" charset="-122"/>
                <a:cs typeface="Calibri" pitchFamily="34" charset="-120"/>
              </a:rPr>
              <a:t>The domestic commons infrastructure established by the Federal Resilience and Decentralization Initiatives Act, including distributed renewable energy cooperatives, cooperative food systems, resilient local manufacturing, and the Commons Credit monetary architecture — constitutes a strategic hedge against petrodollar fragility by providing communities with the material self-sufficiency to maintain the Guaranteed Provision Standard regardless of the condition of global currency markets or the availability of imported fossil fuels.</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A2332"/>
                </a:solidFill>
                <a:latin typeface="Calibri" pitchFamily="34" charset="0"/>
                <a:ea typeface="Calibri" pitchFamily="34" charset="-122"/>
                <a:cs typeface="Calibri" pitchFamily="34" charset="-120"/>
              </a:rPr>
              <a:t>As this infrastructure matures and the commons economy's renewable energy capacity grows, the strategic rationale for a defense posture oriented around petrodollar protection and fossil fuel access diminishes correspondingly.</a:t>
            </a:r>
            <a:endParaRPr lang="en-US" sz="13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E2EAF2"/>
        </a:solidFill>
      </p:bgPr>
    </p:bg>
    <p:spTree>
      <p:nvGrpSpPr>
        <p:cNvPr id="1" name=""/>
        <p:cNvGrpSpPr/>
        <p:nvPr/>
      </p:nvGrpSpPr>
      <p:grpSpPr>
        <a:xfrm>
          <a:off x="0" y="0"/>
          <a:ext cx="0" cy="0"/>
          <a:chOff x="0" y="0"/>
          <a:chExt cx="0" cy="0"/>
        </a:xfrm>
      </p:grpSpPr>
      <p:sp>
        <p:nvSpPr>
          <p:cNvPr id="2" name="Shape 0"/>
          <p:cNvSpPr/>
          <p:nvPr/>
        </p:nvSpPr>
        <p:spPr>
          <a:xfrm>
            <a:off x="457200" y="347472"/>
            <a:ext cx="1463040" cy="347472"/>
          </a:xfrm>
          <a:prstGeom prst="roundRect">
            <a:avLst>
              <a:gd name="adj" fmla="val 13158"/>
            </a:avLst>
          </a:prstGeom>
          <a:solidFill>
            <a:srgbClr val="2C4A6E"/>
          </a:solidFill>
          <a:ln/>
        </p:spPr>
      </p:sp>
      <p:sp>
        <p:nvSpPr>
          <p:cNvPr id="3" name="Text 1"/>
          <p:cNvSpPr/>
          <p:nvPr/>
        </p:nvSpPr>
        <p:spPr>
          <a:xfrm>
            <a:off x="457200" y="347472"/>
            <a:ext cx="146304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Mechanism</a:t>
            </a:r>
            <a:endParaRPr lang="en-US" sz="1000" dirty="0"/>
          </a:p>
        </p:txBody>
      </p:sp>
      <p:sp>
        <p:nvSpPr>
          <p:cNvPr id="4" name="Text 2"/>
          <p:cNvSpPr/>
          <p:nvPr/>
        </p:nvSpPr>
        <p:spPr>
          <a:xfrm>
            <a:off x="2011680" y="347472"/>
            <a:ext cx="6492240" cy="347472"/>
          </a:xfrm>
          <a:prstGeom prst="rect">
            <a:avLst/>
          </a:prstGeom>
          <a:noFill/>
          <a:ln/>
        </p:spPr>
        <p:txBody>
          <a:bodyPr wrap="square" rtlCol="0" anchor="ctr"/>
          <a:lstStyle/>
          <a:p>
            <a:pPr indent="0" marL="0">
              <a:buNone/>
            </a:pPr>
            <a:r>
              <a:rPr lang="en-US" sz="1000" dirty="0">
                <a:solidFill>
                  <a:srgbClr val="2C4A6E"/>
                </a:solidFill>
                <a:latin typeface="Calibri" pitchFamily="34" charset="0"/>
                <a:ea typeface="Calibri" pitchFamily="34" charset="-122"/>
                <a:cs typeface="Calibri" pitchFamily="34" charset="-120"/>
              </a:rPr>
              <a:t>Finding 9 → Title V § 501, Title I § 102</a:t>
            </a:r>
            <a:endParaRPr lang="en-US" sz="1000" dirty="0"/>
          </a:p>
        </p:txBody>
      </p:sp>
      <p:sp>
        <p:nvSpPr>
          <p:cNvPr id="5" name="Text 3"/>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0D1A2E"/>
                </a:solidFill>
                <a:latin typeface="Cambria" pitchFamily="34" charset="0"/>
                <a:ea typeface="Cambria" pitchFamily="34" charset="-122"/>
                <a:cs typeface="Cambria" pitchFamily="34" charset="-120"/>
              </a:rPr>
              <a:t>What the Bill Does</a:t>
            </a:r>
            <a:endParaRPr lang="en-US" sz="2200" dirty="0"/>
          </a:p>
        </p:txBody>
      </p:sp>
      <p:sp>
        <p:nvSpPr>
          <p:cNvPr id="6" name="Shape 4"/>
          <p:cNvSpPr/>
          <p:nvPr/>
        </p:nvSpPr>
        <p:spPr>
          <a:xfrm>
            <a:off x="457200" y="1554480"/>
            <a:ext cx="8229600" cy="0"/>
          </a:xfrm>
          <a:prstGeom prst="line">
            <a:avLst/>
          </a:prstGeom>
          <a:noFill/>
          <a:ln w="19050">
            <a:solidFill>
              <a:srgbClr val="2C4A6E"/>
            </a:solidFill>
            <a:prstDash val="solid"/>
          </a:ln>
        </p:spPr>
      </p:sp>
      <p:sp>
        <p:nvSpPr>
          <p:cNvPr id="7" name="Text 5"/>
          <p:cNvSpPr/>
          <p:nvPr/>
        </p:nvSpPr>
        <p:spPr>
          <a:xfrm>
            <a:off x="457200" y="1691640"/>
            <a:ext cx="8229600" cy="2761488"/>
          </a:xfrm>
          <a:prstGeom prst="rect">
            <a:avLst/>
          </a:prstGeom>
          <a:noFill/>
          <a:ln/>
        </p:spPr>
        <p:txBody>
          <a:bodyPr wrap="square" rtlCol="0" anchor="t"/>
          <a:lstStyle/>
          <a:p>
            <a:pPr algn="l" indent="0" marL="0">
              <a:lnSpc>
                <a:spcPct val="88000"/>
              </a:lnSpc>
              <a:buNone/>
            </a:pPr>
            <a:r>
              <a:rPr lang="en-US" sz="1350" dirty="0">
                <a:solidFill>
                  <a:srgbClr val="1A2332"/>
                </a:solidFill>
                <a:latin typeface="Calibri" pitchFamily="34" charset="0"/>
                <a:ea typeface="Calibri" pitchFamily="34" charset="-122"/>
                <a:cs typeface="Calibri" pitchFamily="34" charset="-120"/>
              </a:rPr>
              <a:t>Section 501 establishes the explicit statutory dependency of this Act on the FRDI Act: the resilience-based defense posture established by Title I presupposes the existence and functionality of the domestic commons infrastructure established under that Act. The defense posture reorientation is operative upon certification by the Office of Federated Stewardship that the commons infrastructure has achieved defined resilience thresholds.</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A2332"/>
                </a:solidFill>
                <a:latin typeface="Calibri" pitchFamily="34" charset="0"/>
                <a:ea typeface="Calibri" pitchFamily="34" charset="-122"/>
                <a:cs typeface="Calibri" pitchFamily="34" charset="-120"/>
              </a:rPr>
              <a:t>Section 102 establishes Commons Infrastructure Protection as Defense Mission: the protection of the Strategic Commons Infrastructure — cooperative energy, food, water, communications, and financial settlement infrastructure — is designated as a primary mission of the United States Armed Forces, ensuring that the defense establishment's resources are aligned with the infrastructure that makes petrodollar dependence unnecessary.</a:t>
            </a:r>
            <a:endParaRPr lang="en-US" sz="1350" dirty="0"/>
          </a:p>
        </p:txBody>
      </p:sp>
      <p:sp>
        <p:nvSpPr>
          <p:cNvPr id="8" name="Text 6"/>
          <p:cNvSpPr/>
          <p:nvPr/>
        </p:nvSpPr>
        <p:spPr>
          <a:xfrm>
            <a:off x="457200" y="4507992"/>
            <a:ext cx="8229600" cy="384048"/>
          </a:xfrm>
          <a:prstGeom prst="rect">
            <a:avLst/>
          </a:prstGeom>
          <a:noFill/>
          <a:ln/>
        </p:spPr>
        <p:txBody>
          <a:bodyPr wrap="square" rtlCol="0" anchor="ctr"/>
          <a:lstStyle/>
          <a:p>
            <a:pPr indent="0" marL="0">
              <a:buNone/>
            </a:pPr>
            <a:r>
              <a:rPr lang="en-US" sz="1000" dirty="0">
                <a:solidFill>
                  <a:srgbClr val="2C4A6E"/>
                </a:solidFill>
                <a:latin typeface="Courier New" pitchFamily="34" charset="0"/>
                <a:ea typeface="Courier New" pitchFamily="34" charset="-122"/>
                <a:cs typeface="Courier New" pitchFamily="34" charset="-120"/>
              </a:rPr>
              <a:t>Title V § 501 · Title I § 102</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457200" y="347472"/>
            <a:ext cx="1188720" cy="347472"/>
          </a:xfrm>
          <a:prstGeom prst="roundRect">
            <a:avLst>
              <a:gd name="adj" fmla="val 13158"/>
            </a:avLst>
          </a:prstGeom>
          <a:solidFill>
            <a:srgbClr val="1E3A5F"/>
          </a:solidFill>
          <a:ln/>
        </p:spPr>
      </p:sp>
      <p:sp>
        <p:nvSpPr>
          <p:cNvPr id="3" name="Text 1"/>
          <p:cNvSpPr/>
          <p:nvPr/>
        </p:nvSpPr>
        <p:spPr>
          <a:xfrm>
            <a:off x="457200" y="347472"/>
            <a:ext cx="118872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Finding 10</a:t>
            </a:r>
            <a:endParaRPr lang="en-US" sz="1000" dirty="0"/>
          </a:p>
        </p:txBody>
      </p:sp>
      <p:sp>
        <p:nvSpPr>
          <p:cNvPr id="4" name="Text 2"/>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0D1A2E"/>
                </a:solidFill>
                <a:latin typeface="Cambria" pitchFamily="34" charset="0"/>
                <a:ea typeface="Cambria" pitchFamily="34" charset="-122"/>
                <a:cs typeface="Cambria" pitchFamily="34" charset="-120"/>
              </a:rPr>
              <a:t>Resilience-Based Posture Serves the Constitutional Mandate Better</a:t>
            </a:r>
            <a:endParaRPr lang="en-US" sz="2200" dirty="0"/>
          </a:p>
        </p:txBody>
      </p:sp>
      <p:sp>
        <p:nvSpPr>
          <p:cNvPr id="5" name="Shape 3"/>
          <p:cNvSpPr/>
          <p:nvPr/>
        </p:nvSpPr>
        <p:spPr>
          <a:xfrm>
            <a:off x="457200" y="1554480"/>
            <a:ext cx="8229600" cy="0"/>
          </a:xfrm>
          <a:prstGeom prst="line">
            <a:avLst/>
          </a:prstGeom>
          <a:noFill/>
          <a:ln w="19050">
            <a:solidFill>
              <a:srgbClr val="4A90D9"/>
            </a:solidFill>
            <a:prstDash val="solid"/>
          </a:ln>
        </p:spPr>
      </p:sp>
      <p:pic>
        <p:nvPicPr>
          <p:cNvPr id="6" name="Image 0" descr="preencoded.png">    </p:cNvPr>
          <p:cNvPicPr>
            <a:picLocks noChangeAspect="1"/>
          </p:cNvPicPr>
          <p:nvPr/>
        </p:nvPicPr>
        <p:blipFill>
          <a:blip r:embed="rId1"/>
          <a:stretch>
            <a:fillRect/>
          </a:stretch>
        </p:blipFill>
        <p:spPr>
          <a:xfrm>
            <a:off x="7863840" y="301752"/>
            <a:ext cx="594360" cy="594360"/>
          </a:xfrm>
          <a:prstGeom prst="rect">
            <a:avLst/>
          </a:prstGeom>
        </p:spPr>
      </p:pic>
      <p:sp>
        <p:nvSpPr>
          <p:cNvPr id="7" name="Text 4"/>
          <p:cNvSpPr/>
          <p:nvPr/>
        </p:nvSpPr>
        <p:spPr>
          <a:xfrm>
            <a:off x="457200" y="1691640"/>
            <a:ext cx="8229600" cy="3218688"/>
          </a:xfrm>
          <a:prstGeom prst="rect">
            <a:avLst/>
          </a:prstGeom>
          <a:noFill/>
          <a:ln/>
        </p:spPr>
        <p:txBody>
          <a:bodyPr wrap="square" rtlCol="0" anchor="t"/>
          <a:lstStyle/>
          <a:p>
            <a:pPr algn="l" indent="0" marL="0">
              <a:lnSpc>
                <a:spcPct val="88000"/>
              </a:lnSpc>
              <a:buNone/>
            </a:pPr>
            <a:r>
              <a:rPr lang="en-US" sz="1350" dirty="0">
                <a:solidFill>
                  <a:srgbClr val="1A2332"/>
                </a:solidFill>
                <a:latin typeface="Calibri" pitchFamily="34" charset="0"/>
                <a:ea typeface="Calibri" pitchFamily="34" charset="-122"/>
                <a:cs typeface="Calibri" pitchFamily="34" charset="-120"/>
              </a:rPr>
              <a:t>A resilience-based defense posture — organized around the protection of commons infrastructure, the deterrence of direct attacks on American territory and allied commons institutions, and the reduction of the overseas military footprint — serves the constitutional mandate to provide for the common defense more faithfully than the current power-projection posture.</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A2332"/>
                </a:solidFill>
                <a:latin typeface="Calibri" pitchFamily="34" charset="0"/>
                <a:ea typeface="Calibri" pitchFamily="34" charset="-122"/>
                <a:cs typeface="Calibri" pitchFamily="34" charset="-120"/>
              </a:rPr>
              <a:t>The current posture's costs have grown while its security returns have diminished, and its continued operation requires the perpetuation of fossil fuel dependence that both economic and ecological reality are already ending.</a:t>
            </a:r>
            <a:endParaRPr lang="en-US" sz="13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E2EAF2"/>
        </a:solidFill>
      </p:bgPr>
    </p:bg>
    <p:spTree>
      <p:nvGrpSpPr>
        <p:cNvPr id="1" name=""/>
        <p:cNvGrpSpPr/>
        <p:nvPr/>
      </p:nvGrpSpPr>
      <p:grpSpPr>
        <a:xfrm>
          <a:off x="0" y="0"/>
          <a:ext cx="0" cy="0"/>
          <a:chOff x="0" y="0"/>
          <a:chExt cx="0" cy="0"/>
        </a:xfrm>
      </p:grpSpPr>
      <p:sp>
        <p:nvSpPr>
          <p:cNvPr id="2" name="Shape 0"/>
          <p:cNvSpPr/>
          <p:nvPr/>
        </p:nvSpPr>
        <p:spPr>
          <a:xfrm>
            <a:off x="457200" y="347472"/>
            <a:ext cx="1463040" cy="347472"/>
          </a:xfrm>
          <a:prstGeom prst="roundRect">
            <a:avLst>
              <a:gd name="adj" fmla="val 13158"/>
            </a:avLst>
          </a:prstGeom>
          <a:solidFill>
            <a:srgbClr val="2C4A6E"/>
          </a:solidFill>
          <a:ln/>
        </p:spPr>
      </p:sp>
      <p:sp>
        <p:nvSpPr>
          <p:cNvPr id="3" name="Text 1"/>
          <p:cNvSpPr/>
          <p:nvPr/>
        </p:nvSpPr>
        <p:spPr>
          <a:xfrm>
            <a:off x="457200" y="347472"/>
            <a:ext cx="146304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Mechanism</a:t>
            </a:r>
            <a:endParaRPr lang="en-US" sz="1000" dirty="0"/>
          </a:p>
        </p:txBody>
      </p:sp>
      <p:sp>
        <p:nvSpPr>
          <p:cNvPr id="4" name="Text 2"/>
          <p:cNvSpPr/>
          <p:nvPr/>
        </p:nvSpPr>
        <p:spPr>
          <a:xfrm>
            <a:off x="2011680" y="347472"/>
            <a:ext cx="6492240" cy="347472"/>
          </a:xfrm>
          <a:prstGeom prst="rect">
            <a:avLst/>
          </a:prstGeom>
          <a:noFill/>
          <a:ln/>
        </p:spPr>
        <p:txBody>
          <a:bodyPr wrap="square" rtlCol="0" anchor="ctr"/>
          <a:lstStyle/>
          <a:p>
            <a:pPr indent="0" marL="0">
              <a:buNone/>
            </a:pPr>
            <a:r>
              <a:rPr lang="en-US" sz="1000" dirty="0">
                <a:solidFill>
                  <a:srgbClr val="2C4A6E"/>
                </a:solidFill>
                <a:latin typeface="Calibri" pitchFamily="34" charset="0"/>
                <a:ea typeface="Calibri" pitchFamily="34" charset="-122"/>
                <a:cs typeface="Calibri" pitchFamily="34" charset="-120"/>
              </a:rPr>
              <a:t>Finding 10 → Title I § 101, 103</a:t>
            </a:r>
            <a:endParaRPr lang="en-US" sz="1000" dirty="0"/>
          </a:p>
        </p:txBody>
      </p:sp>
      <p:sp>
        <p:nvSpPr>
          <p:cNvPr id="5" name="Text 3"/>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0D1A2E"/>
                </a:solidFill>
                <a:latin typeface="Cambria" pitchFamily="34" charset="0"/>
                <a:ea typeface="Cambria" pitchFamily="34" charset="-122"/>
                <a:cs typeface="Cambria" pitchFamily="34" charset="-120"/>
              </a:rPr>
              <a:t>What the Bill Does</a:t>
            </a:r>
            <a:endParaRPr lang="en-US" sz="2200" dirty="0"/>
          </a:p>
        </p:txBody>
      </p:sp>
      <p:sp>
        <p:nvSpPr>
          <p:cNvPr id="6" name="Shape 4"/>
          <p:cNvSpPr/>
          <p:nvPr/>
        </p:nvSpPr>
        <p:spPr>
          <a:xfrm>
            <a:off x="457200" y="1554480"/>
            <a:ext cx="8229600" cy="0"/>
          </a:xfrm>
          <a:prstGeom prst="line">
            <a:avLst/>
          </a:prstGeom>
          <a:noFill/>
          <a:ln w="19050">
            <a:solidFill>
              <a:srgbClr val="2C4A6E"/>
            </a:solidFill>
            <a:prstDash val="solid"/>
          </a:ln>
        </p:spPr>
      </p:sp>
      <p:sp>
        <p:nvSpPr>
          <p:cNvPr id="7" name="Text 5"/>
          <p:cNvSpPr/>
          <p:nvPr/>
        </p:nvSpPr>
        <p:spPr>
          <a:xfrm>
            <a:off x="457200" y="1691640"/>
            <a:ext cx="8229600" cy="2761488"/>
          </a:xfrm>
          <a:prstGeom prst="rect">
            <a:avLst/>
          </a:prstGeom>
          <a:noFill/>
          <a:ln/>
        </p:spPr>
        <p:txBody>
          <a:bodyPr wrap="square" rtlCol="0" anchor="t"/>
          <a:lstStyle/>
          <a:p>
            <a:pPr algn="l" indent="0" marL="0">
              <a:lnSpc>
                <a:spcPct val="88000"/>
              </a:lnSpc>
              <a:buNone/>
            </a:pPr>
            <a:r>
              <a:rPr lang="en-US" sz="1350" dirty="0">
                <a:solidFill>
                  <a:srgbClr val="1A2332"/>
                </a:solidFill>
                <a:latin typeface="Calibri" pitchFamily="34" charset="0"/>
                <a:ea typeface="Calibri" pitchFamily="34" charset="-122"/>
                <a:cs typeface="Calibri" pitchFamily="34" charset="-120"/>
              </a:rPr>
              <a:t>Section 101's Declaration and Doctrine establishes the resilience-based posture as the operative constitutional interpretation of Congress's defense power: the armed forces are constitutionally authorized to protect the territorial integrity of the United States and its allies, deter direct attacks, and protect commons infrastructure — and are not constitutionally authorized to project power in service of global monetary arrangements or private economic interests.</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A2332"/>
                </a:solidFill>
                <a:latin typeface="Calibri" pitchFamily="34" charset="0"/>
                <a:ea typeface="Calibri" pitchFamily="34" charset="-122"/>
                <a:cs typeface="Calibri" pitchFamily="34" charset="-120"/>
              </a:rPr>
              <a:t>Section 103's Force Structure Transition plan requires the Joint Chiefs to demonstrate, in each milestone report, how the reoriented force structure provides superior protection for the constitutional missions while reducing the costs of the current power-projection posture.</a:t>
            </a:r>
            <a:endParaRPr lang="en-US" sz="1350" dirty="0"/>
          </a:p>
        </p:txBody>
      </p:sp>
      <p:sp>
        <p:nvSpPr>
          <p:cNvPr id="8" name="Text 6"/>
          <p:cNvSpPr/>
          <p:nvPr/>
        </p:nvSpPr>
        <p:spPr>
          <a:xfrm>
            <a:off x="457200" y="4507992"/>
            <a:ext cx="8229600" cy="384048"/>
          </a:xfrm>
          <a:prstGeom prst="rect">
            <a:avLst/>
          </a:prstGeom>
          <a:noFill/>
          <a:ln/>
        </p:spPr>
        <p:txBody>
          <a:bodyPr wrap="square" rtlCol="0" anchor="ctr"/>
          <a:lstStyle/>
          <a:p>
            <a:pPr indent="0" marL="0">
              <a:buNone/>
            </a:pPr>
            <a:r>
              <a:rPr lang="en-US" sz="1000" dirty="0">
                <a:solidFill>
                  <a:srgbClr val="2C4A6E"/>
                </a:solidFill>
                <a:latin typeface="Courier New" pitchFamily="34" charset="0"/>
                <a:ea typeface="Courier New" pitchFamily="34" charset="-122"/>
                <a:cs typeface="Courier New" pitchFamily="34" charset="-120"/>
              </a:rPr>
              <a:t>Title I § 101 · § 103</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4A90D9"/>
        </a:solidFill>
      </p:bgPr>
    </p:bg>
    <p:spTree>
      <p:nvGrpSpPr>
        <p:cNvPr id="1" name=""/>
        <p:cNvGrpSpPr/>
        <p:nvPr/>
      </p:nvGrpSpPr>
      <p:grpSpPr>
        <a:xfrm>
          <a:off x="0" y="0"/>
          <a:ext cx="0" cy="0"/>
          <a:chOff x="0" y="0"/>
          <a:chExt cx="0" cy="0"/>
        </a:xfrm>
      </p:grpSpPr>
      <p:sp>
        <p:nvSpPr>
          <p:cNvPr id="2" name="Text 0"/>
          <p:cNvSpPr/>
          <p:nvPr/>
        </p:nvSpPr>
        <p:spPr>
          <a:xfrm>
            <a:off x="548640" y="640080"/>
            <a:ext cx="8046720" cy="411480"/>
          </a:xfrm>
          <a:prstGeom prst="rect">
            <a:avLst/>
          </a:prstGeom>
          <a:noFill/>
          <a:ln/>
        </p:spPr>
        <p:txBody>
          <a:bodyPr wrap="square" rtlCol="0" anchor="ctr"/>
          <a:lstStyle/>
          <a:p>
            <a:pPr indent="0" marL="0">
              <a:buNone/>
            </a:pPr>
            <a:r>
              <a:rPr lang="en-US" sz="1400" b="1" spc="400" kern="0" dirty="0">
                <a:solidFill>
                  <a:srgbClr val="FFFFFF"/>
                </a:solidFill>
                <a:latin typeface="Arial" pitchFamily="34" charset="0"/>
                <a:ea typeface="Arial" pitchFamily="34" charset="-122"/>
                <a:cs typeface="Arial" pitchFamily="34" charset="-120"/>
              </a:rPr>
              <a:t>Section III</a:t>
            </a:r>
            <a:endParaRPr lang="en-US" sz="1400" dirty="0"/>
          </a:p>
        </p:txBody>
      </p:sp>
      <p:sp>
        <p:nvSpPr>
          <p:cNvPr id="3" name="Text 1"/>
          <p:cNvSpPr/>
          <p:nvPr/>
        </p:nvSpPr>
        <p:spPr>
          <a:xfrm>
            <a:off x="548640" y="1097280"/>
            <a:ext cx="8046720" cy="1828800"/>
          </a:xfrm>
          <a:prstGeom prst="rect">
            <a:avLst/>
          </a:prstGeom>
          <a:noFill/>
          <a:ln/>
        </p:spPr>
        <p:txBody>
          <a:bodyPr wrap="square"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Automation, Labor,</a:t>
            </a:r>
            <a:endParaRPr lang="en-US" sz="3400" dirty="0"/>
          </a:p>
          <a:p>
            <a:pPr indent="0" marL="0">
              <a:buNone/>
            </a:pPr>
            <a:r>
              <a:rPr lang="en-US" sz="3400" b="1" dirty="0">
                <a:solidFill>
                  <a:srgbClr val="FFFFFF"/>
                </a:solidFill>
                <a:latin typeface="Cambria" pitchFamily="34" charset="0"/>
                <a:ea typeface="Cambria" pitchFamily="34" charset="-122"/>
                <a:cs typeface="Cambria" pitchFamily="34" charset="-120"/>
              </a:rPr>
              <a:t>and the Commons</a:t>
            </a:r>
            <a:endParaRPr lang="en-US" sz="3400" dirty="0"/>
          </a:p>
        </p:txBody>
      </p:sp>
      <p:sp>
        <p:nvSpPr>
          <p:cNvPr id="4" name="Text 2"/>
          <p:cNvSpPr/>
          <p:nvPr/>
        </p:nvSpPr>
        <p:spPr>
          <a:xfrm>
            <a:off x="548640" y="3017520"/>
            <a:ext cx="8046720" cy="822960"/>
          </a:xfrm>
          <a:prstGeom prst="rect">
            <a:avLst/>
          </a:prstGeom>
          <a:noFill/>
          <a:ln/>
        </p:spPr>
        <p:txBody>
          <a:bodyPr wrap="square" rtlCol="0" anchor="ctr"/>
          <a:lstStyle/>
          <a:p>
            <a:pPr indent="0" marL="0">
              <a:buNone/>
            </a:pPr>
            <a:r>
              <a:rPr lang="en-US" sz="1500" i="1" dirty="0">
                <a:solidFill>
                  <a:srgbClr val="F0F4F8"/>
                </a:solidFill>
                <a:latin typeface="Calibri" pitchFamily="34" charset="0"/>
                <a:ea typeface="Calibri" pitchFamily="34" charset="-122"/>
                <a:cs typeface="Calibri" pitchFamily="34" charset="-120"/>
              </a:rPr>
              <a:t>Findings 11–14: Who captures the productivity gains?</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457200" y="347472"/>
            <a:ext cx="1188720" cy="347472"/>
          </a:xfrm>
          <a:prstGeom prst="roundRect">
            <a:avLst>
              <a:gd name="adj" fmla="val 13158"/>
            </a:avLst>
          </a:prstGeom>
          <a:solidFill>
            <a:srgbClr val="1E3A5F"/>
          </a:solidFill>
          <a:ln/>
        </p:spPr>
      </p:sp>
      <p:sp>
        <p:nvSpPr>
          <p:cNvPr id="3" name="Text 1"/>
          <p:cNvSpPr/>
          <p:nvPr/>
        </p:nvSpPr>
        <p:spPr>
          <a:xfrm>
            <a:off x="457200" y="347472"/>
            <a:ext cx="118872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Finding 11</a:t>
            </a:r>
            <a:endParaRPr lang="en-US" sz="1000" dirty="0"/>
          </a:p>
        </p:txBody>
      </p:sp>
      <p:sp>
        <p:nvSpPr>
          <p:cNvPr id="4" name="Text 2"/>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0D1A2E"/>
                </a:solidFill>
                <a:latin typeface="Cambria" pitchFamily="34" charset="0"/>
                <a:ea typeface="Cambria" pitchFamily="34" charset="-122"/>
                <a:cs typeface="Cambria" pitchFamily="34" charset="-120"/>
              </a:rPr>
              <a:t>Automation Displaces Labor — Who Captures the Gains?</a:t>
            </a:r>
            <a:endParaRPr lang="en-US" sz="2200" dirty="0"/>
          </a:p>
        </p:txBody>
      </p:sp>
      <p:sp>
        <p:nvSpPr>
          <p:cNvPr id="5" name="Shape 3"/>
          <p:cNvSpPr/>
          <p:nvPr/>
        </p:nvSpPr>
        <p:spPr>
          <a:xfrm>
            <a:off x="457200" y="1554480"/>
            <a:ext cx="8229600" cy="0"/>
          </a:xfrm>
          <a:prstGeom prst="line">
            <a:avLst/>
          </a:prstGeom>
          <a:noFill/>
          <a:ln w="19050">
            <a:solidFill>
              <a:srgbClr val="4A90D9"/>
            </a:solidFill>
            <a:prstDash val="solid"/>
          </a:ln>
        </p:spPr>
      </p:sp>
      <p:pic>
        <p:nvPicPr>
          <p:cNvPr id="6" name="Image 0" descr="preencoded.png">    </p:cNvPr>
          <p:cNvPicPr>
            <a:picLocks noChangeAspect="1"/>
          </p:cNvPicPr>
          <p:nvPr/>
        </p:nvPicPr>
        <p:blipFill>
          <a:blip r:embed="rId1"/>
          <a:stretch>
            <a:fillRect/>
          </a:stretch>
        </p:blipFill>
        <p:spPr>
          <a:xfrm>
            <a:off x="7863840" y="301752"/>
            <a:ext cx="594360" cy="594360"/>
          </a:xfrm>
          <a:prstGeom prst="rect">
            <a:avLst/>
          </a:prstGeom>
        </p:spPr>
      </p:pic>
      <p:sp>
        <p:nvSpPr>
          <p:cNvPr id="7" name="Text 4"/>
          <p:cNvSpPr/>
          <p:nvPr/>
        </p:nvSpPr>
        <p:spPr>
          <a:xfrm>
            <a:off x="457200" y="1691640"/>
            <a:ext cx="8229600" cy="3218688"/>
          </a:xfrm>
          <a:prstGeom prst="rect">
            <a:avLst/>
          </a:prstGeom>
          <a:noFill/>
          <a:ln/>
        </p:spPr>
        <p:txBody>
          <a:bodyPr wrap="square" rtlCol="0" anchor="t"/>
          <a:lstStyle/>
          <a:p>
            <a:pPr algn="l" indent="0" marL="0">
              <a:lnSpc>
                <a:spcPct val="88000"/>
              </a:lnSpc>
              <a:buNone/>
            </a:pPr>
            <a:r>
              <a:rPr lang="en-US" sz="1350" dirty="0">
                <a:solidFill>
                  <a:srgbClr val="1A2332"/>
                </a:solidFill>
                <a:latin typeface="Calibri" pitchFamily="34" charset="0"/>
                <a:ea typeface="Calibri" pitchFamily="34" charset="-122"/>
                <a:cs typeface="Calibri" pitchFamily="34" charset="-120"/>
              </a:rPr>
              <a:t>Automated systems — including artificial intelligence, machine learning, robotics, and algorithmic decision-making platforms — are progressively displacing human labor across manufacturing, logistics, agriculture, professional services, creative work, and governance.</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A2332"/>
                </a:solidFill>
                <a:latin typeface="Calibri" pitchFamily="34" charset="0"/>
                <a:ea typeface="Calibri" pitchFamily="34" charset="-122"/>
                <a:cs typeface="Calibri" pitchFamily="34" charset="-120"/>
              </a:rPr>
              <a:t>The central question posed by this displacement is not whether it will occur but who will capture the productivity gains it generates. Under the current economic arrangement, those gains flow primarily to the owners of the automated systems, while the workers whose labor is displaced bear the costs of displacement without claim on the abundance automation creates.</a:t>
            </a:r>
            <a:endParaRPr lang="en-US" sz="13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E2EAF2"/>
        </a:solidFill>
      </p:bgPr>
    </p:bg>
    <p:spTree>
      <p:nvGrpSpPr>
        <p:cNvPr id="1" name=""/>
        <p:cNvGrpSpPr/>
        <p:nvPr/>
      </p:nvGrpSpPr>
      <p:grpSpPr>
        <a:xfrm>
          <a:off x="0" y="0"/>
          <a:ext cx="0" cy="0"/>
          <a:chOff x="0" y="0"/>
          <a:chExt cx="0" cy="0"/>
        </a:xfrm>
      </p:grpSpPr>
      <p:sp>
        <p:nvSpPr>
          <p:cNvPr id="2" name="Shape 0"/>
          <p:cNvSpPr/>
          <p:nvPr/>
        </p:nvSpPr>
        <p:spPr>
          <a:xfrm>
            <a:off x="457200" y="347472"/>
            <a:ext cx="1463040" cy="347472"/>
          </a:xfrm>
          <a:prstGeom prst="roundRect">
            <a:avLst>
              <a:gd name="adj" fmla="val 13158"/>
            </a:avLst>
          </a:prstGeom>
          <a:solidFill>
            <a:srgbClr val="2C4A6E"/>
          </a:solidFill>
          <a:ln/>
        </p:spPr>
      </p:sp>
      <p:sp>
        <p:nvSpPr>
          <p:cNvPr id="3" name="Text 1"/>
          <p:cNvSpPr/>
          <p:nvPr/>
        </p:nvSpPr>
        <p:spPr>
          <a:xfrm>
            <a:off x="457200" y="347472"/>
            <a:ext cx="146304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Mechanism</a:t>
            </a:r>
            <a:endParaRPr lang="en-US" sz="1000" dirty="0"/>
          </a:p>
        </p:txBody>
      </p:sp>
      <p:sp>
        <p:nvSpPr>
          <p:cNvPr id="4" name="Text 2"/>
          <p:cNvSpPr/>
          <p:nvPr/>
        </p:nvSpPr>
        <p:spPr>
          <a:xfrm>
            <a:off x="2011680" y="347472"/>
            <a:ext cx="6492240" cy="347472"/>
          </a:xfrm>
          <a:prstGeom prst="rect">
            <a:avLst/>
          </a:prstGeom>
          <a:noFill/>
          <a:ln/>
        </p:spPr>
        <p:txBody>
          <a:bodyPr wrap="square" rtlCol="0" anchor="ctr"/>
          <a:lstStyle/>
          <a:p>
            <a:pPr indent="0" marL="0">
              <a:buNone/>
            </a:pPr>
            <a:r>
              <a:rPr lang="en-US" sz="1000" dirty="0">
                <a:solidFill>
                  <a:srgbClr val="2C4A6E"/>
                </a:solidFill>
                <a:latin typeface="Calibri" pitchFamily="34" charset="0"/>
                <a:ea typeface="Calibri" pitchFamily="34" charset="-122"/>
                <a:cs typeface="Calibri" pitchFamily="34" charset="-120"/>
              </a:rPr>
              <a:t>Finding 11 → Title IV § 401, 402</a:t>
            </a:r>
            <a:endParaRPr lang="en-US" sz="1000" dirty="0"/>
          </a:p>
        </p:txBody>
      </p:sp>
      <p:sp>
        <p:nvSpPr>
          <p:cNvPr id="5" name="Text 3"/>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0D1A2E"/>
                </a:solidFill>
                <a:latin typeface="Cambria" pitchFamily="34" charset="0"/>
                <a:ea typeface="Cambria" pitchFamily="34" charset="-122"/>
                <a:cs typeface="Cambria" pitchFamily="34" charset="-120"/>
              </a:rPr>
              <a:t>What the Bill Does</a:t>
            </a:r>
            <a:endParaRPr lang="en-US" sz="2200" dirty="0"/>
          </a:p>
        </p:txBody>
      </p:sp>
      <p:sp>
        <p:nvSpPr>
          <p:cNvPr id="6" name="Shape 4"/>
          <p:cNvSpPr/>
          <p:nvPr/>
        </p:nvSpPr>
        <p:spPr>
          <a:xfrm>
            <a:off x="457200" y="1554480"/>
            <a:ext cx="8229600" cy="0"/>
          </a:xfrm>
          <a:prstGeom prst="line">
            <a:avLst/>
          </a:prstGeom>
          <a:noFill/>
          <a:ln w="19050">
            <a:solidFill>
              <a:srgbClr val="2C4A6E"/>
            </a:solidFill>
            <a:prstDash val="solid"/>
          </a:ln>
        </p:spPr>
      </p:sp>
      <p:sp>
        <p:nvSpPr>
          <p:cNvPr id="7" name="Text 5"/>
          <p:cNvSpPr/>
          <p:nvPr/>
        </p:nvSpPr>
        <p:spPr>
          <a:xfrm>
            <a:off x="457200" y="1691640"/>
            <a:ext cx="8229600" cy="2761488"/>
          </a:xfrm>
          <a:prstGeom prst="rect">
            <a:avLst/>
          </a:prstGeom>
          <a:noFill/>
          <a:ln/>
        </p:spPr>
        <p:txBody>
          <a:bodyPr wrap="square" rtlCol="0" anchor="t"/>
          <a:lstStyle/>
          <a:p>
            <a:pPr algn="l" indent="0" marL="0">
              <a:lnSpc>
                <a:spcPct val="88000"/>
              </a:lnSpc>
              <a:buNone/>
            </a:pPr>
            <a:r>
              <a:rPr lang="en-US" sz="1350" dirty="0">
                <a:solidFill>
                  <a:srgbClr val="1A2332"/>
                </a:solidFill>
                <a:latin typeface="Calibri" pitchFamily="34" charset="0"/>
                <a:ea typeface="Calibri" pitchFamily="34" charset="-122"/>
                <a:cs typeface="Calibri" pitchFamily="34" charset="-120"/>
              </a:rPr>
              <a:t>Section 401 establishes the Commons Automation Principle: automated systems deployed within the Federated Network are governed as commons resources, their productive output serves the material wellbeing of all Commons Members, and no automated system deployed in commons infrastructure may be used to concentrate productive gains in any individual or enterprise at the expense of the broader membership.</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A2332"/>
                </a:solidFill>
                <a:latin typeface="Calibri" pitchFamily="34" charset="0"/>
                <a:ea typeface="Calibri" pitchFamily="34" charset="-122"/>
                <a:cs typeface="Calibri" pitchFamily="34" charset="-120"/>
              </a:rPr>
              <a:t>Section 402 establishes the Automation Dividend: the mechanism by which productivity gains generated by commons-deployed automated systems are distributed to Commons Members through reductions in required labor contributions, improvements to the Guaranteed Provision Standard, and contributions to the Bootstrap Grant Program. The Dividend is calculated by the Automation Governance Council and applied automatically through the National Resilience Ledger.</a:t>
            </a:r>
            <a:endParaRPr lang="en-US" sz="1350" dirty="0"/>
          </a:p>
        </p:txBody>
      </p:sp>
      <p:sp>
        <p:nvSpPr>
          <p:cNvPr id="8" name="Text 6"/>
          <p:cNvSpPr/>
          <p:nvPr/>
        </p:nvSpPr>
        <p:spPr>
          <a:xfrm>
            <a:off x="457200" y="4507992"/>
            <a:ext cx="8229600" cy="384048"/>
          </a:xfrm>
          <a:prstGeom prst="rect">
            <a:avLst/>
          </a:prstGeom>
          <a:noFill/>
          <a:ln/>
        </p:spPr>
        <p:txBody>
          <a:bodyPr wrap="square" rtlCol="0" anchor="ctr"/>
          <a:lstStyle/>
          <a:p>
            <a:pPr indent="0" marL="0">
              <a:buNone/>
            </a:pPr>
            <a:r>
              <a:rPr lang="en-US" sz="1000" dirty="0">
                <a:solidFill>
                  <a:srgbClr val="2C4A6E"/>
                </a:solidFill>
                <a:latin typeface="Courier New" pitchFamily="34" charset="0"/>
                <a:ea typeface="Courier New" pitchFamily="34" charset="-122"/>
                <a:cs typeface="Courier New" pitchFamily="34" charset="-120"/>
              </a:rPr>
              <a:t>Title IV § 401 · § 402</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457200" y="347472"/>
            <a:ext cx="1188720" cy="347472"/>
          </a:xfrm>
          <a:prstGeom prst="roundRect">
            <a:avLst>
              <a:gd name="adj" fmla="val 13158"/>
            </a:avLst>
          </a:prstGeom>
          <a:solidFill>
            <a:srgbClr val="1E3A5F"/>
          </a:solidFill>
          <a:ln/>
        </p:spPr>
      </p:sp>
      <p:sp>
        <p:nvSpPr>
          <p:cNvPr id="3" name="Text 1"/>
          <p:cNvSpPr/>
          <p:nvPr/>
        </p:nvSpPr>
        <p:spPr>
          <a:xfrm>
            <a:off x="457200" y="347472"/>
            <a:ext cx="118872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Finding 12</a:t>
            </a:r>
            <a:endParaRPr lang="en-US" sz="1000" dirty="0"/>
          </a:p>
        </p:txBody>
      </p:sp>
      <p:sp>
        <p:nvSpPr>
          <p:cNvPr id="4" name="Text 2"/>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0D1A2E"/>
                </a:solidFill>
                <a:latin typeface="Cambria" pitchFamily="34" charset="0"/>
                <a:ea typeface="Cambria" pitchFamily="34" charset="-122"/>
                <a:cs typeface="Cambria" pitchFamily="34" charset="-120"/>
              </a:rPr>
              <a:t>The Commons Economy Provides the Architecture for a Different Answer</a:t>
            </a:r>
            <a:endParaRPr lang="en-US" sz="2200" dirty="0"/>
          </a:p>
        </p:txBody>
      </p:sp>
      <p:sp>
        <p:nvSpPr>
          <p:cNvPr id="5" name="Shape 3"/>
          <p:cNvSpPr/>
          <p:nvPr/>
        </p:nvSpPr>
        <p:spPr>
          <a:xfrm>
            <a:off x="457200" y="1554480"/>
            <a:ext cx="8229600" cy="0"/>
          </a:xfrm>
          <a:prstGeom prst="line">
            <a:avLst/>
          </a:prstGeom>
          <a:noFill/>
          <a:ln w="19050">
            <a:solidFill>
              <a:srgbClr val="4A90D9"/>
            </a:solidFill>
            <a:prstDash val="solid"/>
          </a:ln>
        </p:spPr>
      </p:sp>
      <p:pic>
        <p:nvPicPr>
          <p:cNvPr id="6" name="Image 0" descr="preencoded.png">    </p:cNvPr>
          <p:cNvPicPr>
            <a:picLocks noChangeAspect="1"/>
          </p:cNvPicPr>
          <p:nvPr/>
        </p:nvPicPr>
        <p:blipFill>
          <a:blip r:embed="rId1"/>
          <a:stretch>
            <a:fillRect/>
          </a:stretch>
        </p:blipFill>
        <p:spPr>
          <a:xfrm>
            <a:off x="7863840" y="301752"/>
            <a:ext cx="594360" cy="594360"/>
          </a:xfrm>
          <a:prstGeom prst="rect">
            <a:avLst/>
          </a:prstGeom>
        </p:spPr>
      </p:pic>
      <p:sp>
        <p:nvSpPr>
          <p:cNvPr id="7" name="Text 4"/>
          <p:cNvSpPr/>
          <p:nvPr/>
        </p:nvSpPr>
        <p:spPr>
          <a:xfrm>
            <a:off x="457200" y="1691640"/>
            <a:ext cx="8229600" cy="3218688"/>
          </a:xfrm>
          <a:prstGeom prst="rect">
            <a:avLst/>
          </a:prstGeom>
          <a:noFill/>
          <a:ln/>
        </p:spPr>
        <p:txBody>
          <a:bodyPr wrap="square" rtlCol="0" anchor="t"/>
          <a:lstStyle/>
          <a:p>
            <a:pPr algn="l" indent="0" marL="0">
              <a:lnSpc>
                <a:spcPct val="88000"/>
              </a:lnSpc>
              <a:buNone/>
            </a:pPr>
            <a:r>
              <a:rPr lang="en-US" sz="1350" dirty="0">
                <a:solidFill>
                  <a:srgbClr val="1A2332"/>
                </a:solidFill>
                <a:latin typeface="Calibri" pitchFamily="34" charset="0"/>
                <a:ea typeface="Calibri" pitchFamily="34" charset="-122"/>
                <a:cs typeface="Calibri" pitchFamily="34" charset="-120"/>
              </a:rPr>
              <a:t>The commons economy established by the Federal Resilience and Decentralization Initiatives Act provides the institutional architecture for a different answer to the automation question: automated systems deployed within the Federated Network are governed as commons resources, their productivity gains are distributed through improvements to the Guaranteed Provision Standard and reductions in required labor contributions, and no individual or enterprise may capture the benefits of commons-deployed automation at the expense of the Commons Members whose collective infrastructure made the automation possible.</a:t>
            </a:r>
            <a:endParaRPr lang="en-US" sz="13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E2EAF2"/>
        </a:solidFill>
      </p:bgPr>
    </p:bg>
    <p:spTree>
      <p:nvGrpSpPr>
        <p:cNvPr id="1" name=""/>
        <p:cNvGrpSpPr/>
        <p:nvPr/>
      </p:nvGrpSpPr>
      <p:grpSpPr>
        <a:xfrm>
          <a:off x="0" y="0"/>
          <a:ext cx="0" cy="0"/>
          <a:chOff x="0" y="0"/>
          <a:chExt cx="0" cy="0"/>
        </a:xfrm>
      </p:grpSpPr>
      <p:sp>
        <p:nvSpPr>
          <p:cNvPr id="2" name="Shape 0"/>
          <p:cNvSpPr/>
          <p:nvPr/>
        </p:nvSpPr>
        <p:spPr>
          <a:xfrm>
            <a:off x="457200" y="347472"/>
            <a:ext cx="1463040" cy="347472"/>
          </a:xfrm>
          <a:prstGeom prst="roundRect">
            <a:avLst>
              <a:gd name="adj" fmla="val 13158"/>
            </a:avLst>
          </a:prstGeom>
          <a:solidFill>
            <a:srgbClr val="2C4A6E"/>
          </a:solidFill>
          <a:ln/>
        </p:spPr>
      </p:sp>
      <p:sp>
        <p:nvSpPr>
          <p:cNvPr id="3" name="Text 1"/>
          <p:cNvSpPr/>
          <p:nvPr/>
        </p:nvSpPr>
        <p:spPr>
          <a:xfrm>
            <a:off x="457200" y="347472"/>
            <a:ext cx="146304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Mechanism</a:t>
            </a:r>
            <a:endParaRPr lang="en-US" sz="1000" dirty="0"/>
          </a:p>
        </p:txBody>
      </p:sp>
      <p:sp>
        <p:nvSpPr>
          <p:cNvPr id="4" name="Text 2"/>
          <p:cNvSpPr/>
          <p:nvPr/>
        </p:nvSpPr>
        <p:spPr>
          <a:xfrm>
            <a:off x="2011680" y="347472"/>
            <a:ext cx="6492240" cy="347472"/>
          </a:xfrm>
          <a:prstGeom prst="rect">
            <a:avLst/>
          </a:prstGeom>
          <a:noFill/>
          <a:ln/>
        </p:spPr>
        <p:txBody>
          <a:bodyPr wrap="square" rtlCol="0" anchor="ctr"/>
          <a:lstStyle/>
          <a:p>
            <a:pPr indent="0" marL="0">
              <a:buNone/>
            </a:pPr>
            <a:r>
              <a:rPr lang="en-US" sz="1000" dirty="0">
                <a:solidFill>
                  <a:srgbClr val="2C4A6E"/>
                </a:solidFill>
                <a:latin typeface="Calibri" pitchFamily="34" charset="0"/>
                <a:ea typeface="Calibri" pitchFamily="34" charset="-122"/>
                <a:cs typeface="Calibri" pitchFamily="34" charset="-120"/>
              </a:rPr>
              <a:t>Finding 12 → Title IV § 401, 402; Title V § 501</a:t>
            </a:r>
            <a:endParaRPr lang="en-US" sz="1000" dirty="0"/>
          </a:p>
        </p:txBody>
      </p:sp>
      <p:sp>
        <p:nvSpPr>
          <p:cNvPr id="5" name="Text 3"/>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0D1A2E"/>
                </a:solidFill>
                <a:latin typeface="Cambria" pitchFamily="34" charset="0"/>
                <a:ea typeface="Cambria" pitchFamily="34" charset="-122"/>
                <a:cs typeface="Cambria" pitchFamily="34" charset="-120"/>
              </a:rPr>
              <a:t>What the Bill Does</a:t>
            </a:r>
            <a:endParaRPr lang="en-US" sz="2200" dirty="0"/>
          </a:p>
        </p:txBody>
      </p:sp>
      <p:sp>
        <p:nvSpPr>
          <p:cNvPr id="6" name="Shape 4"/>
          <p:cNvSpPr/>
          <p:nvPr/>
        </p:nvSpPr>
        <p:spPr>
          <a:xfrm>
            <a:off x="457200" y="1554480"/>
            <a:ext cx="8229600" cy="0"/>
          </a:xfrm>
          <a:prstGeom prst="line">
            <a:avLst/>
          </a:prstGeom>
          <a:noFill/>
          <a:ln w="19050">
            <a:solidFill>
              <a:srgbClr val="2C4A6E"/>
            </a:solidFill>
            <a:prstDash val="solid"/>
          </a:ln>
        </p:spPr>
      </p:sp>
      <p:sp>
        <p:nvSpPr>
          <p:cNvPr id="7" name="Text 5"/>
          <p:cNvSpPr/>
          <p:nvPr/>
        </p:nvSpPr>
        <p:spPr>
          <a:xfrm>
            <a:off x="457200" y="1691640"/>
            <a:ext cx="8229600" cy="2761488"/>
          </a:xfrm>
          <a:prstGeom prst="rect">
            <a:avLst/>
          </a:prstGeom>
          <a:noFill/>
          <a:ln/>
        </p:spPr>
        <p:txBody>
          <a:bodyPr wrap="square" rtlCol="0" anchor="t"/>
          <a:lstStyle/>
          <a:p>
            <a:pPr algn="l" indent="0" marL="0">
              <a:lnSpc>
                <a:spcPct val="88000"/>
              </a:lnSpc>
              <a:buNone/>
            </a:pPr>
            <a:r>
              <a:rPr lang="en-US" sz="1350" dirty="0">
                <a:solidFill>
                  <a:srgbClr val="1A2332"/>
                </a:solidFill>
                <a:latin typeface="Calibri" pitchFamily="34" charset="0"/>
                <a:ea typeface="Calibri" pitchFamily="34" charset="-122"/>
                <a:cs typeface="Calibri" pitchFamily="34" charset="-120"/>
              </a:rPr>
              <a:t>Section 401's Commons Automation Principle and Section 402's Automation Dividend are both conditioned on the existence of the FRDI Act's infrastructure: the Guaranteed Provision Standard, the National Resilience Ledger, and the Federated Network governance architecture.</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A2332"/>
                </a:solidFill>
                <a:latin typeface="Calibri" pitchFamily="34" charset="0"/>
                <a:ea typeface="Calibri" pitchFamily="34" charset="-122"/>
                <a:cs typeface="Calibri" pitchFamily="34" charset="-120"/>
              </a:rPr>
              <a:t>Section 501's dependency provision makes this explicit: the automation governance provisions of Title IV presuppose the enactment and implementation of the FRDI Act. The Automation Dividend cannot be calculated or distributed without the commons credit system. The Commons Automation Principle cannot be enforced without the QFN certification and peer monitoring architecture. The two Acts are a single program.</a:t>
            </a:r>
            <a:endParaRPr lang="en-US" sz="1350" dirty="0"/>
          </a:p>
        </p:txBody>
      </p:sp>
      <p:sp>
        <p:nvSpPr>
          <p:cNvPr id="8" name="Text 6"/>
          <p:cNvSpPr/>
          <p:nvPr/>
        </p:nvSpPr>
        <p:spPr>
          <a:xfrm>
            <a:off x="457200" y="4507992"/>
            <a:ext cx="8229600" cy="384048"/>
          </a:xfrm>
          <a:prstGeom prst="rect">
            <a:avLst/>
          </a:prstGeom>
          <a:noFill/>
          <a:ln/>
        </p:spPr>
        <p:txBody>
          <a:bodyPr wrap="square" rtlCol="0" anchor="ctr"/>
          <a:lstStyle/>
          <a:p>
            <a:pPr indent="0" marL="0">
              <a:buNone/>
            </a:pPr>
            <a:r>
              <a:rPr lang="en-US" sz="1000" dirty="0">
                <a:solidFill>
                  <a:srgbClr val="2C4A6E"/>
                </a:solidFill>
                <a:latin typeface="Courier New" pitchFamily="34" charset="0"/>
                <a:ea typeface="Courier New" pitchFamily="34" charset="-122"/>
                <a:cs typeface="Courier New" pitchFamily="34" charset="-120"/>
              </a:rPr>
              <a:t>Title IV § 401 · § 402 · Title V § 501</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457200" y="347472"/>
            <a:ext cx="1188720" cy="347472"/>
          </a:xfrm>
          <a:prstGeom prst="roundRect">
            <a:avLst>
              <a:gd name="adj" fmla="val 13158"/>
            </a:avLst>
          </a:prstGeom>
          <a:solidFill>
            <a:srgbClr val="1E3A5F"/>
          </a:solidFill>
          <a:ln/>
        </p:spPr>
      </p:sp>
      <p:sp>
        <p:nvSpPr>
          <p:cNvPr id="3" name="Text 1"/>
          <p:cNvSpPr/>
          <p:nvPr/>
        </p:nvSpPr>
        <p:spPr>
          <a:xfrm>
            <a:off x="457200" y="347472"/>
            <a:ext cx="118872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Finding 13</a:t>
            </a:r>
            <a:endParaRPr lang="en-US" sz="1000" dirty="0"/>
          </a:p>
        </p:txBody>
      </p:sp>
      <p:sp>
        <p:nvSpPr>
          <p:cNvPr id="4" name="Text 2"/>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0D1A2E"/>
                </a:solidFill>
                <a:latin typeface="Cambria" pitchFamily="34" charset="0"/>
                <a:ea typeface="Cambria" pitchFamily="34" charset="-122"/>
                <a:cs typeface="Cambria" pitchFamily="34" charset="-120"/>
              </a:rPr>
              <a:t>Automation Governance Is a Security Question</a:t>
            </a:r>
            <a:endParaRPr lang="en-US" sz="2200" dirty="0"/>
          </a:p>
        </p:txBody>
      </p:sp>
      <p:sp>
        <p:nvSpPr>
          <p:cNvPr id="5" name="Shape 3"/>
          <p:cNvSpPr/>
          <p:nvPr/>
        </p:nvSpPr>
        <p:spPr>
          <a:xfrm>
            <a:off x="457200" y="1554480"/>
            <a:ext cx="8229600" cy="0"/>
          </a:xfrm>
          <a:prstGeom prst="line">
            <a:avLst/>
          </a:prstGeom>
          <a:noFill/>
          <a:ln w="19050">
            <a:solidFill>
              <a:srgbClr val="4A90D9"/>
            </a:solidFill>
            <a:prstDash val="solid"/>
          </a:ln>
        </p:spPr>
      </p:sp>
      <p:pic>
        <p:nvPicPr>
          <p:cNvPr id="6" name="Image 0" descr="preencoded.png">    </p:cNvPr>
          <p:cNvPicPr>
            <a:picLocks noChangeAspect="1"/>
          </p:cNvPicPr>
          <p:nvPr/>
        </p:nvPicPr>
        <p:blipFill>
          <a:blip r:embed="rId1"/>
          <a:stretch>
            <a:fillRect/>
          </a:stretch>
        </p:blipFill>
        <p:spPr>
          <a:xfrm>
            <a:off x="7863840" y="301752"/>
            <a:ext cx="594360" cy="594360"/>
          </a:xfrm>
          <a:prstGeom prst="rect">
            <a:avLst/>
          </a:prstGeom>
        </p:spPr>
      </p:pic>
      <p:sp>
        <p:nvSpPr>
          <p:cNvPr id="7" name="Text 4"/>
          <p:cNvSpPr/>
          <p:nvPr/>
        </p:nvSpPr>
        <p:spPr>
          <a:xfrm>
            <a:off x="457200" y="1691640"/>
            <a:ext cx="8229600" cy="3218688"/>
          </a:xfrm>
          <a:prstGeom prst="rect">
            <a:avLst/>
          </a:prstGeom>
          <a:noFill/>
          <a:ln/>
        </p:spPr>
        <p:txBody>
          <a:bodyPr wrap="square" rtlCol="0" anchor="t"/>
          <a:lstStyle/>
          <a:p>
            <a:pPr algn="l" indent="0" marL="0">
              <a:lnSpc>
                <a:spcPct val="88000"/>
              </a:lnSpc>
              <a:buNone/>
            </a:pPr>
            <a:r>
              <a:rPr lang="en-US" sz="1350" dirty="0">
                <a:solidFill>
                  <a:srgbClr val="1A2332"/>
                </a:solidFill>
                <a:latin typeface="Calibri" pitchFamily="34" charset="0"/>
                <a:ea typeface="Calibri" pitchFamily="34" charset="-122"/>
                <a:cs typeface="Calibri" pitchFamily="34" charset="-120"/>
              </a:rPr>
              <a:t>Automated systems controlling critical infrastructure — energy grids, food production systems, water treatment, communications networks, and financial settlement infrastructure — represent potential vectors for both foreign adversarial interference and domestic oligarchic capture.</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A2332"/>
                </a:solidFill>
                <a:latin typeface="Calibri" pitchFamily="34" charset="0"/>
                <a:ea typeface="Calibri" pitchFamily="34" charset="-122"/>
                <a:cs typeface="Calibri" pitchFamily="34" charset="-120"/>
              </a:rPr>
              <a:t>A nation that allows its critical infrastructure automation to be governed by proprietary platforms under the control of private actors has not secured its infrastructure; it has simply transferred the security risk from foreign actors to domestic ones.</a:t>
            </a:r>
            <a:endParaRPr lang="en-US" sz="13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E2EAF2"/>
        </a:solidFill>
      </p:bgPr>
    </p:bg>
    <p:spTree>
      <p:nvGrpSpPr>
        <p:cNvPr id="1" name=""/>
        <p:cNvGrpSpPr/>
        <p:nvPr/>
      </p:nvGrpSpPr>
      <p:grpSpPr>
        <a:xfrm>
          <a:off x="0" y="0"/>
          <a:ext cx="0" cy="0"/>
          <a:chOff x="0" y="0"/>
          <a:chExt cx="0" cy="0"/>
        </a:xfrm>
      </p:grpSpPr>
      <p:sp>
        <p:nvSpPr>
          <p:cNvPr id="2" name="Shape 0"/>
          <p:cNvSpPr/>
          <p:nvPr/>
        </p:nvSpPr>
        <p:spPr>
          <a:xfrm>
            <a:off x="457200" y="347472"/>
            <a:ext cx="1463040" cy="347472"/>
          </a:xfrm>
          <a:prstGeom prst="roundRect">
            <a:avLst>
              <a:gd name="adj" fmla="val 13158"/>
            </a:avLst>
          </a:prstGeom>
          <a:solidFill>
            <a:srgbClr val="2C4A6E"/>
          </a:solidFill>
          <a:ln/>
        </p:spPr>
      </p:sp>
      <p:sp>
        <p:nvSpPr>
          <p:cNvPr id="3" name="Text 1"/>
          <p:cNvSpPr/>
          <p:nvPr/>
        </p:nvSpPr>
        <p:spPr>
          <a:xfrm>
            <a:off x="457200" y="347472"/>
            <a:ext cx="146304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Mechanism</a:t>
            </a:r>
            <a:endParaRPr lang="en-US" sz="1000" dirty="0"/>
          </a:p>
        </p:txBody>
      </p:sp>
      <p:sp>
        <p:nvSpPr>
          <p:cNvPr id="4" name="Text 2"/>
          <p:cNvSpPr/>
          <p:nvPr/>
        </p:nvSpPr>
        <p:spPr>
          <a:xfrm>
            <a:off x="2011680" y="347472"/>
            <a:ext cx="6492240" cy="347472"/>
          </a:xfrm>
          <a:prstGeom prst="rect">
            <a:avLst/>
          </a:prstGeom>
          <a:noFill/>
          <a:ln/>
        </p:spPr>
        <p:txBody>
          <a:bodyPr wrap="square" rtlCol="0" anchor="ctr"/>
          <a:lstStyle/>
          <a:p>
            <a:pPr indent="0" marL="0">
              <a:buNone/>
            </a:pPr>
            <a:r>
              <a:rPr lang="en-US" sz="1000" dirty="0">
                <a:solidFill>
                  <a:srgbClr val="2C4A6E"/>
                </a:solidFill>
                <a:latin typeface="Calibri" pitchFamily="34" charset="0"/>
                <a:ea typeface="Calibri" pitchFamily="34" charset="-122"/>
                <a:cs typeface="Calibri" pitchFamily="34" charset="-120"/>
              </a:rPr>
              <a:t>Finding 13 → Title IV § 403, Title II § 201</a:t>
            </a:r>
            <a:endParaRPr lang="en-US" sz="1000" dirty="0"/>
          </a:p>
        </p:txBody>
      </p:sp>
      <p:sp>
        <p:nvSpPr>
          <p:cNvPr id="5" name="Text 3"/>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0D1A2E"/>
                </a:solidFill>
                <a:latin typeface="Cambria" pitchFamily="34" charset="0"/>
                <a:ea typeface="Cambria" pitchFamily="34" charset="-122"/>
                <a:cs typeface="Cambria" pitchFamily="34" charset="-120"/>
              </a:rPr>
              <a:t>What the Bill Does</a:t>
            </a:r>
            <a:endParaRPr lang="en-US" sz="2200" dirty="0"/>
          </a:p>
        </p:txBody>
      </p:sp>
      <p:sp>
        <p:nvSpPr>
          <p:cNvPr id="6" name="Shape 4"/>
          <p:cNvSpPr/>
          <p:nvPr/>
        </p:nvSpPr>
        <p:spPr>
          <a:xfrm>
            <a:off x="457200" y="1554480"/>
            <a:ext cx="8229600" cy="0"/>
          </a:xfrm>
          <a:prstGeom prst="line">
            <a:avLst/>
          </a:prstGeom>
          <a:noFill/>
          <a:ln w="19050">
            <a:solidFill>
              <a:srgbClr val="2C4A6E"/>
            </a:solidFill>
            <a:prstDash val="solid"/>
          </a:ln>
        </p:spPr>
      </p:sp>
      <p:sp>
        <p:nvSpPr>
          <p:cNvPr id="7" name="Text 5"/>
          <p:cNvSpPr/>
          <p:nvPr/>
        </p:nvSpPr>
        <p:spPr>
          <a:xfrm>
            <a:off x="457200" y="1691640"/>
            <a:ext cx="8229600" cy="2761488"/>
          </a:xfrm>
          <a:prstGeom prst="rect">
            <a:avLst/>
          </a:prstGeom>
          <a:noFill/>
          <a:ln/>
        </p:spPr>
        <p:txBody>
          <a:bodyPr wrap="square" rtlCol="0" anchor="t"/>
          <a:lstStyle/>
          <a:p>
            <a:pPr algn="l" indent="0" marL="0">
              <a:lnSpc>
                <a:spcPct val="88000"/>
              </a:lnSpc>
              <a:buNone/>
            </a:pPr>
            <a:r>
              <a:rPr lang="en-US" sz="1350" dirty="0">
                <a:solidFill>
                  <a:srgbClr val="1A2332"/>
                </a:solidFill>
                <a:latin typeface="Calibri" pitchFamily="34" charset="0"/>
                <a:ea typeface="Calibri" pitchFamily="34" charset="-122"/>
                <a:cs typeface="Calibri" pitchFamily="34" charset="-120"/>
              </a:rPr>
              <a:t>Section 403 establishes the Open-Source Automation Mandate: all automated systems deployed in commons-critical infrastructure — defined as infrastructure providing the Guaranteed Provision Standard functions of energy, food, water, communications, and financial settlement — must be released under a copyleft open-source license, be publicly auditable, and be governed through the democratic processes of the Qualified Federated Network within whose infrastructure they operate.</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A2332"/>
                </a:solidFill>
                <a:latin typeface="Calibri" pitchFamily="34" charset="0"/>
                <a:ea typeface="Calibri" pitchFamily="34" charset="-122"/>
                <a:cs typeface="Calibri" pitchFamily="34" charset="-120"/>
              </a:rPr>
              <a:t>Proprietary automated systems controlling commons-critical infrastructure are prohibited. No private actor may maintain exclusive control over the automation governing critical commons infrastructure.</a:t>
            </a:r>
            <a:endParaRPr lang="en-US" sz="1350" dirty="0"/>
          </a:p>
        </p:txBody>
      </p:sp>
      <p:sp>
        <p:nvSpPr>
          <p:cNvPr id="8" name="Text 6"/>
          <p:cNvSpPr/>
          <p:nvPr/>
        </p:nvSpPr>
        <p:spPr>
          <a:xfrm>
            <a:off x="457200" y="4507992"/>
            <a:ext cx="8229600" cy="384048"/>
          </a:xfrm>
          <a:prstGeom prst="rect">
            <a:avLst/>
          </a:prstGeom>
          <a:noFill/>
          <a:ln/>
        </p:spPr>
        <p:txBody>
          <a:bodyPr wrap="square" rtlCol="0" anchor="ctr"/>
          <a:lstStyle/>
          <a:p>
            <a:pPr indent="0" marL="0">
              <a:buNone/>
            </a:pPr>
            <a:r>
              <a:rPr lang="en-US" sz="1000" dirty="0">
                <a:solidFill>
                  <a:srgbClr val="2C4A6E"/>
                </a:solidFill>
                <a:latin typeface="Courier New" pitchFamily="34" charset="0"/>
                <a:ea typeface="Courier New" pitchFamily="34" charset="-122"/>
                <a:cs typeface="Courier New" pitchFamily="34" charset="-120"/>
              </a:rPr>
              <a:t>Title IV § 403</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457200" y="347472"/>
            <a:ext cx="1188720" cy="347472"/>
          </a:xfrm>
          <a:prstGeom prst="roundRect">
            <a:avLst>
              <a:gd name="adj" fmla="val 13158"/>
            </a:avLst>
          </a:prstGeom>
          <a:solidFill>
            <a:srgbClr val="1E3A5F"/>
          </a:solidFill>
          <a:ln/>
        </p:spPr>
      </p:sp>
      <p:sp>
        <p:nvSpPr>
          <p:cNvPr id="3" name="Text 1"/>
          <p:cNvSpPr/>
          <p:nvPr/>
        </p:nvSpPr>
        <p:spPr>
          <a:xfrm>
            <a:off x="457200" y="347472"/>
            <a:ext cx="118872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Finding 14</a:t>
            </a:r>
            <a:endParaRPr lang="en-US" sz="1000" dirty="0"/>
          </a:p>
        </p:txBody>
      </p:sp>
      <p:sp>
        <p:nvSpPr>
          <p:cNvPr id="4" name="Text 2"/>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0D1A2E"/>
                </a:solidFill>
                <a:latin typeface="Cambria" pitchFamily="34" charset="0"/>
                <a:ea typeface="Cambria" pitchFamily="34" charset="-122"/>
                <a:cs typeface="Cambria" pitchFamily="34" charset="-120"/>
              </a:rPr>
              <a:t>Open-Source Commons-Governed Automation Is a Genuine Security Improvement</a:t>
            </a:r>
            <a:endParaRPr lang="en-US" sz="2200" dirty="0"/>
          </a:p>
        </p:txBody>
      </p:sp>
      <p:sp>
        <p:nvSpPr>
          <p:cNvPr id="5" name="Shape 3"/>
          <p:cNvSpPr/>
          <p:nvPr/>
        </p:nvSpPr>
        <p:spPr>
          <a:xfrm>
            <a:off x="457200" y="1554480"/>
            <a:ext cx="8229600" cy="0"/>
          </a:xfrm>
          <a:prstGeom prst="line">
            <a:avLst/>
          </a:prstGeom>
          <a:noFill/>
          <a:ln w="19050">
            <a:solidFill>
              <a:srgbClr val="4A90D9"/>
            </a:solidFill>
            <a:prstDash val="solid"/>
          </a:ln>
        </p:spPr>
      </p:sp>
      <p:pic>
        <p:nvPicPr>
          <p:cNvPr id="6" name="Image 0" descr="preencoded.png">    </p:cNvPr>
          <p:cNvPicPr>
            <a:picLocks noChangeAspect="1"/>
          </p:cNvPicPr>
          <p:nvPr/>
        </p:nvPicPr>
        <p:blipFill>
          <a:blip r:embed="rId1"/>
          <a:stretch>
            <a:fillRect/>
          </a:stretch>
        </p:blipFill>
        <p:spPr>
          <a:xfrm>
            <a:off x="7863840" y="301752"/>
            <a:ext cx="594360" cy="594360"/>
          </a:xfrm>
          <a:prstGeom prst="rect">
            <a:avLst/>
          </a:prstGeom>
        </p:spPr>
      </p:pic>
      <p:sp>
        <p:nvSpPr>
          <p:cNvPr id="7" name="Text 4"/>
          <p:cNvSpPr/>
          <p:nvPr/>
        </p:nvSpPr>
        <p:spPr>
          <a:xfrm>
            <a:off x="457200" y="1691640"/>
            <a:ext cx="8229600" cy="3218688"/>
          </a:xfrm>
          <a:prstGeom prst="rect">
            <a:avLst/>
          </a:prstGeom>
          <a:noFill/>
          <a:ln/>
        </p:spPr>
        <p:txBody>
          <a:bodyPr wrap="square" rtlCol="0" anchor="t"/>
          <a:lstStyle/>
          <a:p>
            <a:pPr algn="l" indent="0" marL="0">
              <a:lnSpc>
                <a:spcPct val="88000"/>
              </a:lnSpc>
              <a:buNone/>
            </a:pPr>
            <a:r>
              <a:rPr lang="en-US" sz="1350" dirty="0">
                <a:solidFill>
                  <a:srgbClr val="1A2332"/>
                </a:solidFill>
                <a:latin typeface="Calibri" pitchFamily="34" charset="0"/>
                <a:ea typeface="Calibri" pitchFamily="34" charset="-122"/>
                <a:cs typeface="Calibri" pitchFamily="34" charset="-120"/>
              </a:rPr>
              <a:t>The open-source, commons-governed automation architecture established by this Act — in which all automated systems deployed in commons-critical infrastructure are transparent, auditable, and governed through the democratic processes of the Federated Network — constitutes a genuine security improvement over both proprietary automation under private control and centralized governmental automation under administrative control.</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A2332"/>
                </a:solidFill>
                <a:latin typeface="Calibri" pitchFamily="34" charset="0"/>
                <a:ea typeface="Calibri" pitchFamily="34" charset="-122"/>
                <a:cs typeface="Calibri" pitchFamily="34" charset="-120"/>
              </a:rPr>
              <a:t>Distributed, transparent, community-governed automation is more resilient, more accountable, and more difficult to capture or corrupt than either alternative.</a:t>
            </a:r>
            <a:endParaRPr lang="en-US" sz="13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E2EAF2"/>
        </a:solidFill>
      </p:bgPr>
    </p:bg>
    <p:spTree>
      <p:nvGrpSpPr>
        <p:cNvPr id="1" name=""/>
        <p:cNvGrpSpPr/>
        <p:nvPr/>
      </p:nvGrpSpPr>
      <p:grpSpPr>
        <a:xfrm>
          <a:off x="0" y="0"/>
          <a:ext cx="0" cy="0"/>
          <a:chOff x="0" y="0"/>
          <a:chExt cx="0" cy="0"/>
        </a:xfrm>
      </p:grpSpPr>
      <p:sp>
        <p:nvSpPr>
          <p:cNvPr id="2" name="Shape 0"/>
          <p:cNvSpPr/>
          <p:nvPr/>
        </p:nvSpPr>
        <p:spPr>
          <a:xfrm>
            <a:off x="457200" y="347472"/>
            <a:ext cx="1463040" cy="347472"/>
          </a:xfrm>
          <a:prstGeom prst="roundRect">
            <a:avLst>
              <a:gd name="adj" fmla="val 13158"/>
            </a:avLst>
          </a:prstGeom>
          <a:solidFill>
            <a:srgbClr val="2C4A6E"/>
          </a:solidFill>
          <a:ln/>
        </p:spPr>
      </p:sp>
      <p:sp>
        <p:nvSpPr>
          <p:cNvPr id="3" name="Text 1"/>
          <p:cNvSpPr/>
          <p:nvPr/>
        </p:nvSpPr>
        <p:spPr>
          <a:xfrm>
            <a:off x="457200" y="347472"/>
            <a:ext cx="146304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Mechanism</a:t>
            </a:r>
            <a:endParaRPr lang="en-US" sz="1000" dirty="0"/>
          </a:p>
        </p:txBody>
      </p:sp>
      <p:sp>
        <p:nvSpPr>
          <p:cNvPr id="4" name="Text 2"/>
          <p:cNvSpPr/>
          <p:nvPr/>
        </p:nvSpPr>
        <p:spPr>
          <a:xfrm>
            <a:off x="2011680" y="347472"/>
            <a:ext cx="6492240" cy="347472"/>
          </a:xfrm>
          <a:prstGeom prst="rect">
            <a:avLst/>
          </a:prstGeom>
          <a:noFill/>
          <a:ln/>
        </p:spPr>
        <p:txBody>
          <a:bodyPr wrap="square" rtlCol="0" anchor="ctr"/>
          <a:lstStyle/>
          <a:p>
            <a:pPr indent="0" marL="0">
              <a:buNone/>
            </a:pPr>
            <a:r>
              <a:rPr lang="en-US" sz="1000" dirty="0">
                <a:solidFill>
                  <a:srgbClr val="2C4A6E"/>
                </a:solidFill>
                <a:latin typeface="Calibri" pitchFamily="34" charset="0"/>
                <a:ea typeface="Calibri" pitchFamily="34" charset="-122"/>
                <a:cs typeface="Calibri" pitchFamily="34" charset="-120"/>
              </a:rPr>
              <a:t>Finding 14 → Title IV § 403, Title III § 301</a:t>
            </a:r>
            <a:endParaRPr lang="en-US" sz="1000" dirty="0"/>
          </a:p>
        </p:txBody>
      </p:sp>
      <p:sp>
        <p:nvSpPr>
          <p:cNvPr id="5" name="Text 3"/>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0D1A2E"/>
                </a:solidFill>
                <a:latin typeface="Cambria" pitchFamily="34" charset="0"/>
                <a:ea typeface="Cambria" pitchFamily="34" charset="-122"/>
                <a:cs typeface="Cambria" pitchFamily="34" charset="-120"/>
              </a:rPr>
              <a:t>What the Bill Does</a:t>
            </a:r>
            <a:endParaRPr lang="en-US" sz="2200" dirty="0"/>
          </a:p>
        </p:txBody>
      </p:sp>
      <p:sp>
        <p:nvSpPr>
          <p:cNvPr id="6" name="Shape 4"/>
          <p:cNvSpPr/>
          <p:nvPr/>
        </p:nvSpPr>
        <p:spPr>
          <a:xfrm>
            <a:off x="457200" y="1554480"/>
            <a:ext cx="8229600" cy="0"/>
          </a:xfrm>
          <a:prstGeom prst="line">
            <a:avLst/>
          </a:prstGeom>
          <a:noFill/>
          <a:ln w="19050">
            <a:solidFill>
              <a:srgbClr val="2C4A6E"/>
            </a:solidFill>
            <a:prstDash val="solid"/>
          </a:ln>
        </p:spPr>
      </p:sp>
      <p:sp>
        <p:nvSpPr>
          <p:cNvPr id="7" name="Text 5"/>
          <p:cNvSpPr/>
          <p:nvPr/>
        </p:nvSpPr>
        <p:spPr>
          <a:xfrm>
            <a:off x="457200" y="1691640"/>
            <a:ext cx="8229600" cy="2761488"/>
          </a:xfrm>
          <a:prstGeom prst="rect">
            <a:avLst/>
          </a:prstGeom>
          <a:noFill/>
          <a:ln/>
        </p:spPr>
        <p:txBody>
          <a:bodyPr wrap="square" rtlCol="0" anchor="t"/>
          <a:lstStyle/>
          <a:p>
            <a:pPr algn="l" indent="0" marL="0">
              <a:lnSpc>
                <a:spcPct val="88000"/>
              </a:lnSpc>
              <a:buNone/>
            </a:pPr>
            <a:r>
              <a:rPr lang="en-US" sz="1350" dirty="0">
                <a:solidFill>
                  <a:srgbClr val="1A2332"/>
                </a:solidFill>
                <a:latin typeface="Calibri" pitchFamily="34" charset="0"/>
                <a:ea typeface="Calibri" pitchFamily="34" charset="-122"/>
                <a:cs typeface="Calibri" pitchFamily="34" charset="-120"/>
              </a:rPr>
              <a:t>Section 403's Open-Source Automation Mandate requires that all commons-critical automation be publicly auditable and governed democratically — making it more difficult to capture or corrupt than proprietary alternatives, because the code is visible to the entire commons membership and any security vulnerability is visible to the people whose livelihoods depend on the infrastructure it controls.</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A2332"/>
                </a:solidFill>
                <a:latin typeface="Calibri" pitchFamily="34" charset="0"/>
                <a:ea typeface="Calibri" pitchFamily="34" charset="-122"/>
                <a:cs typeface="Calibri" pitchFamily="34" charset="-120"/>
              </a:rPr>
              <a:t>Section 301 establishes the Analytics Commons as the institutional infrastructure for open-source commons governance: commons-governed software tools, governance datasets, and coordination platforms that provide QFNs with the analytical capabilities to monitor their own infrastructure, detect anomalies, and coordinate responses — all under transparent, peer-governed protocols.</a:t>
            </a:r>
            <a:endParaRPr lang="en-US" sz="1350" dirty="0"/>
          </a:p>
        </p:txBody>
      </p:sp>
      <p:sp>
        <p:nvSpPr>
          <p:cNvPr id="8" name="Text 6"/>
          <p:cNvSpPr/>
          <p:nvPr/>
        </p:nvSpPr>
        <p:spPr>
          <a:xfrm>
            <a:off x="457200" y="4507992"/>
            <a:ext cx="8229600" cy="384048"/>
          </a:xfrm>
          <a:prstGeom prst="rect">
            <a:avLst/>
          </a:prstGeom>
          <a:noFill/>
          <a:ln/>
        </p:spPr>
        <p:txBody>
          <a:bodyPr wrap="square" rtlCol="0" anchor="ctr"/>
          <a:lstStyle/>
          <a:p>
            <a:pPr indent="0" marL="0">
              <a:buNone/>
            </a:pPr>
            <a:r>
              <a:rPr lang="en-US" sz="1000" dirty="0">
                <a:solidFill>
                  <a:srgbClr val="2C4A6E"/>
                </a:solidFill>
                <a:latin typeface="Courier New" pitchFamily="34" charset="0"/>
                <a:ea typeface="Courier New" pitchFamily="34" charset="-122"/>
                <a:cs typeface="Courier New" pitchFamily="34" charset="-120"/>
              </a:rPr>
              <a:t>Title IV § 403 · Title III § 301</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4A90D9"/>
        </a:solidFill>
      </p:bgPr>
    </p:bg>
    <p:spTree>
      <p:nvGrpSpPr>
        <p:cNvPr id="1" name=""/>
        <p:cNvGrpSpPr/>
        <p:nvPr/>
      </p:nvGrpSpPr>
      <p:grpSpPr>
        <a:xfrm>
          <a:off x="0" y="0"/>
          <a:ext cx="0" cy="0"/>
          <a:chOff x="0" y="0"/>
          <a:chExt cx="0" cy="0"/>
        </a:xfrm>
      </p:grpSpPr>
      <p:sp>
        <p:nvSpPr>
          <p:cNvPr id="2" name="Text 0"/>
          <p:cNvSpPr/>
          <p:nvPr/>
        </p:nvSpPr>
        <p:spPr>
          <a:xfrm>
            <a:off x="548640" y="640080"/>
            <a:ext cx="8046720" cy="411480"/>
          </a:xfrm>
          <a:prstGeom prst="rect">
            <a:avLst/>
          </a:prstGeom>
          <a:noFill/>
          <a:ln/>
        </p:spPr>
        <p:txBody>
          <a:bodyPr wrap="square" rtlCol="0" anchor="ctr"/>
          <a:lstStyle/>
          <a:p>
            <a:pPr indent="0" marL="0">
              <a:buNone/>
            </a:pPr>
            <a:r>
              <a:rPr lang="en-US" sz="1400" b="1" spc="400" kern="0" dirty="0">
                <a:solidFill>
                  <a:srgbClr val="FFFFFF"/>
                </a:solidFill>
                <a:latin typeface="Arial" pitchFamily="34" charset="0"/>
                <a:ea typeface="Arial" pitchFamily="34" charset="-122"/>
                <a:cs typeface="Arial" pitchFamily="34" charset="-120"/>
              </a:rPr>
              <a:t>Section IV</a:t>
            </a:r>
            <a:endParaRPr lang="en-US" sz="1400" dirty="0"/>
          </a:p>
        </p:txBody>
      </p:sp>
      <p:sp>
        <p:nvSpPr>
          <p:cNvPr id="3" name="Text 1"/>
          <p:cNvSpPr/>
          <p:nvPr/>
        </p:nvSpPr>
        <p:spPr>
          <a:xfrm>
            <a:off x="548640" y="1097280"/>
            <a:ext cx="8046720" cy="1828800"/>
          </a:xfrm>
          <a:prstGeom prst="rect">
            <a:avLst/>
          </a:prstGeom>
          <a:noFill/>
          <a:ln/>
        </p:spPr>
        <p:txBody>
          <a:bodyPr wrap="square"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Analytics Platforms</a:t>
            </a:r>
            <a:endParaRPr lang="en-US" sz="3400" dirty="0"/>
          </a:p>
          <a:p>
            <a:pPr indent="0" marL="0">
              <a:buNone/>
            </a:pPr>
            <a:r>
              <a:rPr lang="en-US" sz="3400" b="1" dirty="0">
                <a:solidFill>
                  <a:srgbClr val="FFFFFF"/>
                </a:solidFill>
                <a:latin typeface="Cambria" pitchFamily="34" charset="0"/>
                <a:ea typeface="Cambria" pitchFamily="34" charset="-122"/>
                <a:cs typeface="Cambria" pitchFamily="34" charset="-120"/>
              </a:rPr>
              <a:t>and the Intelligence</a:t>
            </a:r>
            <a:endParaRPr lang="en-US" sz="3400" dirty="0"/>
          </a:p>
          <a:p>
            <a:pPr indent="0" marL="0">
              <a:buNone/>
            </a:pPr>
            <a:r>
              <a:rPr lang="en-US" sz="3400" b="1" dirty="0">
                <a:solidFill>
                  <a:srgbClr val="FFFFFF"/>
                </a:solidFill>
                <a:latin typeface="Cambria" pitchFamily="34" charset="0"/>
                <a:ea typeface="Cambria" pitchFamily="34" charset="-122"/>
                <a:cs typeface="Cambria" pitchFamily="34" charset="-120"/>
              </a:rPr>
              <a:t>Commons</a:t>
            </a:r>
            <a:endParaRPr lang="en-US" sz="3400" dirty="0"/>
          </a:p>
        </p:txBody>
      </p:sp>
      <p:sp>
        <p:nvSpPr>
          <p:cNvPr id="4" name="Text 2"/>
          <p:cNvSpPr/>
          <p:nvPr/>
        </p:nvSpPr>
        <p:spPr>
          <a:xfrm>
            <a:off x="548640" y="3017520"/>
            <a:ext cx="8046720" cy="822960"/>
          </a:xfrm>
          <a:prstGeom prst="rect">
            <a:avLst/>
          </a:prstGeom>
          <a:noFill/>
          <a:ln/>
        </p:spPr>
        <p:txBody>
          <a:bodyPr wrap="square" rtlCol="0" anchor="ctr"/>
          <a:lstStyle/>
          <a:p>
            <a:pPr indent="0" marL="0">
              <a:buNone/>
            </a:pPr>
            <a:r>
              <a:rPr lang="en-US" sz="1500" i="1" dirty="0">
                <a:solidFill>
                  <a:srgbClr val="F0F4F8"/>
                </a:solidFill>
                <a:latin typeface="Calibri" pitchFamily="34" charset="0"/>
                <a:ea typeface="Calibri" pitchFamily="34" charset="-122"/>
                <a:cs typeface="Calibri" pitchFamily="34" charset="-120"/>
              </a:rPr>
              <a:t>Findings 15–17: Publicly funded capabilities should serve public purposes</a:t>
            </a:r>
            <a:endParaRPr lang="en-US" sz="15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457200" y="347472"/>
            <a:ext cx="1188720" cy="347472"/>
          </a:xfrm>
          <a:prstGeom prst="roundRect">
            <a:avLst>
              <a:gd name="adj" fmla="val 13158"/>
            </a:avLst>
          </a:prstGeom>
          <a:solidFill>
            <a:srgbClr val="1E3A5F"/>
          </a:solidFill>
          <a:ln/>
        </p:spPr>
      </p:sp>
      <p:sp>
        <p:nvSpPr>
          <p:cNvPr id="3" name="Text 1"/>
          <p:cNvSpPr/>
          <p:nvPr/>
        </p:nvSpPr>
        <p:spPr>
          <a:xfrm>
            <a:off x="457200" y="347472"/>
            <a:ext cx="118872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Finding 15</a:t>
            </a:r>
            <a:endParaRPr lang="en-US" sz="1000" dirty="0"/>
          </a:p>
        </p:txBody>
      </p:sp>
      <p:sp>
        <p:nvSpPr>
          <p:cNvPr id="4" name="Text 2"/>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0D1A2E"/>
                </a:solidFill>
                <a:latin typeface="Cambria" pitchFamily="34" charset="0"/>
                <a:ea typeface="Cambria" pitchFamily="34" charset="-122"/>
                <a:cs typeface="Cambria" pitchFamily="34" charset="-120"/>
              </a:rPr>
              <a:t>Publicly Funded Intelligence Analytics Capabilities</a:t>
            </a:r>
            <a:endParaRPr lang="en-US" sz="2200" dirty="0"/>
          </a:p>
        </p:txBody>
      </p:sp>
      <p:sp>
        <p:nvSpPr>
          <p:cNvPr id="5" name="Shape 3"/>
          <p:cNvSpPr/>
          <p:nvPr/>
        </p:nvSpPr>
        <p:spPr>
          <a:xfrm>
            <a:off x="457200" y="1554480"/>
            <a:ext cx="8229600" cy="0"/>
          </a:xfrm>
          <a:prstGeom prst="line">
            <a:avLst/>
          </a:prstGeom>
          <a:noFill/>
          <a:ln w="19050">
            <a:solidFill>
              <a:srgbClr val="4A90D9"/>
            </a:solidFill>
            <a:prstDash val="solid"/>
          </a:ln>
        </p:spPr>
      </p:sp>
      <p:pic>
        <p:nvPicPr>
          <p:cNvPr id="6" name="Image 0" descr="preencoded.png">    </p:cNvPr>
          <p:cNvPicPr>
            <a:picLocks noChangeAspect="1"/>
          </p:cNvPicPr>
          <p:nvPr/>
        </p:nvPicPr>
        <p:blipFill>
          <a:blip r:embed="rId1"/>
          <a:stretch>
            <a:fillRect/>
          </a:stretch>
        </p:blipFill>
        <p:spPr>
          <a:xfrm>
            <a:off x="7863840" y="301752"/>
            <a:ext cx="594360" cy="594360"/>
          </a:xfrm>
          <a:prstGeom prst="rect">
            <a:avLst/>
          </a:prstGeom>
        </p:spPr>
      </p:pic>
      <p:sp>
        <p:nvSpPr>
          <p:cNvPr id="7" name="Text 4"/>
          <p:cNvSpPr/>
          <p:nvPr/>
        </p:nvSpPr>
        <p:spPr>
          <a:xfrm>
            <a:off x="457200" y="1691640"/>
            <a:ext cx="8229600" cy="3218688"/>
          </a:xfrm>
          <a:prstGeom prst="rect">
            <a:avLst/>
          </a:prstGeom>
          <a:noFill/>
          <a:ln/>
        </p:spPr>
        <p:txBody>
          <a:bodyPr wrap="square" rtlCol="0" anchor="t"/>
          <a:lstStyle/>
          <a:p>
            <a:pPr algn="l" indent="0" marL="0">
              <a:lnSpc>
                <a:spcPct val="88000"/>
              </a:lnSpc>
              <a:buNone/>
            </a:pPr>
            <a:r>
              <a:rPr lang="en-US" sz="1350" dirty="0">
                <a:solidFill>
                  <a:srgbClr val="1A2332"/>
                </a:solidFill>
                <a:latin typeface="Calibri" pitchFamily="34" charset="0"/>
                <a:ea typeface="Calibri" pitchFamily="34" charset="-122"/>
                <a:cs typeface="Calibri" pitchFamily="34" charset="-120"/>
              </a:rPr>
              <a:t>The United States government has, over decades of investment in intelligence community technology programs, funded the development of sophisticated data integration and analytics platforms whose core capabilities — the integration of heterogeneous data sources, the production of coherent operational pictures for complex decision-making, and the coordination of logistics and resource flows — are precisely the capabilities that federated commons networks require to govern themselves effectively.</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A2332"/>
                </a:solidFill>
                <a:latin typeface="Calibri" pitchFamily="34" charset="0"/>
                <a:ea typeface="Calibri" pitchFamily="34" charset="-122"/>
                <a:cs typeface="Calibri" pitchFamily="34" charset="-120"/>
              </a:rPr>
              <a:t>The concentration of these capabilities in proprietary platforms under the control of private defense contractors, many of whose foundational technologies were developed through public investment, is inconsistent with the principle that publicly funded capabilities should serve public purposes.</a:t>
            </a:r>
            <a:endParaRPr lang="en-US" sz="13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E2EAF2"/>
        </a:solidFill>
      </p:bgPr>
    </p:bg>
    <p:spTree>
      <p:nvGrpSpPr>
        <p:cNvPr id="1" name=""/>
        <p:cNvGrpSpPr/>
        <p:nvPr/>
      </p:nvGrpSpPr>
      <p:grpSpPr>
        <a:xfrm>
          <a:off x="0" y="0"/>
          <a:ext cx="0" cy="0"/>
          <a:chOff x="0" y="0"/>
          <a:chExt cx="0" cy="0"/>
        </a:xfrm>
      </p:grpSpPr>
      <p:sp>
        <p:nvSpPr>
          <p:cNvPr id="2" name="Shape 0"/>
          <p:cNvSpPr/>
          <p:nvPr/>
        </p:nvSpPr>
        <p:spPr>
          <a:xfrm>
            <a:off x="457200" y="347472"/>
            <a:ext cx="1463040" cy="347472"/>
          </a:xfrm>
          <a:prstGeom prst="roundRect">
            <a:avLst>
              <a:gd name="adj" fmla="val 13158"/>
            </a:avLst>
          </a:prstGeom>
          <a:solidFill>
            <a:srgbClr val="2C4A6E"/>
          </a:solidFill>
          <a:ln/>
        </p:spPr>
      </p:sp>
      <p:sp>
        <p:nvSpPr>
          <p:cNvPr id="3" name="Text 1"/>
          <p:cNvSpPr/>
          <p:nvPr/>
        </p:nvSpPr>
        <p:spPr>
          <a:xfrm>
            <a:off x="457200" y="347472"/>
            <a:ext cx="146304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Mechanism</a:t>
            </a:r>
            <a:endParaRPr lang="en-US" sz="1000" dirty="0"/>
          </a:p>
        </p:txBody>
      </p:sp>
      <p:sp>
        <p:nvSpPr>
          <p:cNvPr id="4" name="Text 2"/>
          <p:cNvSpPr/>
          <p:nvPr/>
        </p:nvSpPr>
        <p:spPr>
          <a:xfrm>
            <a:off x="2011680" y="347472"/>
            <a:ext cx="6492240" cy="347472"/>
          </a:xfrm>
          <a:prstGeom prst="rect">
            <a:avLst/>
          </a:prstGeom>
          <a:noFill/>
          <a:ln/>
        </p:spPr>
        <p:txBody>
          <a:bodyPr wrap="square" rtlCol="0" anchor="ctr"/>
          <a:lstStyle/>
          <a:p>
            <a:pPr indent="0" marL="0">
              <a:buNone/>
            </a:pPr>
            <a:r>
              <a:rPr lang="en-US" sz="1000" dirty="0">
                <a:solidFill>
                  <a:srgbClr val="2C4A6E"/>
                </a:solidFill>
                <a:latin typeface="Calibri" pitchFamily="34" charset="0"/>
                <a:ea typeface="Calibri" pitchFamily="34" charset="-122"/>
                <a:cs typeface="Calibri" pitchFamily="34" charset="-120"/>
              </a:rPr>
              <a:t>Finding 15 → Title III § 302</a:t>
            </a:r>
            <a:endParaRPr lang="en-US" sz="1000" dirty="0"/>
          </a:p>
        </p:txBody>
      </p:sp>
      <p:sp>
        <p:nvSpPr>
          <p:cNvPr id="5" name="Text 3"/>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0D1A2E"/>
                </a:solidFill>
                <a:latin typeface="Cambria" pitchFamily="34" charset="0"/>
                <a:ea typeface="Cambria" pitchFamily="34" charset="-122"/>
                <a:cs typeface="Cambria" pitchFamily="34" charset="-120"/>
              </a:rPr>
              <a:t>What the Bill Does</a:t>
            </a:r>
            <a:endParaRPr lang="en-US" sz="2200" dirty="0"/>
          </a:p>
        </p:txBody>
      </p:sp>
      <p:sp>
        <p:nvSpPr>
          <p:cNvPr id="6" name="Shape 4"/>
          <p:cNvSpPr/>
          <p:nvPr/>
        </p:nvSpPr>
        <p:spPr>
          <a:xfrm>
            <a:off x="457200" y="1554480"/>
            <a:ext cx="8229600" cy="0"/>
          </a:xfrm>
          <a:prstGeom prst="line">
            <a:avLst/>
          </a:prstGeom>
          <a:noFill/>
          <a:ln w="19050">
            <a:solidFill>
              <a:srgbClr val="2C4A6E"/>
            </a:solidFill>
            <a:prstDash val="solid"/>
          </a:ln>
        </p:spPr>
      </p:sp>
      <p:sp>
        <p:nvSpPr>
          <p:cNvPr id="7" name="Text 5"/>
          <p:cNvSpPr/>
          <p:nvPr/>
        </p:nvSpPr>
        <p:spPr>
          <a:xfrm>
            <a:off x="457200" y="1691640"/>
            <a:ext cx="8229600" cy="2761488"/>
          </a:xfrm>
          <a:prstGeom prst="rect">
            <a:avLst/>
          </a:prstGeom>
          <a:noFill/>
          <a:ln/>
        </p:spPr>
        <p:txBody>
          <a:bodyPr wrap="square" rtlCol="0" anchor="t"/>
          <a:lstStyle/>
          <a:p>
            <a:pPr algn="l" indent="0" marL="0">
              <a:lnSpc>
                <a:spcPct val="88000"/>
              </a:lnSpc>
              <a:buNone/>
            </a:pPr>
            <a:r>
              <a:rPr lang="en-US" sz="1350" dirty="0">
                <a:solidFill>
                  <a:srgbClr val="1A2332"/>
                </a:solidFill>
                <a:latin typeface="Calibri" pitchFamily="34" charset="0"/>
                <a:ea typeface="Calibri" pitchFamily="34" charset="-122"/>
                <a:cs typeface="Calibri" pitchFamily="34" charset="-120"/>
              </a:rPr>
              <a:t>Section 302 establishes the Intelligence-Community-Funded Analytics Platform Capture: any software platform, data integration system, or algorithmic decision-support tool whose foundational capabilities were developed, in whole or in significant part, through funding from In-Q-Tel, DARPA, NSA, CIA, DIA, or any other intelligence community element is subject to mandatory commons contribution.</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A2332"/>
                </a:solidFill>
                <a:latin typeface="Calibri" pitchFamily="34" charset="0"/>
                <a:ea typeface="Calibri" pitchFamily="34" charset="-122"/>
                <a:cs typeface="Calibri" pitchFamily="34" charset="-120"/>
              </a:rPr>
              <a:t>The platform capture strips the surveillance and behavioral profiling capabilities from the captured platforms, retaining and contributing to the commons only the data integration, logistics coordination, and resource flow management capabilities. The surveillance layer is not retained, redeveloped, or transferred to any governmental or commercial actor.</a:t>
            </a:r>
            <a:endParaRPr lang="en-US" sz="1350" dirty="0"/>
          </a:p>
        </p:txBody>
      </p:sp>
      <p:sp>
        <p:nvSpPr>
          <p:cNvPr id="8" name="Text 6"/>
          <p:cNvSpPr/>
          <p:nvPr/>
        </p:nvSpPr>
        <p:spPr>
          <a:xfrm>
            <a:off x="457200" y="4507992"/>
            <a:ext cx="8229600" cy="384048"/>
          </a:xfrm>
          <a:prstGeom prst="rect">
            <a:avLst/>
          </a:prstGeom>
          <a:noFill/>
          <a:ln/>
        </p:spPr>
        <p:txBody>
          <a:bodyPr wrap="square" rtlCol="0" anchor="ctr"/>
          <a:lstStyle/>
          <a:p>
            <a:pPr indent="0" marL="0">
              <a:buNone/>
            </a:pPr>
            <a:r>
              <a:rPr lang="en-US" sz="1000" dirty="0">
                <a:solidFill>
                  <a:srgbClr val="2C4A6E"/>
                </a:solidFill>
                <a:latin typeface="Courier New" pitchFamily="34" charset="0"/>
                <a:ea typeface="Courier New" pitchFamily="34" charset="-122"/>
                <a:cs typeface="Courier New" pitchFamily="34" charset="-120"/>
              </a:rPr>
              <a:t>Title III § 302</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457200" y="347472"/>
            <a:ext cx="1188720" cy="347472"/>
          </a:xfrm>
          <a:prstGeom prst="roundRect">
            <a:avLst>
              <a:gd name="adj" fmla="val 13158"/>
            </a:avLst>
          </a:prstGeom>
          <a:solidFill>
            <a:srgbClr val="1E3A5F"/>
          </a:solidFill>
          <a:ln/>
        </p:spPr>
      </p:sp>
      <p:sp>
        <p:nvSpPr>
          <p:cNvPr id="3" name="Text 1"/>
          <p:cNvSpPr/>
          <p:nvPr/>
        </p:nvSpPr>
        <p:spPr>
          <a:xfrm>
            <a:off x="457200" y="347472"/>
            <a:ext cx="118872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Finding 16</a:t>
            </a:r>
            <a:endParaRPr lang="en-US" sz="1000" dirty="0"/>
          </a:p>
        </p:txBody>
      </p:sp>
      <p:sp>
        <p:nvSpPr>
          <p:cNvPr id="4" name="Text 2"/>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0D1A2E"/>
                </a:solidFill>
                <a:latin typeface="Cambria" pitchFamily="34" charset="0"/>
                <a:ea typeface="Cambria" pitchFamily="34" charset="-122"/>
                <a:cs typeface="Cambria" pitchFamily="34" charset="-120"/>
              </a:rPr>
              <a:t>The Analytics Commons Replaces Surveillance Capitalism</a:t>
            </a:r>
            <a:endParaRPr lang="en-US" sz="2200" dirty="0"/>
          </a:p>
        </p:txBody>
      </p:sp>
      <p:sp>
        <p:nvSpPr>
          <p:cNvPr id="5" name="Shape 3"/>
          <p:cNvSpPr/>
          <p:nvPr/>
        </p:nvSpPr>
        <p:spPr>
          <a:xfrm>
            <a:off x="457200" y="1554480"/>
            <a:ext cx="8229600" cy="0"/>
          </a:xfrm>
          <a:prstGeom prst="line">
            <a:avLst/>
          </a:prstGeom>
          <a:noFill/>
          <a:ln w="19050">
            <a:solidFill>
              <a:srgbClr val="4A90D9"/>
            </a:solidFill>
            <a:prstDash val="solid"/>
          </a:ln>
        </p:spPr>
      </p:sp>
      <p:pic>
        <p:nvPicPr>
          <p:cNvPr id="6" name="Image 0" descr="preencoded.png">    </p:cNvPr>
          <p:cNvPicPr>
            <a:picLocks noChangeAspect="1"/>
          </p:cNvPicPr>
          <p:nvPr/>
        </p:nvPicPr>
        <p:blipFill>
          <a:blip r:embed="rId1"/>
          <a:stretch>
            <a:fillRect/>
          </a:stretch>
        </p:blipFill>
        <p:spPr>
          <a:xfrm>
            <a:off x="7863840" y="301752"/>
            <a:ext cx="594360" cy="594360"/>
          </a:xfrm>
          <a:prstGeom prst="rect">
            <a:avLst/>
          </a:prstGeom>
        </p:spPr>
      </p:pic>
      <p:sp>
        <p:nvSpPr>
          <p:cNvPr id="7" name="Text 4"/>
          <p:cNvSpPr/>
          <p:nvPr/>
        </p:nvSpPr>
        <p:spPr>
          <a:xfrm>
            <a:off x="457200" y="1691640"/>
            <a:ext cx="8229600" cy="3218688"/>
          </a:xfrm>
          <a:prstGeom prst="rect">
            <a:avLst/>
          </a:prstGeom>
          <a:noFill/>
          <a:ln/>
        </p:spPr>
        <p:txBody>
          <a:bodyPr wrap="square" rtlCol="0" anchor="t"/>
          <a:lstStyle/>
          <a:p>
            <a:pPr algn="l" indent="0" marL="0">
              <a:lnSpc>
                <a:spcPct val="88000"/>
              </a:lnSpc>
              <a:buNone/>
            </a:pPr>
            <a:r>
              <a:rPr lang="en-US" sz="1350" dirty="0">
                <a:solidFill>
                  <a:srgbClr val="1A2332"/>
                </a:solidFill>
                <a:latin typeface="Calibri" pitchFamily="34" charset="0"/>
                <a:ea typeface="Calibri" pitchFamily="34" charset="-122"/>
                <a:cs typeface="Calibri" pitchFamily="34" charset="-120"/>
              </a:rPr>
              <a:t>The commons analytics infrastructure established by this Act does not replicate surveillance capitalism within the commons. It replaces surveillance capitalism with transparency-based commons governance, in which analytical capabilities serve the communities that use them rather than the shareholders of the platforms that provide them.</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A2332"/>
                </a:solidFill>
                <a:latin typeface="Calibri" pitchFamily="34" charset="0"/>
                <a:ea typeface="Calibri" pitchFamily="34" charset="-122"/>
                <a:cs typeface="Calibri" pitchFamily="34" charset="-120"/>
              </a:rPr>
              <a:t>The distinction is architectural: surveillance capitalism extracts data from users without consent to generate behavioral profiles for sale to third parties. The Analytics Commons is governed by the communities that use it, its code is publicly auditable, and its data is governed under the Data Sovereignty protections of the FRDI Act.</a:t>
            </a:r>
            <a:endParaRPr lang="en-US" sz="13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E2EAF2"/>
        </a:solidFill>
      </p:bgPr>
    </p:bg>
    <p:spTree>
      <p:nvGrpSpPr>
        <p:cNvPr id="1" name=""/>
        <p:cNvGrpSpPr/>
        <p:nvPr/>
      </p:nvGrpSpPr>
      <p:grpSpPr>
        <a:xfrm>
          <a:off x="0" y="0"/>
          <a:ext cx="0" cy="0"/>
          <a:chOff x="0" y="0"/>
          <a:chExt cx="0" cy="0"/>
        </a:xfrm>
      </p:grpSpPr>
      <p:sp>
        <p:nvSpPr>
          <p:cNvPr id="2" name="Shape 0"/>
          <p:cNvSpPr/>
          <p:nvPr/>
        </p:nvSpPr>
        <p:spPr>
          <a:xfrm>
            <a:off x="457200" y="347472"/>
            <a:ext cx="1463040" cy="347472"/>
          </a:xfrm>
          <a:prstGeom prst="roundRect">
            <a:avLst>
              <a:gd name="adj" fmla="val 13158"/>
            </a:avLst>
          </a:prstGeom>
          <a:solidFill>
            <a:srgbClr val="2C4A6E"/>
          </a:solidFill>
          <a:ln/>
        </p:spPr>
      </p:sp>
      <p:sp>
        <p:nvSpPr>
          <p:cNvPr id="3" name="Text 1"/>
          <p:cNvSpPr/>
          <p:nvPr/>
        </p:nvSpPr>
        <p:spPr>
          <a:xfrm>
            <a:off x="457200" y="347472"/>
            <a:ext cx="146304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Mechanism</a:t>
            </a:r>
            <a:endParaRPr lang="en-US" sz="1000" dirty="0"/>
          </a:p>
        </p:txBody>
      </p:sp>
      <p:sp>
        <p:nvSpPr>
          <p:cNvPr id="4" name="Text 2"/>
          <p:cNvSpPr/>
          <p:nvPr/>
        </p:nvSpPr>
        <p:spPr>
          <a:xfrm>
            <a:off x="2011680" y="347472"/>
            <a:ext cx="6492240" cy="347472"/>
          </a:xfrm>
          <a:prstGeom prst="rect">
            <a:avLst/>
          </a:prstGeom>
          <a:noFill/>
          <a:ln/>
        </p:spPr>
        <p:txBody>
          <a:bodyPr wrap="square" rtlCol="0" anchor="ctr"/>
          <a:lstStyle/>
          <a:p>
            <a:pPr indent="0" marL="0">
              <a:buNone/>
            </a:pPr>
            <a:r>
              <a:rPr lang="en-US" sz="1000" dirty="0">
                <a:solidFill>
                  <a:srgbClr val="2C4A6E"/>
                </a:solidFill>
                <a:latin typeface="Calibri" pitchFamily="34" charset="0"/>
                <a:ea typeface="Calibri" pitchFamily="34" charset="-122"/>
                <a:cs typeface="Calibri" pitchFamily="34" charset="-120"/>
              </a:rPr>
              <a:t>Finding 16 → Title III § 301, 305, 306</a:t>
            </a:r>
            <a:endParaRPr lang="en-US" sz="1000" dirty="0"/>
          </a:p>
        </p:txBody>
      </p:sp>
      <p:sp>
        <p:nvSpPr>
          <p:cNvPr id="5" name="Text 3"/>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0D1A2E"/>
                </a:solidFill>
                <a:latin typeface="Cambria" pitchFamily="34" charset="0"/>
                <a:ea typeface="Cambria" pitchFamily="34" charset="-122"/>
                <a:cs typeface="Cambria" pitchFamily="34" charset="-120"/>
              </a:rPr>
              <a:t>What the Bill Does</a:t>
            </a:r>
            <a:endParaRPr lang="en-US" sz="2200" dirty="0"/>
          </a:p>
        </p:txBody>
      </p:sp>
      <p:sp>
        <p:nvSpPr>
          <p:cNvPr id="6" name="Shape 4"/>
          <p:cNvSpPr/>
          <p:nvPr/>
        </p:nvSpPr>
        <p:spPr>
          <a:xfrm>
            <a:off x="457200" y="1554480"/>
            <a:ext cx="8229600" cy="0"/>
          </a:xfrm>
          <a:prstGeom prst="line">
            <a:avLst/>
          </a:prstGeom>
          <a:noFill/>
          <a:ln w="19050">
            <a:solidFill>
              <a:srgbClr val="2C4A6E"/>
            </a:solidFill>
            <a:prstDash val="solid"/>
          </a:ln>
        </p:spPr>
      </p:sp>
      <p:sp>
        <p:nvSpPr>
          <p:cNvPr id="7" name="Text 5"/>
          <p:cNvSpPr/>
          <p:nvPr/>
        </p:nvSpPr>
        <p:spPr>
          <a:xfrm>
            <a:off x="457200" y="1691640"/>
            <a:ext cx="8229600" cy="2761488"/>
          </a:xfrm>
          <a:prstGeom prst="rect">
            <a:avLst/>
          </a:prstGeom>
          <a:noFill/>
          <a:ln/>
        </p:spPr>
        <p:txBody>
          <a:bodyPr wrap="square" rtlCol="0" anchor="t"/>
          <a:lstStyle/>
          <a:p>
            <a:pPr algn="l" indent="0" marL="0">
              <a:lnSpc>
                <a:spcPct val="88000"/>
              </a:lnSpc>
              <a:buNone/>
            </a:pPr>
            <a:r>
              <a:rPr lang="en-US" sz="1350" dirty="0">
                <a:solidFill>
                  <a:srgbClr val="1A2332"/>
                </a:solidFill>
                <a:latin typeface="Calibri" pitchFamily="34" charset="0"/>
                <a:ea typeface="Calibri" pitchFamily="34" charset="-122"/>
                <a:cs typeface="Calibri" pitchFamily="34" charset="-120"/>
              </a:rPr>
              <a:t>Section 301 establishes the Analytics Commons as a federated, open-source data integration and decision-support infrastructure, held as a commons resource under the Intellectual Property Commons of the FRDI Act and governed under the Ostrom Standards of Stewardship.</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A2332"/>
                </a:solidFill>
                <a:latin typeface="Calibri" pitchFamily="34" charset="0"/>
                <a:ea typeface="Calibri" pitchFamily="34" charset="-122"/>
                <a:cs typeface="Calibri" pitchFamily="34" charset="-120"/>
              </a:rPr>
              <a:t>Section 305 establishes Analytics Commons Data Standards: all data within the Analytics Commons is governed under the Data Sovereignty protections of the FRDI Act, with member data subject to the informed consent requirements of Title IV of that Act and prohibited from behavioral profiling, third-party sale, or use for purposes other than commons governance and resource coordination.</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A2332"/>
                </a:solidFill>
                <a:latin typeface="Calibri" pitchFamily="34" charset="0"/>
                <a:ea typeface="Calibri" pitchFamily="34" charset="-122"/>
                <a:cs typeface="Calibri" pitchFamily="34" charset="-120"/>
              </a:rPr>
              <a:t>Section 306 establishes the Analytics Commons Governance Council: a peer-elected body setting standards, resolving disputes, and overseeing the commons analytics infrastructure.</a:t>
            </a:r>
            <a:endParaRPr lang="en-US" sz="1350" dirty="0"/>
          </a:p>
        </p:txBody>
      </p:sp>
      <p:sp>
        <p:nvSpPr>
          <p:cNvPr id="8" name="Text 6"/>
          <p:cNvSpPr/>
          <p:nvPr/>
        </p:nvSpPr>
        <p:spPr>
          <a:xfrm>
            <a:off x="457200" y="4507992"/>
            <a:ext cx="8229600" cy="384048"/>
          </a:xfrm>
          <a:prstGeom prst="rect">
            <a:avLst/>
          </a:prstGeom>
          <a:noFill/>
          <a:ln/>
        </p:spPr>
        <p:txBody>
          <a:bodyPr wrap="square" rtlCol="0" anchor="ctr"/>
          <a:lstStyle/>
          <a:p>
            <a:pPr indent="0" marL="0">
              <a:buNone/>
            </a:pPr>
            <a:r>
              <a:rPr lang="en-US" sz="1000" dirty="0">
                <a:solidFill>
                  <a:srgbClr val="2C4A6E"/>
                </a:solidFill>
                <a:latin typeface="Courier New" pitchFamily="34" charset="0"/>
                <a:ea typeface="Courier New" pitchFamily="34" charset="-122"/>
                <a:cs typeface="Courier New" pitchFamily="34" charset="-120"/>
              </a:rPr>
              <a:t>Title III § 301 · § 305 · § 306</a:t>
            </a:r>
            <a:endParaRPr lang="en-US" sz="1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457200" y="347472"/>
            <a:ext cx="1188720" cy="347472"/>
          </a:xfrm>
          <a:prstGeom prst="roundRect">
            <a:avLst>
              <a:gd name="adj" fmla="val 13158"/>
            </a:avLst>
          </a:prstGeom>
          <a:solidFill>
            <a:srgbClr val="1E3A5F"/>
          </a:solidFill>
          <a:ln/>
        </p:spPr>
      </p:sp>
      <p:sp>
        <p:nvSpPr>
          <p:cNvPr id="3" name="Text 1"/>
          <p:cNvSpPr/>
          <p:nvPr/>
        </p:nvSpPr>
        <p:spPr>
          <a:xfrm>
            <a:off x="457200" y="347472"/>
            <a:ext cx="118872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Finding 17</a:t>
            </a:r>
            <a:endParaRPr lang="en-US" sz="1000" dirty="0"/>
          </a:p>
        </p:txBody>
      </p:sp>
      <p:sp>
        <p:nvSpPr>
          <p:cNvPr id="4" name="Text 2"/>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0D1A2E"/>
                </a:solidFill>
                <a:latin typeface="Cambria" pitchFamily="34" charset="0"/>
                <a:ea typeface="Cambria" pitchFamily="34" charset="-122"/>
                <a:cs typeface="Cambria" pitchFamily="34" charset="-120"/>
              </a:rPr>
              <a:t>In-Q-Tel Platforms: Publicly Funded IP Subject to Commons Recapture</a:t>
            </a:r>
            <a:endParaRPr lang="en-US" sz="2200" dirty="0"/>
          </a:p>
        </p:txBody>
      </p:sp>
      <p:sp>
        <p:nvSpPr>
          <p:cNvPr id="5" name="Shape 3"/>
          <p:cNvSpPr/>
          <p:nvPr/>
        </p:nvSpPr>
        <p:spPr>
          <a:xfrm>
            <a:off x="457200" y="1554480"/>
            <a:ext cx="8229600" cy="0"/>
          </a:xfrm>
          <a:prstGeom prst="line">
            <a:avLst/>
          </a:prstGeom>
          <a:noFill/>
          <a:ln w="19050">
            <a:solidFill>
              <a:srgbClr val="4A90D9"/>
            </a:solidFill>
            <a:prstDash val="solid"/>
          </a:ln>
        </p:spPr>
      </p:sp>
      <p:pic>
        <p:nvPicPr>
          <p:cNvPr id="6" name="Image 0" descr="preencoded.png">    </p:cNvPr>
          <p:cNvPicPr>
            <a:picLocks noChangeAspect="1"/>
          </p:cNvPicPr>
          <p:nvPr/>
        </p:nvPicPr>
        <p:blipFill>
          <a:blip r:embed="rId1"/>
          <a:stretch>
            <a:fillRect/>
          </a:stretch>
        </p:blipFill>
        <p:spPr>
          <a:xfrm>
            <a:off x="7863840" y="301752"/>
            <a:ext cx="594360" cy="594360"/>
          </a:xfrm>
          <a:prstGeom prst="rect">
            <a:avLst/>
          </a:prstGeom>
        </p:spPr>
      </p:pic>
      <p:sp>
        <p:nvSpPr>
          <p:cNvPr id="7" name="Text 4"/>
          <p:cNvSpPr/>
          <p:nvPr/>
        </p:nvSpPr>
        <p:spPr>
          <a:xfrm>
            <a:off x="457200" y="1691640"/>
            <a:ext cx="8229600" cy="3218688"/>
          </a:xfrm>
          <a:prstGeom prst="rect">
            <a:avLst/>
          </a:prstGeom>
          <a:noFill/>
          <a:ln/>
        </p:spPr>
        <p:txBody>
          <a:bodyPr wrap="square" rtlCol="0" anchor="t"/>
          <a:lstStyle/>
          <a:p>
            <a:pPr algn="l" indent="0" marL="0">
              <a:lnSpc>
                <a:spcPct val="88000"/>
              </a:lnSpc>
              <a:buNone/>
            </a:pPr>
            <a:r>
              <a:rPr lang="en-US" sz="1350" dirty="0">
                <a:solidFill>
                  <a:srgbClr val="1A2332"/>
                </a:solidFill>
                <a:latin typeface="Calibri" pitchFamily="34" charset="0"/>
                <a:ea typeface="Calibri" pitchFamily="34" charset="-122"/>
                <a:cs typeface="Calibri" pitchFamily="34" charset="-120"/>
              </a:rPr>
              <a:t>The specific analytics platforms developed through intelligence community investment — including those whose foundational technologies trace to In-Q-Tel and related intelligence community venture capital programs — represent a category of publicly funded intellectual property that is subject to the commons recapture principles of the Federal Resilience and Decentralization Initiatives Act.</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A2332"/>
                </a:solidFill>
                <a:latin typeface="Calibri" pitchFamily="34" charset="0"/>
                <a:ea typeface="Calibri" pitchFamily="34" charset="-122"/>
                <a:cs typeface="Calibri" pitchFamily="34" charset="-120"/>
              </a:rPr>
              <a:t>The commons capture of these platforms, and their transformation into open-source commons governance tools, serves both the purposes of that Act and the national security interest in ensuring that the most powerful data integration capabilities available are governed democratically rather than proprietary.</a:t>
            </a:r>
            <a:endParaRPr lang="en-US" sz="13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E2EAF2"/>
        </a:solidFill>
      </p:bgPr>
    </p:bg>
    <p:spTree>
      <p:nvGrpSpPr>
        <p:cNvPr id="1" name=""/>
        <p:cNvGrpSpPr/>
        <p:nvPr/>
      </p:nvGrpSpPr>
      <p:grpSpPr>
        <a:xfrm>
          <a:off x="0" y="0"/>
          <a:ext cx="0" cy="0"/>
          <a:chOff x="0" y="0"/>
          <a:chExt cx="0" cy="0"/>
        </a:xfrm>
      </p:grpSpPr>
      <p:sp>
        <p:nvSpPr>
          <p:cNvPr id="2" name="Shape 0"/>
          <p:cNvSpPr/>
          <p:nvPr/>
        </p:nvSpPr>
        <p:spPr>
          <a:xfrm>
            <a:off x="457200" y="347472"/>
            <a:ext cx="1463040" cy="347472"/>
          </a:xfrm>
          <a:prstGeom prst="roundRect">
            <a:avLst>
              <a:gd name="adj" fmla="val 13158"/>
            </a:avLst>
          </a:prstGeom>
          <a:solidFill>
            <a:srgbClr val="2C4A6E"/>
          </a:solidFill>
          <a:ln/>
        </p:spPr>
      </p:sp>
      <p:sp>
        <p:nvSpPr>
          <p:cNvPr id="3" name="Text 1"/>
          <p:cNvSpPr/>
          <p:nvPr/>
        </p:nvSpPr>
        <p:spPr>
          <a:xfrm>
            <a:off x="457200" y="347472"/>
            <a:ext cx="146304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Mechanism</a:t>
            </a:r>
            <a:endParaRPr lang="en-US" sz="1000" dirty="0"/>
          </a:p>
        </p:txBody>
      </p:sp>
      <p:sp>
        <p:nvSpPr>
          <p:cNvPr id="4" name="Text 2"/>
          <p:cNvSpPr/>
          <p:nvPr/>
        </p:nvSpPr>
        <p:spPr>
          <a:xfrm>
            <a:off x="2011680" y="347472"/>
            <a:ext cx="6492240" cy="347472"/>
          </a:xfrm>
          <a:prstGeom prst="rect">
            <a:avLst/>
          </a:prstGeom>
          <a:noFill/>
          <a:ln/>
        </p:spPr>
        <p:txBody>
          <a:bodyPr wrap="square" rtlCol="0" anchor="ctr"/>
          <a:lstStyle/>
          <a:p>
            <a:pPr indent="0" marL="0">
              <a:buNone/>
            </a:pPr>
            <a:r>
              <a:rPr lang="en-US" sz="1000" dirty="0">
                <a:solidFill>
                  <a:srgbClr val="2C4A6E"/>
                </a:solidFill>
                <a:latin typeface="Calibri" pitchFamily="34" charset="0"/>
                <a:ea typeface="Calibri" pitchFamily="34" charset="-122"/>
                <a:cs typeface="Calibri" pitchFamily="34" charset="-120"/>
              </a:rPr>
              <a:t>Finding 17 → Title III § 302; FRDI Title V § 502</a:t>
            </a:r>
            <a:endParaRPr lang="en-US" sz="1000" dirty="0"/>
          </a:p>
        </p:txBody>
      </p:sp>
      <p:sp>
        <p:nvSpPr>
          <p:cNvPr id="5" name="Text 3"/>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0D1A2E"/>
                </a:solidFill>
                <a:latin typeface="Cambria" pitchFamily="34" charset="0"/>
                <a:ea typeface="Cambria" pitchFamily="34" charset="-122"/>
                <a:cs typeface="Cambria" pitchFamily="34" charset="-120"/>
              </a:rPr>
              <a:t>What the Bill Does</a:t>
            </a:r>
            <a:endParaRPr lang="en-US" sz="2200" dirty="0"/>
          </a:p>
        </p:txBody>
      </p:sp>
      <p:sp>
        <p:nvSpPr>
          <p:cNvPr id="6" name="Shape 4"/>
          <p:cNvSpPr/>
          <p:nvPr/>
        </p:nvSpPr>
        <p:spPr>
          <a:xfrm>
            <a:off x="457200" y="1554480"/>
            <a:ext cx="8229600" cy="0"/>
          </a:xfrm>
          <a:prstGeom prst="line">
            <a:avLst/>
          </a:prstGeom>
          <a:noFill/>
          <a:ln w="19050">
            <a:solidFill>
              <a:srgbClr val="2C4A6E"/>
            </a:solidFill>
            <a:prstDash val="solid"/>
          </a:ln>
        </p:spPr>
      </p:sp>
      <p:sp>
        <p:nvSpPr>
          <p:cNvPr id="7" name="Text 5"/>
          <p:cNvSpPr/>
          <p:nvPr/>
        </p:nvSpPr>
        <p:spPr>
          <a:xfrm>
            <a:off x="457200" y="1691640"/>
            <a:ext cx="8229600" cy="2761488"/>
          </a:xfrm>
          <a:prstGeom prst="rect">
            <a:avLst/>
          </a:prstGeom>
          <a:noFill/>
          <a:ln/>
        </p:spPr>
        <p:txBody>
          <a:bodyPr wrap="square" rtlCol="0" anchor="t"/>
          <a:lstStyle/>
          <a:p>
            <a:pPr algn="l" indent="0" marL="0">
              <a:lnSpc>
                <a:spcPct val="88000"/>
              </a:lnSpc>
              <a:buNone/>
            </a:pPr>
            <a:r>
              <a:rPr lang="en-US" sz="1350" dirty="0">
                <a:solidFill>
                  <a:srgbClr val="1A2332"/>
                </a:solidFill>
                <a:latin typeface="Calibri" pitchFamily="34" charset="0"/>
                <a:ea typeface="Calibri" pitchFamily="34" charset="-122"/>
                <a:cs typeface="Calibri" pitchFamily="34" charset="-120"/>
              </a:rPr>
              <a:t>Section 302's Intelligence-Community-Funded Analytics Platform Capture operationalizes the commons recapture principle for the specific category of platforms identified in Finding 17: those whose foundational capabilities trace to In-Q-Tel, DARPA, or other intelligence community investment programs.</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A2332"/>
                </a:solidFill>
                <a:latin typeface="Calibri" pitchFamily="34" charset="0"/>
                <a:ea typeface="Calibri" pitchFamily="34" charset="-122"/>
                <a:cs typeface="Calibri" pitchFamily="34" charset="-120"/>
              </a:rPr>
              <a:t>The capture is coordinated with the FRDI Act's Intellectual Property Commons (Title V § 502): captured platforms are contributed to the IP Commons with attribution registered to the original developers, stripped of surveillance capabilities, and released under a copyleft open-source license. The captured capabilities are available to all QFNs under the same terms as any other IP Commons contribution.</a:t>
            </a:r>
            <a:endParaRPr lang="en-US" sz="1350" dirty="0"/>
          </a:p>
        </p:txBody>
      </p:sp>
      <p:sp>
        <p:nvSpPr>
          <p:cNvPr id="8" name="Text 6"/>
          <p:cNvSpPr/>
          <p:nvPr/>
        </p:nvSpPr>
        <p:spPr>
          <a:xfrm>
            <a:off x="457200" y="4507992"/>
            <a:ext cx="8229600" cy="384048"/>
          </a:xfrm>
          <a:prstGeom prst="rect">
            <a:avLst/>
          </a:prstGeom>
          <a:noFill/>
          <a:ln/>
        </p:spPr>
        <p:txBody>
          <a:bodyPr wrap="square" rtlCol="0" anchor="ctr"/>
          <a:lstStyle/>
          <a:p>
            <a:pPr indent="0" marL="0">
              <a:buNone/>
            </a:pPr>
            <a:r>
              <a:rPr lang="en-US" sz="1000" dirty="0">
                <a:solidFill>
                  <a:srgbClr val="2C4A6E"/>
                </a:solidFill>
                <a:latin typeface="Courier New" pitchFamily="34" charset="0"/>
                <a:ea typeface="Courier New" pitchFamily="34" charset="-122"/>
                <a:cs typeface="Courier New" pitchFamily="34" charset="-120"/>
              </a:rPr>
              <a:t>Title III § 302 · FRDI Title V § 502</a:t>
            </a:r>
            <a:endParaRPr lang="en-US" sz="1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4A90D9"/>
        </a:solidFill>
      </p:bgPr>
    </p:bg>
    <p:spTree>
      <p:nvGrpSpPr>
        <p:cNvPr id="1" name=""/>
        <p:cNvGrpSpPr/>
        <p:nvPr/>
      </p:nvGrpSpPr>
      <p:grpSpPr>
        <a:xfrm>
          <a:off x="0" y="0"/>
          <a:ext cx="0" cy="0"/>
          <a:chOff x="0" y="0"/>
          <a:chExt cx="0" cy="0"/>
        </a:xfrm>
      </p:grpSpPr>
      <p:sp>
        <p:nvSpPr>
          <p:cNvPr id="2" name="Text 0"/>
          <p:cNvSpPr/>
          <p:nvPr/>
        </p:nvSpPr>
        <p:spPr>
          <a:xfrm>
            <a:off x="548640" y="640080"/>
            <a:ext cx="8046720" cy="411480"/>
          </a:xfrm>
          <a:prstGeom prst="rect">
            <a:avLst/>
          </a:prstGeom>
          <a:noFill/>
          <a:ln/>
        </p:spPr>
        <p:txBody>
          <a:bodyPr wrap="square" rtlCol="0" anchor="ctr"/>
          <a:lstStyle/>
          <a:p>
            <a:pPr indent="0" marL="0">
              <a:buNone/>
            </a:pPr>
            <a:r>
              <a:rPr lang="en-US" sz="1400" b="1" spc="400" kern="0" dirty="0">
                <a:solidFill>
                  <a:srgbClr val="FFFFFF"/>
                </a:solidFill>
                <a:latin typeface="Arial" pitchFamily="34" charset="0"/>
                <a:ea typeface="Arial" pitchFamily="34" charset="-122"/>
                <a:cs typeface="Arial" pitchFamily="34" charset="-120"/>
              </a:rPr>
              <a:t>Section V</a:t>
            </a:r>
            <a:endParaRPr lang="en-US" sz="1400" dirty="0"/>
          </a:p>
        </p:txBody>
      </p:sp>
      <p:sp>
        <p:nvSpPr>
          <p:cNvPr id="3" name="Text 1"/>
          <p:cNvSpPr/>
          <p:nvPr/>
        </p:nvSpPr>
        <p:spPr>
          <a:xfrm>
            <a:off x="548640" y="1097280"/>
            <a:ext cx="8046720" cy="1828800"/>
          </a:xfrm>
          <a:prstGeom prst="rect">
            <a:avLst/>
          </a:prstGeom>
          <a:noFill/>
          <a:ln/>
        </p:spPr>
        <p:txBody>
          <a:bodyPr wrap="square"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Human Oversight</a:t>
            </a:r>
            <a:endParaRPr lang="en-US" sz="3400" dirty="0"/>
          </a:p>
          <a:p>
            <a:pPr indent="0" marL="0">
              <a:buNone/>
            </a:pPr>
            <a:r>
              <a:rPr lang="en-US" sz="3400" b="1" dirty="0">
                <a:solidFill>
                  <a:srgbClr val="FFFFFF"/>
                </a:solidFill>
                <a:latin typeface="Cambria" pitchFamily="34" charset="0"/>
                <a:ea typeface="Cambria" pitchFamily="34" charset="-122"/>
                <a:cs typeface="Cambria" pitchFamily="34" charset="-120"/>
              </a:rPr>
              <a:t>of Automated Systems</a:t>
            </a:r>
            <a:endParaRPr lang="en-US" sz="3400" dirty="0"/>
          </a:p>
        </p:txBody>
      </p:sp>
      <p:sp>
        <p:nvSpPr>
          <p:cNvPr id="4" name="Text 2"/>
          <p:cNvSpPr/>
          <p:nvPr/>
        </p:nvSpPr>
        <p:spPr>
          <a:xfrm>
            <a:off x="548640" y="3017520"/>
            <a:ext cx="8046720" cy="822960"/>
          </a:xfrm>
          <a:prstGeom prst="rect">
            <a:avLst/>
          </a:prstGeom>
          <a:noFill/>
          <a:ln/>
        </p:spPr>
        <p:txBody>
          <a:bodyPr wrap="square" rtlCol="0" anchor="ctr"/>
          <a:lstStyle/>
          <a:p>
            <a:pPr indent="0" marL="0">
              <a:buNone/>
            </a:pPr>
            <a:r>
              <a:rPr lang="en-US" sz="1500" i="1" dirty="0">
                <a:solidFill>
                  <a:srgbClr val="F0F4F8"/>
                </a:solidFill>
                <a:latin typeface="Calibri" pitchFamily="34" charset="0"/>
                <a:ea typeface="Calibri" pitchFamily="34" charset="-122"/>
                <a:cs typeface="Calibri" pitchFamily="34" charset="-120"/>
              </a:rPr>
              <a:t>Findings 18–19: Why human judgment is constitutionally required and empirically superior</a:t>
            </a:r>
            <a:endParaRPr lang="en-US" sz="15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457200" y="347472"/>
            <a:ext cx="1188720" cy="347472"/>
          </a:xfrm>
          <a:prstGeom prst="roundRect">
            <a:avLst>
              <a:gd name="adj" fmla="val 13158"/>
            </a:avLst>
          </a:prstGeom>
          <a:solidFill>
            <a:srgbClr val="1E3A5F"/>
          </a:solidFill>
          <a:ln/>
        </p:spPr>
      </p:sp>
      <p:sp>
        <p:nvSpPr>
          <p:cNvPr id="3" name="Text 1"/>
          <p:cNvSpPr/>
          <p:nvPr/>
        </p:nvSpPr>
        <p:spPr>
          <a:xfrm>
            <a:off x="457200" y="347472"/>
            <a:ext cx="118872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Finding 18</a:t>
            </a:r>
            <a:endParaRPr lang="en-US" sz="1000" dirty="0"/>
          </a:p>
        </p:txBody>
      </p:sp>
      <p:sp>
        <p:nvSpPr>
          <p:cNvPr id="4" name="Text 2"/>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0D1A2E"/>
                </a:solidFill>
                <a:latin typeface="Cambria" pitchFamily="34" charset="0"/>
                <a:ea typeface="Cambria" pitchFamily="34" charset="-122"/>
                <a:cs typeface="Cambria" pitchFamily="34" charset="-120"/>
              </a:rPr>
              <a:t>Automated Systems Cannot Exercise the Judgment Governance Requires</a:t>
            </a:r>
            <a:endParaRPr lang="en-US" sz="2200" dirty="0"/>
          </a:p>
        </p:txBody>
      </p:sp>
      <p:sp>
        <p:nvSpPr>
          <p:cNvPr id="5" name="Shape 3"/>
          <p:cNvSpPr/>
          <p:nvPr/>
        </p:nvSpPr>
        <p:spPr>
          <a:xfrm>
            <a:off x="457200" y="1554480"/>
            <a:ext cx="8229600" cy="0"/>
          </a:xfrm>
          <a:prstGeom prst="line">
            <a:avLst/>
          </a:prstGeom>
          <a:noFill/>
          <a:ln w="19050">
            <a:solidFill>
              <a:srgbClr val="4A90D9"/>
            </a:solidFill>
            <a:prstDash val="solid"/>
          </a:ln>
        </p:spPr>
      </p:sp>
      <p:pic>
        <p:nvPicPr>
          <p:cNvPr id="6" name="Image 0" descr="preencoded.png">    </p:cNvPr>
          <p:cNvPicPr>
            <a:picLocks noChangeAspect="1"/>
          </p:cNvPicPr>
          <p:nvPr/>
        </p:nvPicPr>
        <p:blipFill>
          <a:blip r:embed="rId1"/>
          <a:stretch>
            <a:fillRect/>
          </a:stretch>
        </p:blipFill>
        <p:spPr>
          <a:xfrm>
            <a:off x="7863840" y="301752"/>
            <a:ext cx="594360" cy="594360"/>
          </a:xfrm>
          <a:prstGeom prst="rect">
            <a:avLst/>
          </a:prstGeom>
        </p:spPr>
      </p:pic>
      <p:sp>
        <p:nvSpPr>
          <p:cNvPr id="7" name="Text 4"/>
          <p:cNvSpPr/>
          <p:nvPr/>
        </p:nvSpPr>
        <p:spPr>
          <a:xfrm>
            <a:off x="457200" y="1691640"/>
            <a:ext cx="8229600" cy="3218688"/>
          </a:xfrm>
          <a:prstGeom prst="rect">
            <a:avLst/>
          </a:prstGeom>
          <a:noFill/>
          <a:ln/>
        </p:spPr>
        <p:txBody>
          <a:bodyPr wrap="square" rtlCol="0" anchor="t"/>
          <a:lstStyle/>
          <a:p>
            <a:pPr algn="l" indent="0" marL="0">
              <a:lnSpc>
                <a:spcPct val="88000"/>
              </a:lnSpc>
              <a:buNone/>
            </a:pPr>
            <a:r>
              <a:rPr lang="en-US" sz="1350" dirty="0">
                <a:solidFill>
                  <a:srgbClr val="1A2332"/>
                </a:solidFill>
                <a:latin typeface="Calibri" pitchFamily="34" charset="0"/>
                <a:ea typeface="Calibri" pitchFamily="34" charset="-122"/>
                <a:cs typeface="Calibri" pitchFamily="34" charset="-120"/>
              </a:rPr>
              <a:t>Automated systems are not capable of exercising the contextual judgment, ethical deliberation, or democratic accountability that governance of human communities requires. The empirical record of automated decision-making in consequential domains — criminal justice risk assessment, social benefit eligibility determination, hiring and credit decisions, and military targeting — demonstrates systematic bias, opacity, and the amplification of existing injustices at scales that human decision-making could not achieve.</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A2332"/>
                </a:solidFill>
                <a:latin typeface="Calibri" pitchFamily="34" charset="0"/>
                <a:ea typeface="Calibri" pitchFamily="34" charset="-122"/>
                <a:cs typeface="Calibri" pitchFamily="34" charset="-120"/>
              </a:rPr>
              <a:t>The prohibition on algorithmic governance of individual rights established by this Act is not a rejection of automation as a tool; it is a protection of the human deliberative processes that the Constitution requires and that the commons governance architecture embodies.</a:t>
            </a:r>
            <a:endParaRPr lang="en-US" sz="13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E2EAF2"/>
        </a:solidFill>
      </p:bgPr>
    </p:bg>
    <p:spTree>
      <p:nvGrpSpPr>
        <p:cNvPr id="1" name=""/>
        <p:cNvGrpSpPr/>
        <p:nvPr/>
      </p:nvGrpSpPr>
      <p:grpSpPr>
        <a:xfrm>
          <a:off x="0" y="0"/>
          <a:ext cx="0" cy="0"/>
          <a:chOff x="0" y="0"/>
          <a:chExt cx="0" cy="0"/>
        </a:xfrm>
      </p:grpSpPr>
      <p:sp>
        <p:nvSpPr>
          <p:cNvPr id="2" name="Shape 0"/>
          <p:cNvSpPr/>
          <p:nvPr/>
        </p:nvSpPr>
        <p:spPr>
          <a:xfrm>
            <a:off x="457200" y="347472"/>
            <a:ext cx="1463040" cy="347472"/>
          </a:xfrm>
          <a:prstGeom prst="roundRect">
            <a:avLst>
              <a:gd name="adj" fmla="val 13158"/>
            </a:avLst>
          </a:prstGeom>
          <a:solidFill>
            <a:srgbClr val="2C4A6E"/>
          </a:solidFill>
          <a:ln/>
        </p:spPr>
      </p:sp>
      <p:sp>
        <p:nvSpPr>
          <p:cNvPr id="3" name="Text 1"/>
          <p:cNvSpPr/>
          <p:nvPr/>
        </p:nvSpPr>
        <p:spPr>
          <a:xfrm>
            <a:off x="457200" y="347472"/>
            <a:ext cx="146304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Mechanism</a:t>
            </a:r>
            <a:endParaRPr lang="en-US" sz="1000" dirty="0"/>
          </a:p>
        </p:txBody>
      </p:sp>
      <p:sp>
        <p:nvSpPr>
          <p:cNvPr id="4" name="Text 2"/>
          <p:cNvSpPr/>
          <p:nvPr/>
        </p:nvSpPr>
        <p:spPr>
          <a:xfrm>
            <a:off x="2011680" y="347472"/>
            <a:ext cx="6492240" cy="347472"/>
          </a:xfrm>
          <a:prstGeom prst="rect">
            <a:avLst/>
          </a:prstGeom>
          <a:noFill/>
          <a:ln/>
        </p:spPr>
        <p:txBody>
          <a:bodyPr wrap="square" rtlCol="0" anchor="ctr"/>
          <a:lstStyle/>
          <a:p>
            <a:pPr indent="0" marL="0">
              <a:buNone/>
            </a:pPr>
            <a:r>
              <a:rPr lang="en-US" sz="1000" dirty="0">
                <a:solidFill>
                  <a:srgbClr val="2C4A6E"/>
                </a:solidFill>
                <a:latin typeface="Calibri" pitchFamily="34" charset="0"/>
                <a:ea typeface="Calibri" pitchFamily="34" charset="-122"/>
                <a:cs typeface="Calibri" pitchFamily="34" charset="-120"/>
              </a:rPr>
              <a:t>Finding 18 → Title IV § 404</a:t>
            </a:r>
            <a:endParaRPr lang="en-US" sz="1000" dirty="0"/>
          </a:p>
        </p:txBody>
      </p:sp>
      <p:sp>
        <p:nvSpPr>
          <p:cNvPr id="5" name="Text 3"/>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0D1A2E"/>
                </a:solidFill>
                <a:latin typeface="Cambria" pitchFamily="34" charset="0"/>
                <a:ea typeface="Cambria" pitchFamily="34" charset="-122"/>
                <a:cs typeface="Cambria" pitchFamily="34" charset="-120"/>
              </a:rPr>
              <a:t>What the Bill Does</a:t>
            </a:r>
            <a:endParaRPr lang="en-US" sz="2200" dirty="0"/>
          </a:p>
        </p:txBody>
      </p:sp>
      <p:sp>
        <p:nvSpPr>
          <p:cNvPr id="6" name="Shape 4"/>
          <p:cNvSpPr/>
          <p:nvPr/>
        </p:nvSpPr>
        <p:spPr>
          <a:xfrm>
            <a:off x="457200" y="1554480"/>
            <a:ext cx="8229600" cy="0"/>
          </a:xfrm>
          <a:prstGeom prst="line">
            <a:avLst/>
          </a:prstGeom>
          <a:noFill/>
          <a:ln w="19050">
            <a:solidFill>
              <a:srgbClr val="2C4A6E"/>
            </a:solidFill>
            <a:prstDash val="solid"/>
          </a:ln>
        </p:spPr>
      </p:sp>
      <p:sp>
        <p:nvSpPr>
          <p:cNvPr id="7" name="Text 5"/>
          <p:cNvSpPr/>
          <p:nvPr/>
        </p:nvSpPr>
        <p:spPr>
          <a:xfrm>
            <a:off x="457200" y="1691640"/>
            <a:ext cx="8229600" cy="2761488"/>
          </a:xfrm>
          <a:prstGeom prst="rect">
            <a:avLst/>
          </a:prstGeom>
          <a:noFill/>
          <a:ln/>
        </p:spPr>
        <p:txBody>
          <a:bodyPr wrap="square" rtlCol="0" anchor="t"/>
          <a:lstStyle/>
          <a:p>
            <a:pPr algn="l" indent="0" marL="0">
              <a:lnSpc>
                <a:spcPct val="88000"/>
              </a:lnSpc>
              <a:buNone/>
            </a:pPr>
            <a:r>
              <a:rPr lang="en-US" sz="1350" dirty="0">
                <a:solidFill>
                  <a:srgbClr val="1A2332"/>
                </a:solidFill>
                <a:latin typeface="Calibri" pitchFamily="34" charset="0"/>
                <a:ea typeface="Calibri" pitchFamily="34" charset="-122"/>
                <a:cs typeface="Calibri" pitchFamily="34" charset="-120"/>
              </a:rPr>
              <a:t>Section 404 establishes the Algorithmic Governance Prohibition in its full operative scope: no automated system may make or substantially determine any final governmental decision affecting the rights, benefits, obligations, or status of any individual Commons Member without meaningful human review.</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A2332"/>
                </a:solidFill>
                <a:latin typeface="Calibri" pitchFamily="34" charset="0"/>
                <a:ea typeface="Calibri" pitchFamily="34" charset="-122"/>
                <a:cs typeface="Calibri" pitchFamily="34" charset="-120"/>
              </a:rPr>
              <a:t>The prohibition is not limited to decisions with obvious bias risks — it applies to all consequential individual determinations, because the empirical record demonstrates that automated systems amplify bias in ways that are not predictable in advance from the apparent neutrality of the system's design.</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A2332"/>
                </a:solidFill>
                <a:latin typeface="Calibri" pitchFamily="34" charset="0"/>
                <a:ea typeface="Calibri" pitchFamily="34" charset="-122"/>
                <a:cs typeface="Calibri" pitchFamily="34" charset="-120"/>
              </a:rPr>
              <a:t>Every automated determination that triggers the prohibition is routed through the Human-in-the-Loop Layer (FRDI Act § 803), which provides the human review mechanism within defined timeframes.</a:t>
            </a:r>
            <a:endParaRPr lang="en-US" sz="1350" dirty="0"/>
          </a:p>
        </p:txBody>
      </p:sp>
      <p:sp>
        <p:nvSpPr>
          <p:cNvPr id="8" name="Text 6"/>
          <p:cNvSpPr/>
          <p:nvPr/>
        </p:nvSpPr>
        <p:spPr>
          <a:xfrm>
            <a:off x="457200" y="4507992"/>
            <a:ext cx="8229600" cy="384048"/>
          </a:xfrm>
          <a:prstGeom prst="rect">
            <a:avLst/>
          </a:prstGeom>
          <a:noFill/>
          <a:ln/>
        </p:spPr>
        <p:txBody>
          <a:bodyPr wrap="square" rtlCol="0" anchor="ctr"/>
          <a:lstStyle/>
          <a:p>
            <a:pPr indent="0" marL="0">
              <a:buNone/>
            </a:pPr>
            <a:r>
              <a:rPr lang="en-US" sz="1000" dirty="0">
                <a:solidFill>
                  <a:srgbClr val="2C4A6E"/>
                </a:solidFill>
                <a:latin typeface="Courier New" pitchFamily="34" charset="0"/>
                <a:ea typeface="Courier New" pitchFamily="34" charset="-122"/>
                <a:cs typeface="Courier New" pitchFamily="34" charset="-120"/>
              </a:rPr>
              <a:t>Title IV § 404 · FRDI Title VIII § 803</a:t>
            </a:r>
            <a:endParaRPr lang="en-US" sz="1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457200" y="347472"/>
            <a:ext cx="1188720" cy="347472"/>
          </a:xfrm>
          <a:prstGeom prst="roundRect">
            <a:avLst>
              <a:gd name="adj" fmla="val 13158"/>
            </a:avLst>
          </a:prstGeom>
          <a:solidFill>
            <a:srgbClr val="1E3A5F"/>
          </a:solidFill>
          <a:ln/>
        </p:spPr>
      </p:sp>
      <p:sp>
        <p:nvSpPr>
          <p:cNvPr id="3" name="Text 1"/>
          <p:cNvSpPr/>
          <p:nvPr/>
        </p:nvSpPr>
        <p:spPr>
          <a:xfrm>
            <a:off x="457200" y="347472"/>
            <a:ext cx="118872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Finding 19</a:t>
            </a:r>
            <a:endParaRPr lang="en-US" sz="1000" dirty="0"/>
          </a:p>
        </p:txBody>
      </p:sp>
      <p:sp>
        <p:nvSpPr>
          <p:cNvPr id="4" name="Text 2"/>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0D1A2E"/>
                </a:solidFill>
                <a:latin typeface="Cambria" pitchFamily="34" charset="0"/>
                <a:ea typeface="Cambria" pitchFamily="34" charset="-122"/>
                <a:cs typeface="Cambria" pitchFamily="34" charset="-120"/>
              </a:rPr>
              <a:t>The Human-in-the-Loop Layer Is a Substantive Improvement, Not Just a Procedural Protection</a:t>
            </a:r>
            <a:endParaRPr lang="en-US" sz="2200" dirty="0"/>
          </a:p>
        </p:txBody>
      </p:sp>
      <p:sp>
        <p:nvSpPr>
          <p:cNvPr id="5" name="Shape 3"/>
          <p:cNvSpPr/>
          <p:nvPr/>
        </p:nvSpPr>
        <p:spPr>
          <a:xfrm>
            <a:off x="457200" y="1554480"/>
            <a:ext cx="8229600" cy="0"/>
          </a:xfrm>
          <a:prstGeom prst="line">
            <a:avLst/>
          </a:prstGeom>
          <a:noFill/>
          <a:ln w="19050">
            <a:solidFill>
              <a:srgbClr val="4A90D9"/>
            </a:solidFill>
            <a:prstDash val="solid"/>
          </a:ln>
        </p:spPr>
      </p:sp>
      <p:pic>
        <p:nvPicPr>
          <p:cNvPr id="6" name="Image 0" descr="preencoded.png">    </p:cNvPr>
          <p:cNvPicPr>
            <a:picLocks noChangeAspect="1"/>
          </p:cNvPicPr>
          <p:nvPr/>
        </p:nvPicPr>
        <p:blipFill>
          <a:blip r:embed="rId1"/>
          <a:stretch>
            <a:fillRect/>
          </a:stretch>
        </p:blipFill>
        <p:spPr>
          <a:xfrm>
            <a:off x="7863840" y="301752"/>
            <a:ext cx="594360" cy="594360"/>
          </a:xfrm>
          <a:prstGeom prst="rect">
            <a:avLst/>
          </a:prstGeom>
        </p:spPr>
      </p:pic>
      <p:sp>
        <p:nvSpPr>
          <p:cNvPr id="7" name="Text 4"/>
          <p:cNvSpPr/>
          <p:nvPr/>
        </p:nvSpPr>
        <p:spPr>
          <a:xfrm>
            <a:off x="457200" y="1691640"/>
            <a:ext cx="8229600" cy="3218688"/>
          </a:xfrm>
          <a:prstGeom prst="rect">
            <a:avLst/>
          </a:prstGeom>
          <a:noFill/>
          <a:ln/>
        </p:spPr>
        <p:txBody>
          <a:bodyPr wrap="square" rtlCol="0" anchor="t"/>
          <a:lstStyle/>
          <a:p>
            <a:pPr algn="l" indent="0" marL="0">
              <a:lnSpc>
                <a:spcPct val="88000"/>
              </a:lnSpc>
              <a:buNone/>
            </a:pPr>
            <a:r>
              <a:rPr lang="en-US" sz="1350" dirty="0">
                <a:solidFill>
                  <a:srgbClr val="1A2332"/>
                </a:solidFill>
                <a:latin typeface="Calibri" pitchFamily="34" charset="0"/>
                <a:ea typeface="Calibri" pitchFamily="34" charset="-122"/>
                <a:cs typeface="Calibri" pitchFamily="34" charset="-120"/>
              </a:rPr>
              <a:t>The Human-in-the-Loop Layer established under the Federal Resilience and Decentralization Initiatives Act reflects an empirical finding, confirmed by the DARPA Systematizing Confidence in Open Research and Evidence program and by the broader literature on automated decision-making, that human oversight is not merely a procedural protection but a substantive improvement.</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A2332"/>
                </a:solidFill>
                <a:latin typeface="Calibri" pitchFamily="34" charset="0"/>
                <a:ea typeface="Calibri" pitchFamily="34" charset="-122"/>
                <a:cs typeface="Calibri" pitchFamily="34" charset="-120"/>
              </a:rPr>
              <a:t>Human reviewers applying contextual judgment to automated determinations produce more accurate, more just, and more legitimate outcomes than automated systems operating without that oversight, across the full range of consequential decision domains.</a:t>
            </a:r>
            <a:endParaRPr lang="en-US" sz="13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E2EAF2"/>
        </a:solidFill>
      </p:bgPr>
    </p:bg>
    <p:spTree>
      <p:nvGrpSpPr>
        <p:cNvPr id="1" name=""/>
        <p:cNvGrpSpPr/>
        <p:nvPr/>
      </p:nvGrpSpPr>
      <p:grpSpPr>
        <a:xfrm>
          <a:off x="0" y="0"/>
          <a:ext cx="0" cy="0"/>
          <a:chOff x="0" y="0"/>
          <a:chExt cx="0" cy="0"/>
        </a:xfrm>
      </p:grpSpPr>
      <p:sp>
        <p:nvSpPr>
          <p:cNvPr id="2" name="Shape 0"/>
          <p:cNvSpPr/>
          <p:nvPr/>
        </p:nvSpPr>
        <p:spPr>
          <a:xfrm>
            <a:off x="457200" y="347472"/>
            <a:ext cx="1463040" cy="347472"/>
          </a:xfrm>
          <a:prstGeom prst="roundRect">
            <a:avLst>
              <a:gd name="adj" fmla="val 13158"/>
            </a:avLst>
          </a:prstGeom>
          <a:solidFill>
            <a:srgbClr val="2C4A6E"/>
          </a:solidFill>
          <a:ln/>
        </p:spPr>
      </p:sp>
      <p:sp>
        <p:nvSpPr>
          <p:cNvPr id="3" name="Text 1"/>
          <p:cNvSpPr/>
          <p:nvPr/>
        </p:nvSpPr>
        <p:spPr>
          <a:xfrm>
            <a:off x="457200" y="347472"/>
            <a:ext cx="146304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Mechanism</a:t>
            </a:r>
            <a:endParaRPr lang="en-US" sz="1000" dirty="0"/>
          </a:p>
        </p:txBody>
      </p:sp>
      <p:sp>
        <p:nvSpPr>
          <p:cNvPr id="4" name="Text 2"/>
          <p:cNvSpPr/>
          <p:nvPr/>
        </p:nvSpPr>
        <p:spPr>
          <a:xfrm>
            <a:off x="2011680" y="347472"/>
            <a:ext cx="6492240" cy="347472"/>
          </a:xfrm>
          <a:prstGeom prst="rect">
            <a:avLst/>
          </a:prstGeom>
          <a:noFill/>
          <a:ln/>
        </p:spPr>
        <p:txBody>
          <a:bodyPr wrap="square" rtlCol="0" anchor="ctr"/>
          <a:lstStyle/>
          <a:p>
            <a:pPr indent="0" marL="0">
              <a:buNone/>
            </a:pPr>
            <a:r>
              <a:rPr lang="en-US" sz="1000" dirty="0">
                <a:solidFill>
                  <a:srgbClr val="2C4A6E"/>
                </a:solidFill>
                <a:latin typeface="Calibri" pitchFamily="34" charset="0"/>
                <a:ea typeface="Calibri" pitchFamily="34" charset="-122"/>
                <a:cs typeface="Calibri" pitchFamily="34" charset="-120"/>
              </a:rPr>
              <a:t>Finding 19 → Title IV § 404; FRDI Title VIII § 803</a:t>
            </a:r>
            <a:endParaRPr lang="en-US" sz="1000" dirty="0"/>
          </a:p>
        </p:txBody>
      </p:sp>
      <p:sp>
        <p:nvSpPr>
          <p:cNvPr id="5" name="Text 3"/>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0D1A2E"/>
                </a:solidFill>
                <a:latin typeface="Cambria" pitchFamily="34" charset="0"/>
                <a:ea typeface="Cambria" pitchFamily="34" charset="-122"/>
                <a:cs typeface="Cambria" pitchFamily="34" charset="-120"/>
              </a:rPr>
              <a:t>What the Bill Does</a:t>
            </a:r>
            <a:endParaRPr lang="en-US" sz="2200" dirty="0"/>
          </a:p>
        </p:txBody>
      </p:sp>
      <p:sp>
        <p:nvSpPr>
          <p:cNvPr id="6" name="Shape 4"/>
          <p:cNvSpPr/>
          <p:nvPr/>
        </p:nvSpPr>
        <p:spPr>
          <a:xfrm>
            <a:off x="457200" y="1554480"/>
            <a:ext cx="8229600" cy="0"/>
          </a:xfrm>
          <a:prstGeom prst="line">
            <a:avLst/>
          </a:prstGeom>
          <a:noFill/>
          <a:ln w="19050">
            <a:solidFill>
              <a:srgbClr val="2C4A6E"/>
            </a:solidFill>
            <a:prstDash val="solid"/>
          </a:ln>
        </p:spPr>
      </p:sp>
      <p:sp>
        <p:nvSpPr>
          <p:cNvPr id="7" name="Text 5"/>
          <p:cNvSpPr/>
          <p:nvPr/>
        </p:nvSpPr>
        <p:spPr>
          <a:xfrm>
            <a:off x="457200" y="1691640"/>
            <a:ext cx="8229600" cy="2761488"/>
          </a:xfrm>
          <a:prstGeom prst="rect">
            <a:avLst/>
          </a:prstGeom>
          <a:noFill/>
          <a:ln/>
        </p:spPr>
        <p:txBody>
          <a:bodyPr wrap="square" rtlCol="0" anchor="t"/>
          <a:lstStyle/>
          <a:p>
            <a:pPr algn="l" indent="0" marL="0">
              <a:lnSpc>
                <a:spcPct val="88000"/>
              </a:lnSpc>
              <a:buNone/>
            </a:pPr>
            <a:r>
              <a:rPr lang="en-US" sz="1350" dirty="0">
                <a:solidFill>
                  <a:srgbClr val="1A2332"/>
                </a:solidFill>
                <a:latin typeface="Calibri" pitchFamily="34" charset="0"/>
                <a:ea typeface="Calibri" pitchFamily="34" charset="-122"/>
                <a:cs typeface="Calibri" pitchFamily="34" charset="-120"/>
              </a:rPr>
              <a:t>Section 404's Algorithmic Governance Prohibition is designed to leverage the accuracy improvement finding, not just to satisfy constitutional compliance: automated systems remain available as decision-support tools, providing the speed and data-integration capabilities that human reviewers can then apply contextual judgment to. The automation does the data work; the human makes the determination.</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A2332"/>
                </a:solidFill>
                <a:latin typeface="Calibri" pitchFamily="34" charset="0"/>
                <a:ea typeface="Calibri" pitchFamily="34" charset="-122"/>
                <a:cs typeface="Calibri" pitchFamily="34" charset="-120"/>
              </a:rPr>
              <a:t>FRDI Title VIII § 803's Human-in-the-Loop Layer establishes the institutional architecture through which this division of labor operates: defined timeframes for human review, training requirements for human reviewers, and accountability mechanisms ensuring that the human review is genuine deliberation rather than rubber-stamping.</a:t>
            </a:r>
            <a:endParaRPr lang="en-US" sz="1350" dirty="0"/>
          </a:p>
        </p:txBody>
      </p:sp>
      <p:sp>
        <p:nvSpPr>
          <p:cNvPr id="8" name="Text 6"/>
          <p:cNvSpPr/>
          <p:nvPr/>
        </p:nvSpPr>
        <p:spPr>
          <a:xfrm>
            <a:off x="457200" y="4507992"/>
            <a:ext cx="8229600" cy="384048"/>
          </a:xfrm>
          <a:prstGeom prst="rect">
            <a:avLst/>
          </a:prstGeom>
          <a:noFill/>
          <a:ln/>
        </p:spPr>
        <p:txBody>
          <a:bodyPr wrap="square" rtlCol="0" anchor="ctr"/>
          <a:lstStyle/>
          <a:p>
            <a:pPr indent="0" marL="0">
              <a:buNone/>
            </a:pPr>
            <a:r>
              <a:rPr lang="en-US" sz="1000" dirty="0">
                <a:solidFill>
                  <a:srgbClr val="2C4A6E"/>
                </a:solidFill>
                <a:latin typeface="Courier New" pitchFamily="34" charset="0"/>
                <a:ea typeface="Courier New" pitchFamily="34" charset="-122"/>
                <a:cs typeface="Courier New" pitchFamily="34" charset="-120"/>
              </a:rPr>
              <a:t>Title IV § 404 · FRDI Title VIII § 803</a:t>
            </a:r>
            <a:endParaRPr lang="en-US" sz="10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4A90D9"/>
        </a:solidFill>
      </p:bgPr>
    </p:bg>
    <p:spTree>
      <p:nvGrpSpPr>
        <p:cNvPr id="1" name=""/>
        <p:cNvGrpSpPr/>
        <p:nvPr/>
      </p:nvGrpSpPr>
      <p:grpSpPr>
        <a:xfrm>
          <a:off x="0" y="0"/>
          <a:ext cx="0" cy="0"/>
          <a:chOff x="0" y="0"/>
          <a:chExt cx="0" cy="0"/>
        </a:xfrm>
      </p:grpSpPr>
      <p:sp>
        <p:nvSpPr>
          <p:cNvPr id="2" name="Text 0"/>
          <p:cNvSpPr/>
          <p:nvPr/>
        </p:nvSpPr>
        <p:spPr>
          <a:xfrm>
            <a:off x="548640" y="640080"/>
            <a:ext cx="8046720" cy="411480"/>
          </a:xfrm>
          <a:prstGeom prst="rect">
            <a:avLst/>
          </a:prstGeom>
          <a:noFill/>
          <a:ln/>
        </p:spPr>
        <p:txBody>
          <a:bodyPr wrap="square" rtlCol="0" anchor="ctr"/>
          <a:lstStyle/>
          <a:p>
            <a:pPr indent="0" marL="0">
              <a:buNone/>
            </a:pPr>
            <a:r>
              <a:rPr lang="en-US" sz="1400" b="1" spc="400" kern="0" dirty="0">
                <a:solidFill>
                  <a:srgbClr val="FFFFFF"/>
                </a:solidFill>
                <a:latin typeface="Arial" pitchFamily="34" charset="0"/>
                <a:ea typeface="Arial" pitchFamily="34" charset="-122"/>
                <a:cs typeface="Arial" pitchFamily="34" charset="-120"/>
              </a:rPr>
              <a:t>Section VI</a:t>
            </a:r>
            <a:endParaRPr lang="en-US" sz="1400" dirty="0"/>
          </a:p>
        </p:txBody>
      </p:sp>
      <p:sp>
        <p:nvSpPr>
          <p:cNvPr id="3" name="Text 1"/>
          <p:cNvSpPr/>
          <p:nvPr/>
        </p:nvSpPr>
        <p:spPr>
          <a:xfrm>
            <a:off x="548640" y="1097280"/>
            <a:ext cx="8046720" cy="1828800"/>
          </a:xfrm>
          <a:prstGeom prst="rect">
            <a:avLst/>
          </a:prstGeom>
          <a:noFill/>
          <a:ln/>
        </p:spPr>
        <p:txBody>
          <a:bodyPr wrap="square"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This Act's Relationship</a:t>
            </a:r>
            <a:endParaRPr lang="en-US" sz="3400" dirty="0"/>
          </a:p>
          <a:p>
            <a:pPr indent="0" marL="0">
              <a:buNone/>
            </a:pPr>
            <a:r>
              <a:rPr lang="en-US" sz="3400" b="1" dirty="0">
                <a:solidFill>
                  <a:srgbClr val="FFFFFF"/>
                </a:solidFill>
                <a:latin typeface="Cambria" pitchFamily="34" charset="0"/>
                <a:ea typeface="Cambria" pitchFamily="34" charset="-122"/>
                <a:cs typeface="Cambria" pitchFamily="34" charset="-120"/>
              </a:rPr>
              <a:t>to the Legislative</a:t>
            </a:r>
            <a:endParaRPr lang="en-US" sz="3400" dirty="0"/>
          </a:p>
          <a:p>
            <a:pPr indent="0" marL="0">
              <a:buNone/>
            </a:pPr>
            <a:r>
              <a:rPr lang="en-US" sz="3400" b="1" dirty="0">
                <a:solidFill>
                  <a:srgbClr val="FFFFFF"/>
                </a:solidFill>
                <a:latin typeface="Cambria" pitchFamily="34" charset="0"/>
                <a:ea typeface="Cambria" pitchFamily="34" charset="-122"/>
                <a:cs typeface="Cambria" pitchFamily="34" charset="-120"/>
              </a:rPr>
              <a:t>Program</a:t>
            </a:r>
            <a:endParaRPr lang="en-US" sz="3400" dirty="0"/>
          </a:p>
        </p:txBody>
      </p:sp>
      <p:sp>
        <p:nvSpPr>
          <p:cNvPr id="4" name="Text 2"/>
          <p:cNvSpPr/>
          <p:nvPr/>
        </p:nvSpPr>
        <p:spPr>
          <a:xfrm>
            <a:off x="548640" y="3017520"/>
            <a:ext cx="8046720" cy="822960"/>
          </a:xfrm>
          <a:prstGeom prst="rect">
            <a:avLst/>
          </a:prstGeom>
          <a:noFill/>
          <a:ln/>
        </p:spPr>
        <p:txBody>
          <a:bodyPr wrap="square" rtlCol="0" anchor="ctr"/>
          <a:lstStyle/>
          <a:p>
            <a:pPr indent="0" marL="0">
              <a:buNone/>
            </a:pPr>
            <a:r>
              <a:rPr lang="en-US" sz="1500" i="1" dirty="0">
                <a:solidFill>
                  <a:srgbClr val="F0F4F8"/>
                </a:solidFill>
                <a:latin typeface="Calibri" pitchFamily="34" charset="0"/>
                <a:ea typeface="Calibri" pitchFamily="34" charset="-122"/>
                <a:cs typeface="Calibri" pitchFamily="34" charset="-120"/>
              </a:rPr>
              <a:t>Findings 20–22: Vol. III of four — the strategic commons</a:t>
            </a:r>
            <a:endParaRPr lang="en-US" sz="15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457200" y="347472"/>
            <a:ext cx="1188720" cy="347472"/>
          </a:xfrm>
          <a:prstGeom prst="roundRect">
            <a:avLst>
              <a:gd name="adj" fmla="val 13158"/>
            </a:avLst>
          </a:prstGeom>
          <a:solidFill>
            <a:srgbClr val="1E3A5F"/>
          </a:solidFill>
          <a:ln/>
        </p:spPr>
      </p:sp>
      <p:sp>
        <p:nvSpPr>
          <p:cNvPr id="3" name="Text 1"/>
          <p:cNvSpPr/>
          <p:nvPr/>
        </p:nvSpPr>
        <p:spPr>
          <a:xfrm>
            <a:off x="457200" y="347472"/>
            <a:ext cx="118872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Finding 20</a:t>
            </a:r>
            <a:endParaRPr lang="en-US" sz="1000" dirty="0"/>
          </a:p>
        </p:txBody>
      </p:sp>
      <p:sp>
        <p:nvSpPr>
          <p:cNvPr id="4" name="Text 2"/>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0D1A2E"/>
                </a:solidFill>
                <a:latin typeface="Cambria" pitchFamily="34" charset="0"/>
                <a:ea typeface="Cambria" pitchFamily="34" charset="-122"/>
                <a:cs typeface="Cambria" pitchFamily="34" charset="-120"/>
              </a:rPr>
              <a:t>Vol. III of Four: The Strategic Commons</a:t>
            </a:r>
            <a:endParaRPr lang="en-US" sz="2200" dirty="0"/>
          </a:p>
        </p:txBody>
      </p:sp>
      <p:sp>
        <p:nvSpPr>
          <p:cNvPr id="5" name="Shape 3"/>
          <p:cNvSpPr/>
          <p:nvPr/>
        </p:nvSpPr>
        <p:spPr>
          <a:xfrm>
            <a:off x="457200" y="1554480"/>
            <a:ext cx="8229600" cy="0"/>
          </a:xfrm>
          <a:prstGeom prst="line">
            <a:avLst/>
          </a:prstGeom>
          <a:noFill/>
          <a:ln w="19050">
            <a:solidFill>
              <a:srgbClr val="4A90D9"/>
            </a:solidFill>
            <a:prstDash val="solid"/>
          </a:ln>
        </p:spPr>
      </p:sp>
      <p:pic>
        <p:nvPicPr>
          <p:cNvPr id="6" name="Image 0" descr="preencoded.png">    </p:cNvPr>
          <p:cNvPicPr>
            <a:picLocks noChangeAspect="1"/>
          </p:cNvPicPr>
          <p:nvPr/>
        </p:nvPicPr>
        <p:blipFill>
          <a:blip r:embed="rId1"/>
          <a:stretch>
            <a:fillRect/>
          </a:stretch>
        </p:blipFill>
        <p:spPr>
          <a:xfrm>
            <a:off x="7863840" y="301752"/>
            <a:ext cx="594360" cy="594360"/>
          </a:xfrm>
          <a:prstGeom prst="rect">
            <a:avLst/>
          </a:prstGeom>
        </p:spPr>
      </p:pic>
      <p:sp>
        <p:nvSpPr>
          <p:cNvPr id="7" name="Text 4"/>
          <p:cNvSpPr/>
          <p:nvPr/>
        </p:nvSpPr>
        <p:spPr>
          <a:xfrm>
            <a:off x="457200" y="1691640"/>
            <a:ext cx="8229600" cy="3218688"/>
          </a:xfrm>
          <a:prstGeom prst="rect">
            <a:avLst/>
          </a:prstGeom>
          <a:noFill/>
          <a:ln/>
        </p:spPr>
        <p:txBody>
          <a:bodyPr wrap="square" rtlCol="0" anchor="t"/>
          <a:lstStyle/>
          <a:p>
            <a:pPr algn="l" indent="0" marL="0">
              <a:lnSpc>
                <a:spcPct val="88000"/>
              </a:lnSpc>
              <a:buNone/>
            </a:pPr>
            <a:r>
              <a:rPr lang="en-US" sz="1350" dirty="0">
                <a:solidFill>
                  <a:srgbClr val="1A2332"/>
                </a:solidFill>
                <a:latin typeface="Calibri" pitchFamily="34" charset="0"/>
                <a:ea typeface="Calibri" pitchFamily="34" charset="-122"/>
                <a:cs typeface="Calibri" pitchFamily="34" charset="-120"/>
              </a:rPr>
              <a:t>This Act is the third of four legislative vehicles constituting a complete transition program from the extractive, punitive, and militarist order to a federated commons organized around abundance, restoration, and solidarity.</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A2332"/>
                </a:solidFill>
                <a:latin typeface="Calibri" pitchFamily="34" charset="0"/>
                <a:ea typeface="Calibri" pitchFamily="34" charset="-122"/>
                <a:cs typeface="Calibri" pitchFamily="34" charset="-120"/>
              </a:rPr>
              <a:t>The FRDI Act established the material commons. The HRCR Act established the social commons. This Act establishes the strategic commons: the defense posture, automation governance, and analytics infrastructure that protect and extend what the first two Acts built.</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A2332"/>
                </a:solidFill>
                <a:latin typeface="Calibri" pitchFamily="34" charset="0"/>
                <a:ea typeface="Calibri" pitchFamily="34" charset="-122"/>
                <a:cs typeface="Calibri" pitchFamily="34" charset="-120"/>
              </a:rPr>
              <a:t>The fourth Act, addressing NATO obligations and international alliance restructuring in detail, is anticipated in the finding of Section 906(c) of the FRDI Act and in the foreign policy coherence provision of Section 405 of the HRCR Act.</a:t>
            </a:r>
            <a:endParaRPr lang="en-US" sz="13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E2EAF2"/>
        </a:solidFill>
      </p:bgPr>
    </p:bg>
    <p:spTree>
      <p:nvGrpSpPr>
        <p:cNvPr id="1" name=""/>
        <p:cNvGrpSpPr/>
        <p:nvPr/>
      </p:nvGrpSpPr>
      <p:grpSpPr>
        <a:xfrm>
          <a:off x="0" y="0"/>
          <a:ext cx="0" cy="0"/>
          <a:chOff x="0" y="0"/>
          <a:chExt cx="0" cy="0"/>
        </a:xfrm>
      </p:grpSpPr>
      <p:sp>
        <p:nvSpPr>
          <p:cNvPr id="2" name="Shape 0"/>
          <p:cNvSpPr/>
          <p:nvPr/>
        </p:nvSpPr>
        <p:spPr>
          <a:xfrm>
            <a:off x="457200" y="347472"/>
            <a:ext cx="1463040" cy="347472"/>
          </a:xfrm>
          <a:prstGeom prst="roundRect">
            <a:avLst>
              <a:gd name="adj" fmla="val 13158"/>
            </a:avLst>
          </a:prstGeom>
          <a:solidFill>
            <a:srgbClr val="2C4A6E"/>
          </a:solidFill>
          <a:ln/>
        </p:spPr>
      </p:sp>
      <p:sp>
        <p:nvSpPr>
          <p:cNvPr id="3" name="Text 1"/>
          <p:cNvSpPr/>
          <p:nvPr/>
        </p:nvSpPr>
        <p:spPr>
          <a:xfrm>
            <a:off x="457200" y="347472"/>
            <a:ext cx="146304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Mechanism</a:t>
            </a:r>
            <a:endParaRPr lang="en-US" sz="1000" dirty="0"/>
          </a:p>
        </p:txBody>
      </p:sp>
      <p:sp>
        <p:nvSpPr>
          <p:cNvPr id="4" name="Text 2"/>
          <p:cNvSpPr/>
          <p:nvPr/>
        </p:nvSpPr>
        <p:spPr>
          <a:xfrm>
            <a:off x="2011680" y="347472"/>
            <a:ext cx="6492240" cy="347472"/>
          </a:xfrm>
          <a:prstGeom prst="rect">
            <a:avLst/>
          </a:prstGeom>
          <a:noFill/>
          <a:ln/>
        </p:spPr>
        <p:txBody>
          <a:bodyPr wrap="square" rtlCol="0" anchor="ctr"/>
          <a:lstStyle/>
          <a:p>
            <a:pPr indent="0" marL="0">
              <a:buNone/>
            </a:pPr>
            <a:r>
              <a:rPr lang="en-US" sz="1000" dirty="0">
                <a:solidFill>
                  <a:srgbClr val="2C4A6E"/>
                </a:solidFill>
                <a:latin typeface="Calibri" pitchFamily="34" charset="0"/>
                <a:ea typeface="Calibri" pitchFamily="34" charset="-122"/>
                <a:cs typeface="Calibri" pitchFamily="34" charset="-120"/>
              </a:rPr>
              <a:t>Finding 20 → Title V § 501</a:t>
            </a:r>
            <a:endParaRPr lang="en-US" sz="1000" dirty="0"/>
          </a:p>
        </p:txBody>
      </p:sp>
      <p:sp>
        <p:nvSpPr>
          <p:cNvPr id="5" name="Text 3"/>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0D1A2E"/>
                </a:solidFill>
                <a:latin typeface="Cambria" pitchFamily="34" charset="0"/>
                <a:ea typeface="Cambria" pitchFamily="34" charset="-122"/>
                <a:cs typeface="Cambria" pitchFamily="34" charset="-120"/>
              </a:rPr>
              <a:t>What the Bill Does</a:t>
            </a:r>
            <a:endParaRPr lang="en-US" sz="2200" dirty="0"/>
          </a:p>
        </p:txBody>
      </p:sp>
      <p:sp>
        <p:nvSpPr>
          <p:cNvPr id="6" name="Shape 4"/>
          <p:cNvSpPr/>
          <p:nvPr/>
        </p:nvSpPr>
        <p:spPr>
          <a:xfrm>
            <a:off x="457200" y="1554480"/>
            <a:ext cx="8229600" cy="0"/>
          </a:xfrm>
          <a:prstGeom prst="line">
            <a:avLst/>
          </a:prstGeom>
          <a:noFill/>
          <a:ln w="19050">
            <a:solidFill>
              <a:srgbClr val="2C4A6E"/>
            </a:solidFill>
            <a:prstDash val="solid"/>
          </a:ln>
        </p:spPr>
      </p:sp>
      <p:sp>
        <p:nvSpPr>
          <p:cNvPr id="7" name="Text 5"/>
          <p:cNvSpPr/>
          <p:nvPr/>
        </p:nvSpPr>
        <p:spPr>
          <a:xfrm>
            <a:off x="457200" y="1691640"/>
            <a:ext cx="8229600" cy="2761488"/>
          </a:xfrm>
          <a:prstGeom prst="rect">
            <a:avLst/>
          </a:prstGeom>
          <a:noFill/>
          <a:ln/>
        </p:spPr>
        <p:txBody>
          <a:bodyPr wrap="square" rtlCol="0" anchor="t"/>
          <a:lstStyle/>
          <a:p>
            <a:pPr algn="l" indent="0" marL="0">
              <a:lnSpc>
                <a:spcPct val="88000"/>
              </a:lnSpc>
              <a:buNone/>
            </a:pPr>
            <a:r>
              <a:rPr lang="en-US" sz="1350" dirty="0">
                <a:solidFill>
                  <a:srgbClr val="1A2332"/>
                </a:solidFill>
                <a:latin typeface="Calibri" pitchFamily="34" charset="0"/>
                <a:ea typeface="Calibri" pitchFamily="34" charset="-122"/>
                <a:cs typeface="Calibri" pitchFamily="34" charset="-120"/>
              </a:rPr>
              <a:t>Section 501 establishes the explicit statutory dependency of this Act on both the FRDI Act and the HRCR Act: the defense posture provisions of Title I presuppose the existence of the domestic commons infrastructure established under the FRDI Act; the automation governance provisions of Title IV presuppose the commons credit system and governance architecture of the FRDI Act; and the analytics commons of Title III presupposes the IP Commons and Data Commons of the FRDI Act.</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A2332"/>
                </a:solidFill>
                <a:latin typeface="Calibri" pitchFamily="34" charset="0"/>
                <a:ea typeface="Calibri" pitchFamily="34" charset="-122"/>
                <a:cs typeface="Calibri" pitchFamily="34" charset="-120"/>
              </a:rPr>
              <a:t>The dependency declaration also explicitly anticipates the ISRN Act: Section 501(c) notes that the defense posture reorientation established by this Act creates the strategic conditions for the NATO alliance governance provisions of the fourth Act in the sequence.</a:t>
            </a:r>
            <a:endParaRPr lang="en-US" sz="1350" dirty="0"/>
          </a:p>
        </p:txBody>
      </p:sp>
      <p:sp>
        <p:nvSpPr>
          <p:cNvPr id="8" name="Text 6"/>
          <p:cNvSpPr/>
          <p:nvPr/>
        </p:nvSpPr>
        <p:spPr>
          <a:xfrm>
            <a:off x="457200" y="4507992"/>
            <a:ext cx="8229600" cy="384048"/>
          </a:xfrm>
          <a:prstGeom prst="rect">
            <a:avLst/>
          </a:prstGeom>
          <a:noFill/>
          <a:ln/>
        </p:spPr>
        <p:txBody>
          <a:bodyPr wrap="square" rtlCol="0" anchor="ctr"/>
          <a:lstStyle/>
          <a:p>
            <a:pPr indent="0" marL="0">
              <a:buNone/>
            </a:pPr>
            <a:r>
              <a:rPr lang="en-US" sz="1000" dirty="0">
                <a:solidFill>
                  <a:srgbClr val="2C4A6E"/>
                </a:solidFill>
                <a:latin typeface="Courier New" pitchFamily="34" charset="0"/>
                <a:ea typeface="Courier New" pitchFamily="34" charset="-122"/>
                <a:cs typeface="Courier New" pitchFamily="34" charset="-120"/>
              </a:rPr>
              <a:t>Title V § 501</a:t>
            </a:r>
            <a:endParaRPr lang="en-US" sz="10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457200" y="347472"/>
            <a:ext cx="1188720" cy="347472"/>
          </a:xfrm>
          <a:prstGeom prst="roundRect">
            <a:avLst>
              <a:gd name="adj" fmla="val 13158"/>
            </a:avLst>
          </a:prstGeom>
          <a:solidFill>
            <a:srgbClr val="1E3A5F"/>
          </a:solidFill>
          <a:ln/>
        </p:spPr>
      </p:sp>
      <p:sp>
        <p:nvSpPr>
          <p:cNvPr id="3" name="Text 1"/>
          <p:cNvSpPr/>
          <p:nvPr/>
        </p:nvSpPr>
        <p:spPr>
          <a:xfrm>
            <a:off x="457200" y="347472"/>
            <a:ext cx="118872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Finding 21</a:t>
            </a:r>
            <a:endParaRPr lang="en-US" sz="1000" dirty="0"/>
          </a:p>
        </p:txBody>
      </p:sp>
      <p:sp>
        <p:nvSpPr>
          <p:cNvPr id="4" name="Text 2"/>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0D1A2E"/>
                </a:solidFill>
                <a:latin typeface="Cambria" pitchFamily="34" charset="0"/>
                <a:ea typeface="Cambria" pitchFamily="34" charset="-122"/>
                <a:cs typeface="Cambria" pitchFamily="34" charset="-120"/>
              </a:rPr>
              <a:t>The Defense Posture Reorientation Is Made Coherent by the FRDI Infrastructure</a:t>
            </a:r>
            <a:endParaRPr lang="en-US" sz="2200" dirty="0"/>
          </a:p>
        </p:txBody>
      </p:sp>
      <p:sp>
        <p:nvSpPr>
          <p:cNvPr id="5" name="Shape 3"/>
          <p:cNvSpPr/>
          <p:nvPr/>
        </p:nvSpPr>
        <p:spPr>
          <a:xfrm>
            <a:off x="457200" y="1554480"/>
            <a:ext cx="8229600" cy="0"/>
          </a:xfrm>
          <a:prstGeom prst="line">
            <a:avLst/>
          </a:prstGeom>
          <a:noFill/>
          <a:ln w="19050">
            <a:solidFill>
              <a:srgbClr val="4A90D9"/>
            </a:solidFill>
            <a:prstDash val="solid"/>
          </a:ln>
        </p:spPr>
      </p:sp>
      <p:pic>
        <p:nvPicPr>
          <p:cNvPr id="6" name="Image 0" descr="preencoded.png">    </p:cNvPr>
          <p:cNvPicPr>
            <a:picLocks noChangeAspect="1"/>
          </p:cNvPicPr>
          <p:nvPr/>
        </p:nvPicPr>
        <p:blipFill>
          <a:blip r:embed="rId1"/>
          <a:stretch>
            <a:fillRect/>
          </a:stretch>
        </p:blipFill>
        <p:spPr>
          <a:xfrm>
            <a:off x="7863840" y="301752"/>
            <a:ext cx="594360" cy="594360"/>
          </a:xfrm>
          <a:prstGeom prst="rect">
            <a:avLst/>
          </a:prstGeom>
        </p:spPr>
      </p:pic>
      <p:sp>
        <p:nvSpPr>
          <p:cNvPr id="7" name="Text 4"/>
          <p:cNvSpPr/>
          <p:nvPr/>
        </p:nvSpPr>
        <p:spPr>
          <a:xfrm>
            <a:off x="457200" y="1691640"/>
            <a:ext cx="8229600" cy="3218688"/>
          </a:xfrm>
          <a:prstGeom prst="rect">
            <a:avLst/>
          </a:prstGeom>
          <a:noFill/>
          <a:ln/>
        </p:spPr>
        <p:txBody>
          <a:bodyPr wrap="square" rtlCol="0" anchor="t"/>
          <a:lstStyle/>
          <a:p>
            <a:pPr algn="l" indent="0" marL="0">
              <a:lnSpc>
                <a:spcPct val="88000"/>
              </a:lnSpc>
              <a:buNone/>
            </a:pPr>
            <a:r>
              <a:rPr lang="en-US" sz="1350" dirty="0">
                <a:solidFill>
                  <a:srgbClr val="1A2332"/>
                </a:solidFill>
                <a:latin typeface="Calibri" pitchFamily="34" charset="0"/>
                <a:ea typeface="Calibri" pitchFamily="34" charset="-122"/>
                <a:cs typeface="Calibri" pitchFamily="34" charset="-120"/>
              </a:rPr>
              <a:t>The defense posture reorientation established by this Act is made strategically coherent by the domestic commons infrastructure that the Federal Resilience and Decentralization Initiatives Act creates. A nation whose communities possess distributed, locally governed capacity to generate energy, produce food, manufacture essential goods, and coordinate resources through resilient peer-to-peer networks does not require a military posture organized around the protection of centralized corporate supply chains and dollar-denominated commodity markets.</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A2332"/>
                </a:solidFill>
                <a:latin typeface="Calibri" pitchFamily="34" charset="0"/>
                <a:ea typeface="Calibri" pitchFamily="34" charset="-122"/>
                <a:cs typeface="Calibri" pitchFamily="34" charset="-120"/>
              </a:rPr>
              <a:t>The domestic resilience infrastructure is the strategic foundation; this Act builds the security architecture on top of it.</a:t>
            </a:r>
            <a:endParaRPr lang="en-US" sz="13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E2EAF2"/>
        </a:solidFill>
      </p:bgPr>
    </p:bg>
    <p:spTree>
      <p:nvGrpSpPr>
        <p:cNvPr id="1" name=""/>
        <p:cNvGrpSpPr/>
        <p:nvPr/>
      </p:nvGrpSpPr>
      <p:grpSpPr>
        <a:xfrm>
          <a:off x="0" y="0"/>
          <a:ext cx="0" cy="0"/>
          <a:chOff x="0" y="0"/>
          <a:chExt cx="0" cy="0"/>
        </a:xfrm>
      </p:grpSpPr>
      <p:sp>
        <p:nvSpPr>
          <p:cNvPr id="2" name="Shape 0"/>
          <p:cNvSpPr/>
          <p:nvPr/>
        </p:nvSpPr>
        <p:spPr>
          <a:xfrm>
            <a:off x="457200" y="347472"/>
            <a:ext cx="1463040" cy="347472"/>
          </a:xfrm>
          <a:prstGeom prst="roundRect">
            <a:avLst>
              <a:gd name="adj" fmla="val 13158"/>
            </a:avLst>
          </a:prstGeom>
          <a:solidFill>
            <a:srgbClr val="2C4A6E"/>
          </a:solidFill>
          <a:ln/>
        </p:spPr>
      </p:sp>
      <p:sp>
        <p:nvSpPr>
          <p:cNvPr id="3" name="Text 1"/>
          <p:cNvSpPr/>
          <p:nvPr/>
        </p:nvSpPr>
        <p:spPr>
          <a:xfrm>
            <a:off x="457200" y="347472"/>
            <a:ext cx="146304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Mechanism</a:t>
            </a:r>
            <a:endParaRPr lang="en-US" sz="1000" dirty="0"/>
          </a:p>
        </p:txBody>
      </p:sp>
      <p:sp>
        <p:nvSpPr>
          <p:cNvPr id="4" name="Text 2"/>
          <p:cNvSpPr/>
          <p:nvPr/>
        </p:nvSpPr>
        <p:spPr>
          <a:xfrm>
            <a:off x="2011680" y="347472"/>
            <a:ext cx="6492240" cy="347472"/>
          </a:xfrm>
          <a:prstGeom prst="rect">
            <a:avLst/>
          </a:prstGeom>
          <a:noFill/>
          <a:ln/>
        </p:spPr>
        <p:txBody>
          <a:bodyPr wrap="square" rtlCol="0" anchor="ctr"/>
          <a:lstStyle/>
          <a:p>
            <a:pPr indent="0" marL="0">
              <a:buNone/>
            </a:pPr>
            <a:r>
              <a:rPr lang="en-US" sz="1000" dirty="0">
                <a:solidFill>
                  <a:srgbClr val="2C4A6E"/>
                </a:solidFill>
                <a:latin typeface="Calibri" pitchFamily="34" charset="0"/>
                <a:ea typeface="Calibri" pitchFamily="34" charset="-122"/>
                <a:cs typeface="Calibri" pitchFamily="34" charset="-120"/>
              </a:rPr>
              <a:t>Finding 21 → Title I § 101, 102; Title V § 501</a:t>
            </a:r>
            <a:endParaRPr lang="en-US" sz="1000" dirty="0"/>
          </a:p>
        </p:txBody>
      </p:sp>
      <p:sp>
        <p:nvSpPr>
          <p:cNvPr id="5" name="Text 3"/>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0D1A2E"/>
                </a:solidFill>
                <a:latin typeface="Cambria" pitchFamily="34" charset="0"/>
                <a:ea typeface="Cambria" pitchFamily="34" charset="-122"/>
                <a:cs typeface="Cambria" pitchFamily="34" charset="-120"/>
              </a:rPr>
              <a:t>What the Bill Does</a:t>
            </a:r>
            <a:endParaRPr lang="en-US" sz="2200" dirty="0"/>
          </a:p>
        </p:txBody>
      </p:sp>
      <p:sp>
        <p:nvSpPr>
          <p:cNvPr id="6" name="Shape 4"/>
          <p:cNvSpPr/>
          <p:nvPr/>
        </p:nvSpPr>
        <p:spPr>
          <a:xfrm>
            <a:off x="457200" y="1554480"/>
            <a:ext cx="8229600" cy="0"/>
          </a:xfrm>
          <a:prstGeom prst="line">
            <a:avLst/>
          </a:prstGeom>
          <a:noFill/>
          <a:ln w="19050">
            <a:solidFill>
              <a:srgbClr val="2C4A6E"/>
            </a:solidFill>
            <a:prstDash val="solid"/>
          </a:ln>
        </p:spPr>
      </p:sp>
      <p:sp>
        <p:nvSpPr>
          <p:cNvPr id="7" name="Text 5"/>
          <p:cNvSpPr/>
          <p:nvPr/>
        </p:nvSpPr>
        <p:spPr>
          <a:xfrm>
            <a:off x="457200" y="1691640"/>
            <a:ext cx="8229600" cy="2761488"/>
          </a:xfrm>
          <a:prstGeom prst="rect">
            <a:avLst/>
          </a:prstGeom>
          <a:noFill/>
          <a:ln/>
        </p:spPr>
        <p:txBody>
          <a:bodyPr wrap="square" rtlCol="0" anchor="t"/>
          <a:lstStyle/>
          <a:p>
            <a:pPr algn="l" indent="0" marL="0">
              <a:lnSpc>
                <a:spcPct val="88000"/>
              </a:lnSpc>
              <a:buNone/>
            </a:pPr>
            <a:r>
              <a:rPr lang="en-US" sz="1350" dirty="0">
                <a:solidFill>
                  <a:srgbClr val="1A2332"/>
                </a:solidFill>
                <a:latin typeface="Calibri" pitchFamily="34" charset="0"/>
                <a:ea typeface="Calibri" pitchFamily="34" charset="-122"/>
                <a:cs typeface="Calibri" pitchFamily="34" charset="-120"/>
              </a:rPr>
              <a:t>Section 101's Resilience-Based Defense Posture Declaration is explicitly conditioned on the certification of domestic commons infrastructure resilience thresholds by the Office of Federated Stewardship — ensuring that the defense posture reorientation does not proceed faster than the domestic resilience infrastructure matures.</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A2332"/>
                </a:solidFill>
                <a:latin typeface="Calibri" pitchFamily="34" charset="0"/>
                <a:ea typeface="Calibri" pitchFamily="34" charset="-122"/>
                <a:cs typeface="Calibri" pitchFamily="34" charset="-120"/>
              </a:rPr>
              <a:t>Section 102's designation of Commons Infrastructure Protection as a Defense Mission creates the institutional bridge between the defense establishment and the commons network: as the commons infrastructure matures, the defense establishment's resources are progressively reoriented toward protecting it, creating a positive feedback loop between commons maturation and defense posture reorientation.</a:t>
            </a:r>
            <a:endParaRPr lang="en-US" sz="1350" dirty="0"/>
          </a:p>
        </p:txBody>
      </p:sp>
      <p:sp>
        <p:nvSpPr>
          <p:cNvPr id="8" name="Text 6"/>
          <p:cNvSpPr/>
          <p:nvPr/>
        </p:nvSpPr>
        <p:spPr>
          <a:xfrm>
            <a:off x="457200" y="4507992"/>
            <a:ext cx="8229600" cy="384048"/>
          </a:xfrm>
          <a:prstGeom prst="rect">
            <a:avLst/>
          </a:prstGeom>
          <a:noFill/>
          <a:ln/>
        </p:spPr>
        <p:txBody>
          <a:bodyPr wrap="square" rtlCol="0" anchor="ctr"/>
          <a:lstStyle/>
          <a:p>
            <a:pPr indent="0" marL="0">
              <a:buNone/>
            </a:pPr>
            <a:r>
              <a:rPr lang="en-US" sz="1000" dirty="0">
                <a:solidFill>
                  <a:srgbClr val="2C4A6E"/>
                </a:solidFill>
                <a:latin typeface="Courier New" pitchFamily="34" charset="0"/>
                <a:ea typeface="Courier New" pitchFamily="34" charset="-122"/>
                <a:cs typeface="Courier New" pitchFamily="34" charset="-120"/>
              </a:rPr>
              <a:t>Title I § 101 · § 102 · Title V § 501</a:t>
            </a:r>
            <a:endParaRPr lang="en-US" sz="10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457200" y="347472"/>
            <a:ext cx="1188720" cy="347472"/>
          </a:xfrm>
          <a:prstGeom prst="roundRect">
            <a:avLst>
              <a:gd name="adj" fmla="val 13158"/>
            </a:avLst>
          </a:prstGeom>
          <a:solidFill>
            <a:srgbClr val="1E3A5F"/>
          </a:solidFill>
          <a:ln/>
        </p:spPr>
      </p:sp>
      <p:sp>
        <p:nvSpPr>
          <p:cNvPr id="3" name="Text 1"/>
          <p:cNvSpPr/>
          <p:nvPr/>
        </p:nvSpPr>
        <p:spPr>
          <a:xfrm>
            <a:off x="457200" y="347472"/>
            <a:ext cx="118872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Finding 22</a:t>
            </a:r>
            <a:endParaRPr lang="en-US" sz="1000" dirty="0"/>
          </a:p>
        </p:txBody>
      </p:sp>
      <p:sp>
        <p:nvSpPr>
          <p:cNvPr id="4" name="Text 2"/>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0D1A2E"/>
                </a:solidFill>
                <a:latin typeface="Cambria" pitchFamily="34" charset="0"/>
                <a:ea typeface="Cambria" pitchFamily="34" charset="-122"/>
                <a:cs typeface="Cambria" pitchFamily="34" charset="-120"/>
              </a:rPr>
              <a:t>Not New From Scratch: Apache, Linux Foundation, Mozilla</a:t>
            </a:r>
            <a:endParaRPr lang="en-US" sz="2200" dirty="0"/>
          </a:p>
        </p:txBody>
      </p:sp>
      <p:sp>
        <p:nvSpPr>
          <p:cNvPr id="5" name="Shape 3"/>
          <p:cNvSpPr/>
          <p:nvPr/>
        </p:nvSpPr>
        <p:spPr>
          <a:xfrm>
            <a:off x="457200" y="1554480"/>
            <a:ext cx="8229600" cy="0"/>
          </a:xfrm>
          <a:prstGeom prst="line">
            <a:avLst/>
          </a:prstGeom>
          <a:noFill/>
          <a:ln w="19050">
            <a:solidFill>
              <a:srgbClr val="4A90D9"/>
            </a:solidFill>
            <a:prstDash val="solid"/>
          </a:ln>
        </p:spPr>
      </p:sp>
      <p:pic>
        <p:nvPicPr>
          <p:cNvPr id="6" name="Image 0" descr="preencoded.png">    </p:cNvPr>
          <p:cNvPicPr>
            <a:picLocks noChangeAspect="1"/>
          </p:cNvPicPr>
          <p:nvPr/>
        </p:nvPicPr>
        <p:blipFill>
          <a:blip r:embed="rId1"/>
          <a:stretch>
            <a:fillRect/>
          </a:stretch>
        </p:blipFill>
        <p:spPr>
          <a:xfrm>
            <a:off x="7863840" y="301752"/>
            <a:ext cx="594360" cy="594360"/>
          </a:xfrm>
          <a:prstGeom prst="rect">
            <a:avLst/>
          </a:prstGeom>
        </p:spPr>
      </p:pic>
      <p:sp>
        <p:nvSpPr>
          <p:cNvPr id="7" name="Text 4"/>
          <p:cNvSpPr/>
          <p:nvPr/>
        </p:nvSpPr>
        <p:spPr>
          <a:xfrm>
            <a:off x="457200" y="1691640"/>
            <a:ext cx="8229600" cy="3218688"/>
          </a:xfrm>
          <a:prstGeom prst="rect">
            <a:avLst/>
          </a:prstGeom>
          <a:noFill/>
          <a:ln/>
        </p:spPr>
        <p:txBody>
          <a:bodyPr wrap="square" rtlCol="0" anchor="t"/>
          <a:lstStyle/>
          <a:p>
            <a:pPr algn="l" indent="0" marL="0">
              <a:lnSpc>
                <a:spcPct val="88000"/>
              </a:lnSpc>
              <a:buNone/>
            </a:pPr>
            <a:r>
              <a:rPr lang="en-US" sz="1350" dirty="0">
                <a:solidFill>
                  <a:srgbClr val="1A2332"/>
                </a:solidFill>
                <a:latin typeface="Calibri" pitchFamily="34" charset="0"/>
                <a:ea typeface="Calibri" pitchFamily="34" charset="-122"/>
                <a:cs typeface="Calibri" pitchFamily="34" charset="-120"/>
              </a:rPr>
              <a:t>This Act does not create a new defense establishment or a new administrative apparatus for automation governance from theoretical foundations. The defense posture reorientation builds upon the existing capabilities, relationships, and institutional knowledge of the Department of Defense and the intelligence community, redirecting them toward commons-consistent purposes.</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A2332"/>
                </a:solidFill>
                <a:latin typeface="Calibri" pitchFamily="34" charset="0"/>
                <a:ea typeface="Calibri" pitchFamily="34" charset="-122"/>
                <a:cs typeface="Calibri" pitchFamily="34" charset="-120"/>
              </a:rPr>
              <a:t>The open-source commons already governs technical infrastructure of extraordinary scale: the Apache Software Foundation governs more than 350 open-source projects underlying the majority of internet servers worldwide; the Linux Foundation governs the Linux kernel on which the majority of cloud computing infrastructure runs; the Mozilla Foundation has sustained a commons-governed browser for more than two decades. These institutions demonstrate that commons governance of critical technical infrastructure is not theoretical — it is operational.</a:t>
            </a:r>
            <a:endParaRPr lang="en-US" sz="13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E2EAF2"/>
        </a:solidFill>
      </p:bgPr>
    </p:bg>
    <p:spTree>
      <p:nvGrpSpPr>
        <p:cNvPr id="1" name=""/>
        <p:cNvGrpSpPr/>
        <p:nvPr/>
      </p:nvGrpSpPr>
      <p:grpSpPr>
        <a:xfrm>
          <a:off x="0" y="0"/>
          <a:ext cx="0" cy="0"/>
          <a:chOff x="0" y="0"/>
          <a:chExt cx="0" cy="0"/>
        </a:xfrm>
      </p:grpSpPr>
      <p:sp>
        <p:nvSpPr>
          <p:cNvPr id="2" name="Shape 0"/>
          <p:cNvSpPr/>
          <p:nvPr/>
        </p:nvSpPr>
        <p:spPr>
          <a:xfrm>
            <a:off x="457200" y="347472"/>
            <a:ext cx="1463040" cy="347472"/>
          </a:xfrm>
          <a:prstGeom prst="roundRect">
            <a:avLst>
              <a:gd name="adj" fmla="val 13158"/>
            </a:avLst>
          </a:prstGeom>
          <a:solidFill>
            <a:srgbClr val="2C4A6E"/>
          </a:solidFill>
          <a:ln/>
        </p:spPr>
      </p:sp>
      <p:sp>
        <p:nvSpPr>
          <p:cNvPr id="3" name="Text 1"/>
          <p:cNvSpPr/>
          <p:nvPr/>
        </p:nvSpPr>
        <p:spPr>
          <a:xfrm>
            <a:off x="457200" y="347472"/>
            <a:ext cx="146304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Mechanism</a:t>
            </a:r>
            <a:endParaRPr lang="en-US" sz="1000" dirty="0"/>
          </a:p>
        </p:txBody>
      </p:sp>
      <p:sp>
        <p:nvSpPr>
          <p:cNvPr id="4" name="Text 2"/>
          <p:cNvSpPr/>
          <p:nvPr/>
        </p:nvSpPr>
        <p:spPr>
          <a:xfrm>
            <a:off x="2011680" y="347472"/>
            <a:ext cx="6492240" cy="347472"/>
          </a:xfrm>
          <a:prstGeom prst="rect">
            <a:avLst/>
          </a:prstGeom>
          <a:noFill/>
          <a:ln/>
        </p:spPr>
        <p:txBody>
          <a:bodyPr wrap="square" rtlCol="0" anchor="ctr"/>
          <a:lstStyle/>
          <a:p>
            <a:pPr indent="0" marL="0">
              <a:buNone/>
            </a:pPr>
            <a:r>
              <a:rPr lang="en-US" sz="1000" dirty="0">
                <a:solidFill>
                  <a:srgbClr val="2C4A6E"/>
                </a:solidFill>
                <a:latin typeface="Calibri" pitchFamily="34" charset="0"/>
                <a:ea typeface="Calibri" pitchFamily="34" charset="-122"/>
                <a:cs typeface="Calibri" pitchFamily="34" charset="-120"/>
              </a:rPr>
              <a:t>Finding 22 → Title III § 303, Title IV § 403</a:t>
            </a:r>
            <a:endParaRPr lang="en-US" sz="1000" dirty="0"/>
          </a:p>
        </p:txBody>
      </p:sp>
      <p:sp>
        <p:nvSpPr>
          <p:cNvPr id="5" name="Text 3"/>
          <p:cNvSpPr/>
          <p:nvPr/>
        </p:nvSpPr>
        <p:spPr>
          <a:xfrm>
            <a:off x="457200" y="804672"/>
            <a:ext cx="8046720" cy="713232"/>
          </a:xfrm>
          <a:prstGeom prst="rect">
            <a:avLst/>
          </a:prstGeom>
          <a:noFill/>
          <a:ln/>
        </p:spPr>
        <p:txBody>
          <a:bodyPr wrap="square" rtlCol="0" anchor="ctr"/>
          <a:lstStyle/>
          <a:p>
            <a:pPr indent="0" marL="0">
              <a:buNone/>
            </a:pPr>
            <a:r>
              <a:rPr lang="en-US" sz="2200" b="1" dirty="0">
                <a:solidFill>
                  <a:srgbClr val="0D1A2E"/>
                </a:solidFill>
                <a:latin typeface="Cambria" pitchFamily="34" charset="0"/>
                <a:ea typeface="Cambria" pitchFamily="34" charset="-122"/>
                <a:cs typeface="Cambria" pitchFamily="34" charset="-120"/>
              </a:rPr>
              <a:t>What the Bill Does</a:t>
            </a:r>
            <a:endParaRPr lang="en-US" sz="2200" dirty="0"/>
          </a:p>
        </p:txBody>
      </p:sp>
      <p:sp>
        <p:nvSpPr>
          <p:cNvPr id="6" name="Shape 4"/>
          <p:cNvSpPr/>
          <p:nvPr/>
        </p:nvSpPr>
        <p:spPr>
          <a:xfrm>
            <a:off x="457200" y="1554480"/>
            <a:ext cx="8229600" cy="0"/>
          </a:xfrm>
          <a:prstGeom prst="line">
            <a:avLst/>
          </a:prstGeom>
          <a:noFill/>
          <a:ln w="19050">
            <a:solidFill>
              <a:srgbClr val="2C4A6E"/>
            </a:solidFill>
            <a:prstDash val="solid"/>
          </a:ln>
        </p:spPr>
      </p:sp>
      <p:sp>
        <p:nvSpPr>
          <p:cNvPr id="7" name="Text 5"/>
          <p:cNvSpPr/>
          <p:nvPr/>
        </p:nvSpPr>
        <p:spPr>
          <a:xfrm>
            <a:off x="457200" y="1691640"/>
            <a:ext cx="8229600" cy="2761488"/>
          </a:xfrm>
          <a:prstGeom prst="rect">
            <a:avLst/>
          </a:prstGeom>
          <a:noFill/>
          <a:ln/>
        </p:spPr>
        <p:txBody>
          <a:bodyPr wrap="square" rtlCol="0" anchor="t"/>
          <a:lstStyle/>
          <a:p>
            <a:pPr algn="l" indent="0" marL="0">
              <a:lnSpc>
                <a:spcPct val="88000"/>
              </a:lnSpc>
              <a:buNone/>
            </a:pPr>
            <a:r>
              <a:rPr lang="en-US" sz="1350" dirty="0">
                <a:solidFill>
                  <a:srgbClr val="1A2332"/>
                </a:solidFill>
                <a:latin typeface="Calibri" pitchFamily="34" charset="0"/>
                <a:ea typeface="Calibri" pitchFamily="34" charset="-122"/>
                <a:cs typeface="Calibri" pitchFamily="34" charset="-120"/>
              </a:rPr>
              <a:t>Section 303 establishes the Open-Source Analytics Development Program: a federally funded program that provides grants, technical assistance, and commons infrastructure to existing open-source analytics communities — including the institutions named in Finding 22 — to extend their governance models and technical capabilities to the commons analytics use cases established by this Act.</a:t>
            </a:r>
            <a:endParaRPr lang="en-US" sz="1350" dirty="0"/>
          </a:p>
          <a:p>
            <a:pPr algn="l" indent="0" marL="0">
              <a:lnSpc>
                <a:spcPct val="88000"/>
              </a:lnSpc>
              <a:buNone/>
            </a:pPr>
            <a:endParaRPr lang="en-US" sz="1350" dirty="0"/>
          </a:p>
          <a:p>
            <a:pPr algn="l" indent="0" marL="0">
              <a:lnSpc>
                <a:spcPct val="88000"/>
              </a:lnSpc>
              <a:buNone/>
            </a:pPr>
            <a:r>
              <a:rPr lang="en-US" sz="1350" dirty="0">
                <a:solidFill>
                  <a:srgbClr val="1A2332"/>
                </a:solidFill>
                <a:latin typeface="Calibri" pitchFamily="34" charset="0"/>
                <a:ea typeface="Calibri" pitchFamily="34" charset="-122"/>
                <a:cs typeface="Calibri" pitchFamily="34" charset="-120"/>
              </a:rPr>
              <a:t>Section 403's Open-Source Automation Mandate is designed to be implemented through the existing open-source governance infrastructure: the copyleft licenses, governance frameworks, and security audit practices developed by the Apache Foundation, the Linux Foundation, and the open-source security community over decades of production operation at global scale.</a:t>
            </a:r>
            <a:endParaRPr lang="en-US" sz="1350" dirty="0"/>
          </a:p>
        </p:txBody>
      </p:sp>
      <p:sp>
        <p:nvSpPr>
          <p:cNvPr id="8" name="Text 6"/>
          <p:cNvSpPr/>
          <p:nvPr/>
        </p:nvSpPr>
        <p:spPr>
          <a:xfrm>
            <a:off x="457200" y="4507992"/>
            <a:ext cx="8229600" cy="384048"/>
          </a:xfrm>
          <a:prstGeom prst="rect">
            <a:avLst/>
          </a:prstGeom>
          <a:noFill/>
          <a:ln/>
        </p:spPr>
        <p:txBody>
          <a:bodyPr wrap="square" rtlCol="0" anchor="ctr"/>
          <a:lstStyle/>
          <a:p>
            <a:pPr indent="0" marL="0">
              <a:buNone/>
            </a:pPr>
            <a:r>
              <a:rPr lang="en-US" sz="1000" dirty="0">
                <a:solidFill>
                  <a:srgbClr val="2C4A6E"/>
                </a:solidFill>
                <a:latin typeface="Courier New" pitchFamily="34" charset="0"/>
                <a:ea typeface="Courier New" pitchFamily="34" charset="-122"/>
                <a:cs typeface="Courier New" pitchFamily="34" charset="-120"/>
              </a:rPr>
              <a:t>Title III § 303 · Title IV § 403</a:t>
            </a:r>
            <a:endParaRPr lang="en-US" sz="10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 cy="1047902"/>
          </a:xfrm>
          <a:prstGeom prst="rect">
            <a:avLst/>
          </a:prstGeom>
          <a:solidFill>
            <a:srgbClr val="2C5F2D"/>
          </a:solidFill>
          <a:ln w="12700">
            <a:solidFill>
              <a:srgbClr val="2C5F2D"/>
            </a:solidFill>
            <a:prstDash val="solid"/>
          </a:ln>
        </p:spPr>
      </p:sp>
      <p:sp>
        <p:nvSpPr>
          <p:cNvPr id="3" name="Shape 1"/>
          <p:cNvSpPr/>
          <p:nvPr/>
        </p:nvSpPr>
        <p:spPr>
          <a:xfrm>
            <a:off x="0" y="1029614"/>
            <a:ext cx="91440" cy="1047902"/>
          </a:xfrm>
          <a:prstGeom prst="rect">
            <a:avLst/>
          </a:prstGeom>
          <a:solidFill>
            <a:srgbClr val="97BC62"/>
          </a:solidFill>
          <a:ln w="12700">
            <a:solidFill>
              <a:srgbClr val="97BC62"/>
            </a:solidFill>
            <a:prstDash val="solid"/>
          </a:ln>
        </p:spPr>
      </p:sp>
      <p:sp>
        <p:nvSpPr>
          <p:cNvPr id="4" name="Shape 2"/>
          <p:cNvSpPr/>
          <p:nvPr/>
        </p:nvSpPr>
        <p:spPr>
          <a:xfrm>
            <a:off x="0" y="2059229"/>
            <a:ext cx="91440" cy="1047902"/>
          </a:xfrm>
          <a:prstGeom prst="rect">
            <a:avLst/>
          </a:prstGeom>
          <a:solidFill>
            <a:srgbClr val="E07A5F"/>
          </a:solidFill>
          <a:ln w="12700">
            <a:solidFill>
              <a:srgbClr val="E07A5F"/>
            </a:solidFill>
            <a:prstDash val="solid"/>
          </a:ln>
        </p:spPr>
      </p:sp>
      <p:sp>
        <p:nvSpPr>
          <p:cNvPr id="5" name="Shape 3"/>
          <p:cNvSpPr/>
          <p:nvPr/>
        </p:nvSpPr>
        <p:spPr>
          <a:xfrm>
            <a:off x="0" y="3088843"/>
            <a:ext cx="91440" cy="1047902"/>
          </a:xfrm>
          <a:prstGeom prst="rect">
            <a:avLst/>
          </a:prstGeom>
          <a:solidFill>
            <a:srgbClr val="4A90D9"/>
          </a:solidFill>
          <a:ln w="12700">
            <a:solidFill>
              <a:srgbClr val="4A90D9"/>
            </a:solidFill>
            <a:prstDash val="solid"/>
          </a:ln>
        </p:spPr>
      </p:sp>
      <p:sp>
        <p:nvSpPr>
          <p:cNvPr id="6" name="Shape 4"/>
          <p:cNvSpPr/>
          <p:nvPr/>
        </p:nvSpPr>
        <p:spPr>
          <a:xfrm>
            <a:off x="0" y="4118458"/>
            <a:ext cx="91440" cy="1047902"/>
          </a:xfrm>
          <a:prstGeom prst="rect">
            <a:avLst/>
          </a:prstGeom>
          <a:solidFill>
            <a:srgbClr val="C9A84C"/>
          </a:solidFill>
          <a:ln w="12700">
            <a:solidFill>
              <a:srgbClr val="C9A84C"/>
            </a:solidFill>
            <a:prstDash val="solid"/>
          </a:ln>
        </p:spPr>
      </p:sp>
      <p:sp>
        <p:nvSpPr>
          <p:cNvPr id="7" name="Shape 5"/>
          <p:cNvSpPr/>
          <p:nvPr/>
        </p:nvSpPr>
        <p:spPr>
          <a:xfrm>
            <a:off x="411480" y="256032"/>
            <a:ext cx="8321040" cy="420624"/>
          </a:xfrm>
          <a:prstGeom prst="roundRect">
            <a:avLst>
              <a:gd name="adj" fmla="val 10870"/>
            </a:avLst>
          </a:prstGeom>
          <a:solidFill>
            <a:srgbClr val="1B2A4A"/>
          </a:solidFill>
          <a:ln/>
        </p:spPr>
      </p:sp>
      <p:sp>
        <p:nvSpPr>
          <p:cNvPr id="8" name="Text 6"/>
          <p:cNvSpPr/>
          <p:nvPr/>
        </p:nvSpPr>
        <p:spPr>
          <a:xfrm>
            <a:off x="411480" y="256032"/>
            <a:ext cx="8321040"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Resources</a:t>
            </a:r>
            <a:endParaRPr lang="en-US" sz="1500" dirty="0"/>
          </a:p>
        </p:txBody>
      </p:sp>
      <p:sp>
        <p:nvSpPr>
          <p:cNvPr id="9" name="Text 7"/>
          <p:cNvSpPr/>
          <p:nvPr/>
        </p:nvSpPr>
        <p:spPr>
          <a:xfrm>
            <a:off x="411480" y="804672"/>
            <a:ext cx="8321040" cy="235915"/>
          </a:xfrm>
          <a:prstGeom prst="rect">
            <a:avLst/>
          </a:prstGeom>
          <a:noFill/>
          <a:ln/>
        </p:spPr>
        <p:txBody>
          <a:bodyPr wrap="square" rtlCol="0" anchor="ctr"/>
          <a:lstStyle/>
          <a:p>
            <a:pPr indent="0" marL="0">
              <a:buNone/>
            </a:pPr>
            <a:r>
              <a:rPr lang="en-US" sz="1050" dirty="0">
                <a:solidFill>
                  <a:srgbClr val="1A2332"/>
                </a:solidFill>
                <a:latin typeface="Calibri" pitchFamily="34" charset="0"/>
                <a:ea typeface="Calibri" pitchFamily="34" charset="-122"/>
                <a:cs typeface="Calibri" pitchFamily="34" charset="-120"/>
              </a:rPr>
              <a:t>Apache Software Foundation (350+ open-source projects)  </a:t>
            </a:r>
            <a:pPr indent="0" marL="0">
              <a:buNone/>
            </a:pPr>
            <a:r>
              <a:rPr lang="en-US" sz="950" dirty="0">
                <a:solidFill>
                  <a:srgbClr val="2C5282"/>
                </a:solidFill>
                <a:latin typeface="Courier New" pitchFamily="34" charset="0"/>
                <a:ea typeface="Courier New" pitchFamily="34" charset="-122"/>
                <a:cs typeface="Courier New" pitchFamily="34" charset="-120"/>
              </a:rPr>
              <a:t>apache.org</a:t>
            </a:r>
            <a:endParaRPr lang="en-US" sz="1050" dirty="0"/>
          </a:p>
        </p:txBody>
      </p:sp>
      <p:sp>
        <p:nvSpPr>
          <p:cNvPr id="10" name="Text 8"/>
          <p:cNvSpPr/>
          <p:nvPr/>
        </p:nvSpPr>
        <p:spPr>
          <a:xfrm>
            <a:off x="411480" y="1049731"/>
            <a:ext cx="8321040" cy="235915"/>
          </a:xfrm>
          <a:prstGeom prst="rect">
            <a:avLst/>
          </a:prstGeom>
          <a:noFill/>
          <a:ln/>
        </p:spPr>
        <p:txBody>
          <a:bodyPr wrap="square" rtlCol="0" anchor="ctr"/>
          <a:lstStyle/>
          <a:p>
            <a:pPr indent="0" marL="0">
              <a:buNone/>
            </a:pPr>
            <a:r>
              <a:rPr lang="en-US" sz="1050" dirty="0">
                <a:solidFill>
                  <a:srgbClr val="1A2332"/>
                </a:solidFill>
                <a:latin typeface="Calibri" pitchFamily="34" charset="0"/>
                <a:ea typeface="Calibri" pitchFamily="34" charset="-122"/>
                <a:cs typeface="Calibri" pitchFamily="34" charset="-120"/>
              </a:rPr>
              <a:t>Linux Foundation (Linux kernel and cloud computing commons)  </a:t>
            </a:r>
            <a:pPr indent="0" marL="0">
              <a:buNone/>
            </a:pPr>
            <a:r>
              <a:rPr lang="en-US" sz="950" dirty="0">
                <a:solidFill>
                  <a:srgbClr val="2C5282"/>
                </a:solidFill>
                <a:latin typeface="Courier New" pitchFamily="34" charset="0"/>
                <a:ea typeface="Courier New" pitchFamily="34" charset="-122"/>
                <a:cs typeface="Courier New" pitchFamily="34" charset="-120"/>
              </a:rPr>
              <a:t>linuxfoundation.org</a:t>
            </a:r>
            <a:endParaRPr lang="en-US" sz="1050" dirty="0"/>
          </a:p>
        </p:txBody>
      </p:sp>
      <p:sp>
        <p:nvSpPr>
          <p:cNvPr id="11" name="Text 9"/>
          <p:cNvSpPr/>
          <p:nvPr/>
        </p:nvSpPr>
        <p:spPr>
          <a:xfrm>
            <a:off x="411480" y="1294790"/>
            <a:ext cx="8321040" cy="235915"/>
          </a:xfrm>
          <a:prstGeom prst="rect">
            <a:avLst/>
          </a:prstGeom>
          <a:noFill/>
          <a:ln/>
        </p:spPr>
        <p:txBody>
          <a:bodyPr wrap="square" rtlCol="0" anchor="ctr"/>
          <a:lstStyle/>
          <a:p>
            <a:pPr indent="0" marL="0">
              <a:buNone/>
            </a:pPr>
            <a:r>
              <a:rPr lang="en-US" sz="1050" dirty="0">
                <a:solidFill>
                  <a:srgbClr val="1A2332"/>
                </a:solidFill>
                <a:latin typeface="Calibri" pitchFamily="34" charset="0"/>
                <a:ea typeface="Calibri" pitchFamily="34" charset="-122"/>
                <a:cs typeface="Calibri" pitchFamily="34" charset="-120"/>
              </a:rPr>
              <a:t>Mozilla Foundation (commons-governed browser and web standards)  </a:t>
            </a:r>
            <a:pPr indent="0" marL="0">
              <a:buNone/>
            </a:pPr>
            <a:r>
              <a:rPr lang="en-US" sz="950" dirty="0">
                <a:solidFill>
                  <a:srgbClr val="2C5282"/>
                </a:solidFill>
                <a:latin typeface="Courier New" pitchFamily="34" charset="0"/>
                <a:ea typeface="Courier New" pitchFamily="34" charset="-122"/>
                <a:cs typeface="Courier New" pitchFamily="34" charset="-120"/>
              </a:rPr>
              <a:t>mozilla.org</a:t>
            </a:r>
            <a:endParaRPr lang="en-US" sz="1050" dirty="0"/>
          </a:p>
        </p:txBody>
      </p:sp>
      <p:sp>
        <p:nvSpPr>
          <p:cNvPr id="12" name="Text 10"/>
          <p:cNvSpPr/>
          <p:nvPr/>
        </p:nvSpPr>
        <p:spPr>
          <a:xfrm>
            <a:off x="411480" y="1539850"/>
            <a:ext cx="8321040" cy="235915"/>
          </a:xfrm>
          <a:prstGeom prst="rect">
            <a:avLst/>
          </a:prstGeom>
          <a:noFill/>
          <a:ln/>
        </p:spPr>
        <p:txBody>
          <a:bodyPr wrap="square" rtlCol="0" anchor="ctr"/>
          <a:lstStyle/>
          <a:p>
            <a:pPr indent="0" marL="0">
              <a:buNone/>
            </a:pPr>
            <a:r>
              <a:rPr lang="en-US" sz="1050" dirty="0">
                <a:solidFill>
                  <a:srgbClr val="1A2332"/>
                </a:solidFill>
                <a:latin typeface="Calibri" pitchFamily="34" charset="0"/>
                <a:ea typeface="Calibri" pitchFamily="34" charset="-122"/>
                <a:cs typeface="Calibri" pitchFamily="34" charset="-120"/>
              </a:rPr>
              <a:t>Electronic Frontier Foundation (surveillance, privacy, digital rights)  </a:t>
            </a:r>
            <a:pPr indent="0" marL="0">
              <a:buNone/>
            </a:pPr>
            <a:r>
              <a:rPr lang="en-US" sz="950" dirty="0">
                <a:solidFill>
                  <a:srgbClr val="2C5282"/>
                </a:solidFill>
                <a:latin typeface="Courier New" pitchFamily="34" charset="0"/>
                <a:ea typeface="Courier New" pitchFamily="34" charset="-122"/>
                <a:cs typeface="Courier New" pitchFamily="34" charset="-120"/>
              </a:rPr>
              <a:t>eff.org</a:t>
            </a:r>
            <a:endParaRPr lang="en-US" sz="1050" dirty="0"/>
          </a:p>
        </p:txBody>
      </p:sp>
      <p:sp>
        <p:nvSpPr>
          <p:cNvPr id="13" name="Text 11"/>
          <p:cNvSpPr/>
          <p:nvPr/>
        </p:nvSpPr>
        <p:spPr>
          <a:xfrm>
            <a:off x="411480" y="1784909"/>
            <a:ext cx="8321040" cy="235915"/>
          </a:xfrm>
          <a:prstGeom prst="rect">
            <a:avLst/>
          </a:prstGeom>
          <a:noFill/>
          <a:ln/>
        </p:spPr>
        <p:txBody>
          <a:bodyPr wrap="square" rtlCol="0" anchor="ctr"/>
          <a:lstStyle/>
          <a:p>
            <a:pPr indent="0" marL="0">
              <a:buNone/>
            </a:pPr>
            <a:r>
              <a:rPr lang="en-US" sz="1050" dirty="0">
                <a:solidFill>
                  <a:srgbClr val="1A2332"/>
                </a:solidFill>
                <a:latin typeface="Calibri" pitchFamily="34" charset="0"/>
                <a:ea typeface="Calibri" pitchFamily="34" charset="-122"/>
                <a:cs typeface="Calibri" pitchFamily="34" charset="-120"/>
              </a:rPr>
              <a:t>OpenSSF (Open Source Security Foundation)  </a:t>
            </a:r>
            <a:pPr indent="0" marL="0">
              <a:buNone/>
            </a:pPr>
            <a:r>
              <a:rPr lang="en-US" sz="950" dirty="0">
                <a:solidFill>
                  <a:srgbClr val="2C5282"/>
                </a:solidFill>
                <a:latin typeface="Courier New" pitchFamily="34" charset="0"/>
                <a:ea typeface="Courier New" pitchFamily="34" charset="-122"/>
                <a:cs typeface="Courier New" pitchFamily="34" charset="-120"/>
              </a:rPr>
              <a:t>openssf.org</a:t>
            </a:r>
            <a:endParaRPr lang="en-US" sz="1050" dirty="0"/>
          </a:p>
        </p:txBody>
      </p:sp>
      <p:sp>
        <p:nvSpPr>
          <p:cNvPr id="14" name="Text 12"/>
          <p:cNvSpPr/>
          <p:nvPr/>
        </p:nvSpPr>
        <p:spPr>
          <a:xfrm>
            <a:off x="411480" y="2029968"/>
            <a:ext cx="8321040" cy="235915"/>
          </a:xfrm>
          <a:prstGeom prst="rect">
            <a:avLst/>
          </a:prstGeom>
          <a:noFill/>
          <a:ln/>
        </p:spPr>
        <p:txBody>
          <a:bodyPr wrap="square" rtlCol="0" anchor="ctr"/>
          <a:lstStyle/>
          <a:p>
            <a:pPr indent="0" marL="0">
              <a:buNone/>
            </a:pPr>
            <a:r>
              <a:rPr lang="en-US" sz="1050" dirty="0">
                <a:solidFill>
                  <a:srgbClr val="1A2332"/>
                </a:solidFill>
                <a:latin typeface="Calibri" pitchFamily="34" charset="0"/>
                <a:ea typeface="Calibri" pitchFamily="34" charset="-122"/>
                <a:cs typeface="Calibri" pitchFamily="34" charset="-120"/>
              </a:rPr>
              <a:t>Software Freedom Conservancy (copyleft enforcement and governance)  </a:t>
            </a:r>
            <a:pPr indent="0" marL="0">
              <a:buNone/>
            </a:pPr>
            <a:r>
              <a:rPr lang="en-US" sz="950" dirty="0">
                <a:solidFill>
                  <a:srgbClr val="2C5282"/>
                </a:solidFill>
                <a:latin typeface="Courier New" pitchFamily="34" charset="0"/>
                <a:ea typeface="Courier New" pitchFamily="34" charset="-122"/>
                <a:cs typeface="Courier New" pitchFamily="34" charset="-120"/>
              </a:rPr>
              <a:t>sfconservancy.org</a:t>
            </a:r>
            <a:endParaRPr lang="en-US" sz="1050" dirty="0"/>
          </a:p>
        </p:txBody>
      </p:sp>
      <p:sp>
        <p:nvSpPr>
          <p:cNvPr id="15" name="Text 13"/>
          <p:cNvSpPr/>
          <p:nvPr/>
        </p:nvSpPr>
        <p:spPr>
          <a:xfrm>
            <a:off x="411480" y="2275027"/>
            <a:ext cx="8321040" cy="235915"/>
          </a:xfrm>
          <a:prstGeom prst="rect">
            <a:avLst/>
          </a:prstGeom>
          <a:noFill/>
          <a:ln/>
        </p:spPr>
        <p:txBody>
          <a:bodyPr wrap="square" rtlCol="0" anchor="ctr"/>
          <a:lstStyle/>
          <a:p>
            <a:pPr indent="0" marL="0">
              <a:buNone/>
            </a:pPr>
            <a:r>
              <a:rPr lang="en-US" sz="1050" dirty="0">
                <a:solidFill>
                  <a:srgbClr val="1A2332"/>
                </a:solidFill>
                <a:latin typeface="Calibri" pitchFamily="34" charset="0"/>
                <a:ea typeface="Calibri" pitchFamily="34" charset="-122"/>
                <a:cs typeface="Calibri" pitchFamily="34" charset="-120"/>
              </a:rPr>
              <a:t>Ostrom Workshop, Indiana University (governance design principles)  </a:t>
            </a:r>
            <a:pPr indent="0" marL="0">
              <a:buNone/>
            </a:pPr>
            <a:r>
              <a:rPr lang="en-US" sz="950" dirty="0">
                <a:solidFill>
                  <a:srgbClr val="2C5282"/>
                </a:solidFill>
                <a:latin typeface="Courier New" pitchFamily="34" charset="0"/>
                <a:ea typeface="Courier New" pitchFamily="34" charset="-122"/>
                <a:cs typeface="Courier New" pitchFamily="34" charset="-120"/>
              </a:rPr>
              <a:t>ostromworkshop.indiana.edu</a:t>
            </a:r>
            <a:endParaRPr lang="en-US" sz="1050" dirty="0"/>
          </a:p>
        </p:txBody>
      </p:sp>
      <p:sp>
        <p:nvSpPr>
          <p:cNvPr id="16" name="Text 14"/>
          <p:cNvSpPr/>
          <p:nvPr/>
        </p:nvSpPr>
        <p:spPr>
          <a:xfrm>
            <a:off x="411480" y="2520086"/>
            <a:ext cx="8321040" cy="235915"/>
          </a:xfrm>
          <a:prstGeom prst="rect">
            <a:avLst/>
          </a:prstGeom>
          <a:noFill/>
          <a:ln/>
        </p:spPr>
        <p:txBody>
          <a:bodyPr wrap="square" rtlCol="0" anchor="ctr"/>
          <a:lstStyle/>
          <a:p>
            <a:pPr indent="0" marL="0">
              <a:buNone/>
            </a:pPr>
            <a:r>
              <a:rPr lang="en-US" sz="1050" dirty="0">
                <a:solidFill>
                  <a:srgbClr val="1A2332"/>
                </a:solidFill>
                <a:latin typeface="Calibri" pitchFamily="34" charset="0"/>
                <a:ea typeface="Calibri" pitchFamily="34" charset="-122"/>
                <a:cs typeface="Calibri" pitchFamily="34" charset="-120"/>
              </a:rPr>
              <a:t>AI Now Institute (algorithmic bias research)  </a:t>
            </a:r>
            <a:pPr indent="0" marL="0">
              <a:buNone/>
            </a:pPr>
            <a:r>
              <a:rPr lang="en-US" sz="950" dirty="0">
                <a:solidFill>
                  <a:srgbClr val="2C5282"/>
                </a:solidFill>
                <a:latin typeface="Courier New" pitchFamily="34" charset="0"/>
                <a:ea typeface="Courier New" pitchFamily="34" charset="-122"/>
                <a:cs typeface="Courier New" pitchFamily="34" charset="-120"/>
              </a:rPr>
              <a:t>ainowinstitute.org</a:t>
            </a:r>
            <a:endParaRPr lang="en-US" sz="1050" dirty="0"/>
          </a:p>
        </p:txBody>
      </p:sp>
      <p:sp>
        <p:nvSpPr>
          <p:cNvPr id="17" name="Text 15"/>
          <p:cNvSpPr/>
          <p:nvPr/>
        </p:nvSpPr>
        <p:spPr>
          <a:xfrm>
            <a:off x="411480" y="2765146"/>
            <a:ext cx="8321040" cy="235915"/>
          </a:xfrm>
          <a:prstGeom prst="rect">
            <a:avLst/>
          </a:prstGeom>
          <a:noFill/>
          <a:ln/>
        </p:spPr>
        <p:txBody>
          <a:bodyPr wrap="square" rtlCol="0" anchor="ctr"/>
          <a:lstStyle/>
          <a:p>
            <a:pPr indent="0" marL="0">
              <a:buNone/>
            </a:pPr>
            <a:r>
              <a:rPr lang="en-US" sz="1050" dirty="0">
                <a:solidFill>
                  <a:srgbClr val="1A2332"/>
                </a:solidFill>
                <a:latin typeface="Calibri" pitchFamily="34" charset="0"/>
                <a:ea typeface="Calibri" pitchFamily="34" charset="-122"/>
                <a:cs typeface="Calibri" pitchFamily="34" charset="-120"/>
              </a:rPr>
              <a:t>Algorithmic Justice League (bias documentation and advocacy)  </a:t>
            </a:r>
            <a:pPr indent="0" marL="0">
              <a:buNone/>
            </a:pPr>
            <a:r>
              <a:rPr lang="en-US" sz="950" dirty="0">
                <a:solidFill>
                  <a:srgbClr val="2C5282"/>
                </a:solidFill>
                <a:latin typeface="Courier New" pitchFamily="34" charset="0"/>
                <a:ea typeface="Courier New" pitchFamily="34" charset="-122"/>
                <a:cs typeface="Courier New" pitchFamily="34" charset="-120"/>
              </a:rPr>
              <a:t>ajl.org</a:t>
            </a:r>
            <a:endParaRPr lang="en-US" sz="1050" dirty="0"/>
          </a:p>
        </p:txBody>
      </p:sp>
      <p:sp>
        <p:nvSpPr>
          <p:cNvPr id="18" name="Text 16"/>
          <p:cNvSpPr/>
          <p:nvPr/>
        </p:nvSpPr>
        <p:spPr>
          <a:xfrm>
            <a:off x="411480" y="3010205"/>
            <a:ext cx="8321040" cy="235915"/>
          </a:xfrm>
          <a:prstGeom prst="rect">
            <a:avLst/>
          </a:prstGeom>
          <a:noFill/>
          <a:ln/>
        </p:spPr>
        <p:txBody>
          <a:bodyPr wrap="square" rtlCol="0" anchor="ctr"/>
          <a:lstStyle/>
          <a:p>
            <a:pPr indent="0" marL="0">
              <a:buNone/>
            </a:pPr>
            <a:r>
              <a:rPr lang="en-US" sz="1050" dirty="0">
                <a:solidFill>
                  <a:srgbClr val="1A2332"/>
                </a:solidFill>
                <a:latin typeface="Calibri" pitchFamily="34" charset="0"/>
                <a:ea typeface="Calibri" pitchFamily="34" charset="-122"/>
                <a:cs typeface="Calibri" pitchFamily="34" charset="-120"/>
              </a:rPr>
              <a:t>Distributed AI Research Institute (DAIR)  </a:t>
            </a:r>
            <a:pPr indent="0" marL="0">
              <a:buNone/>
            </a:pPr>
            <a:r>
              <a:rPr lang="en-US" sz="950" dirty="0">
                <a:solidFill>
                  <a:srgbClr val="2C5282"/>
                </a:solidFill>
                <a:latin typeface="Courier New" pitchFamily="34" charset="0"/>
                <a:ea typeface="Courier New" pitchFamily="34" charset="-122"/>
                <a:cs typeface="Courier New" pitchFamily="34" charset="-120"/>
              </a:rPr>
              <a:t>dair-institute.org</a:t>
            </a:r>
            <a:endParaRPr lang="en-US" sz="1050" dirty="0"/>
          </a:p>
        </p:txBody>
      </p:sp>
      <p:sp>
        <p:nvSpPr>
          <p:cNvPr id="19" name="Text 17"/>
          <p:cNvSpPr/>
          <p:nvPr/>
        </p:nvSpPr>
        <p:spPr>
          <a:xfrm>
            <a:off x="411480" y="3255264"/>
            <a:ext cx="8321040" cy="235915"/>
          </a:xfrm>
          <a:prstGeom prst="rect">
            <a:avLst/>
          </a:prstGeom>
          <a:noFill/>
          <a:ln/>
        </p:spPr>
        <p:txBody>
          <a:bodyPr wrap="square" rtlCol="0" anchor="ctr"/>
          <a:lstStyle/>
          <a:p>
            <a:pPr indent="0" marL="0">
              <a:buNone/>
            </a:pPr>
            <a:r>
              <a:rPr lang="en-US" sz="1050" dirty="0">
                <a:solidFill>
                  <a:srgbClr val="1A2332"/>
                </a:solidFill>
                <a:latin typeface="Calibri" pitchFamily="34" charset="0"/>
                <a:ea typeface="Calibri" pitchFamily="34" charset="-122"/>
                <a:cs typeface="Calibri" pitchFamily="34" charset="-120"/>
              </a:rPr>
              <a:t>Center for Democracy and Technology (algorithmic accountability)  </a:t>
            </a:r>
            <a:pPr indent="0" marL="0">
              <a:buNone/>
            </a:pPr>
            <a:r>
              <a:rPr lang="en-US" sz="950" dirty="0">
                <a:solidFill>
                  <a:srgbClr val="2C5282"/>
                </a:solidFill>
                <a:latin typeface="Courier New" pitchFamily="34" charset="0"/>
                <a:ea typeface="Courier New" pitchFamily="34" charset="-122"/>
                <a:cs typeface="Courier New" pitchFamily="34" charset="-120"/>
              </a:rPr>
              <a:t>cdt.org</a:t>
            </a:r>
            <a:endParaRPr lang="en-US" sz="1050" dirty="0"/>
          </a:p>
        </p:txBody>
      </p:sp>
      <p:sp>
        <p:nvSpPr>
          <p:cNvPr id="20" name="Text 18"/>
          <p:cNvSpPr/>
          <p:nvPr/>
        </p:nvSpPr>
        <p:spPr>
          <a:xfrm>
            <a:off x="411480" y="3500323"/>
            <a:ext cx="8321040" cy="235915"/>
          </a:xfrm>
          <a:prstGeom prst="rect">
            <a:avLst/>
          </a:prstGeom>
          <a:noFill/>
          <a:ln/>
        </p:spPr>
        <p:txBody>
          <a:bodyPr wrap="square" rtlCol="0" anchor="ctr"/>
          <a:lstStyle/>
          <a:p>
            <a:pPr indent="0" marL="0">
              <a:buNone/>
            </a:pPr>
            <a:r>
              <a:rPr lang="en-US" sz="1050" dirty="0">
                <a:solidFill>
                  <a:srgbClr val="1A2332"/>
                </a:solidFill>
                <a:latin typeface="Calibri" pitchFamily="34" charset="0"/>
                <a:ea typeface="Calibri" pitchFamily="34" charset="-122"/>
                <a:cs typeface="Calibri" pitchFamily="34" charset="-120"/>
              </a:rPr>
              <a:t>Public Knowledge (IP commons and technology policy)  </a:t>
            </a:r>
            <a:pPr indent="0" marL="0">
              <a:buNone/>
            </a:pPr>
            <a:r>
              <a:rPr lang="en-US" sz="950" dirty="0">
                <a:solidFill>
                  <a:srgbClr val="2C5282"/>
                </a:solidFill>
                <a:latin typeface="Courier New" pitchFamily="34" charset="0"/>
                <a:ea typeface="Courier New" pitchFamily="34" charset="-122"/>
                <a:cs typeface="Courier New" pitchFamily="34" charset="-120"/>
              </a:rPr>
              <a:t>publicknowledge.org</a:t>
            </a:r>
            <a:endParaRPr lang="en-US" sz="1050" dirty="0"/>
          </a:p>
        </p:txBody>
      </p:sp>
      <p:sp>
        <p:nvSpPr>
          <p:cNvPr id="21" name="Text 19"/>
          <p:cNvSpPr/>
          <p:nvPr/>
        </p:nvSpPr>
        <p:spPr>
          <a:xfrm>
            <a:off x="411480" y="3745382"/>
            <a:ext cx="8321040" cy="235915"/>
          </a:xfrm>
          <a:prstGeom prst="rect">
            <a:avLst/>
          </a:prstGeom>
          <a:noFill/>
          <a:ln/>
        </p:spPr>
        <p:txBody>
          <a:bodyPr wrap="square" rtlCol="0" anchor="ctr"/>
          <a:lstStyle/>
          <a:p>
            <a:pPr indent="0" marL="0">
              <a:buNone/>
            </a:pPr>
            <a:r>
              <a:rPr lang="en-US" sz="1050" dirty="0">
                <a:solidFill>
                  <a:srgbClr val="1A2332"/>
                </a:solidFill>
                <a:latin typeface="Calibri" pitchFamily="34" charset="0"/>
                <a:ea typeface="Calibri" pitchFamily="34" charset="-122"/>
                <a:cs typeface="Calibri" pitchFamily="34" charset="-120"/>
              </a:rPr>
              <a:t>Institute for Local Self-Reliance (distributed energy and infrastructure commons)  </a:t>
            </a:r>
            <a:pPr indent="0" marL="0">
              <a:buNone/>
            </a:pPr>
            <a:r>
              <a:rPr lang="en-US" sz="950" dirty="0">
                <a:solidFill>
                  <a:srgbClr val="2C5282"/>
                </a:solidFill>
                <a:latin typeface="Courier New" pitchFamily="34" charset="0"/>
                <a:ea typeface="Courier New" pitchFamily="34" charset="-122"/>
                <a:cs typeface="Courier New" pitchFamily="34" charset="-120"/>
              </a:rPr>
              <a:t>ilsr.org</a:t>
            </a:r>
            <a:endParaRPr lang="en-US" sz="1050" dirty="0"/>
          </a:p>
        </p:txBody>
      </p:sp>
      <p:sp>
        <p:nvSpPr>
          <p:cNvPr id="22" name="Text 20"/>
          <p:cNvSpPr/>
          <p:nvPr/>
        </p:nvSpPr>
        <p:spPr>
          <a:xfrm>
            <a:off x="411480" y="3990442"/>
            <a:ext cx="8321040" cy="235915"/>
          </a:xfrm>
          <a:prstGeom prst="rect">
            <a:avLst/>
          </a:prstGeom>
          <a:noFill/>
          <a:ln/>
        </p:spPr>
        <p:txBody>
          <a:bodyPr wrap="square" rtlCol="0" anchor="ctr"/>
          <a:lstStyle/>
          <a:p>
            <a:pPr indent="0" marL="0">
              <a:buNone/>
            </a:pPr>
            <a:r>
              <a:rPr lang="en-US" sz="1050" dirty="0">
                <a:solidFill>
                  <a:srgbClr val="1A2332"/>
                </a:solidFill>
                <a:latin typeface="Calibri" pitchFamily="34" charset="0"/>
                <a:ea typeface="Calibri" pitchFamily="34" charset="-122"/>
                <a:cs typeface="Calibri" pitchFamily="34" charset="-120"/>
              </a:rPr>
              <a:t>Open Referral (open data standards for human services)  </a:t>
            </a:r>
            <a:pPr indent="0" marL="0">
              <a:buNone/>
            </a:pPr>
            <a:r>
              <a:rPr lang="en-US" sz="950" dirty="0">
                <a:solidFill>
                  <a:srgbClr val="2C5282"/>
                </a:solidFill>
                <a:latin typeface="Courier New" pitchFamily="34" charset="0"/>
                <a:ea typeface="Courier New" pitchFamily="34" charset="-122"/>
                <a:cs typeface="Courier New" pitchFamily="34" charset="-120"/>
              </a:rPr>
              <a:t>openreferral.org</a:t>
            </a:r>
            <a:endParaRPr lang="en-US" sz="1050" dirty="0"/>
          </a:p>
        </p:txBody>
      </p:sp>
      <p:sp>
        <p:nvSpPr>
          <p:cNvPr id="23" name="Text 21"/>
          <p:cNvSpPr/>
          <p:nvPr/>
        </p:nvSpPr>
        <p:spPr>
          <a:xfrm>
            <a:off x="411480" y="4279392"/>
            <a:ext cx="2194560" cy="256032"/>
          </a:xfrm>
          <a:prstGeom prst="rect">
            <a:avLst/>
          </a:prstGeom>
          <a:noFill/>
          <a:ln/>
        </p:spPr>
        <p:txBody>
          <a:bodyPr wrap="square" rtlCol="0" anchor="ctr"/>
          <a:lstStyle/>
          <a:p>
            <a:pPr indent="0" marL="0">
              <a:buNone/>
            </a:pPr>
            <a:r>
              <a:rPr lang="en-US" sz="1000" b="1" dirty="0">
                <a:solidFill>
                  <a:srgbClr val="1A2332"/>
                </a:solidFill>
                <a:latin typeface="Calibri" pitchFamily="34" charset="0"/>
                <a:ea typeface="Calibri" pitchFamily="34" charset="-122"/>
                <a:cs typeface="Calibri" pitchFamily="34" charset="-120"/>
              </a:rPr>
              <a:t>Full bill text &amp; README:</a:t>
            </a:r>
            <a:endParaRPr lang="en-US" sz="1000" dirty="0"/>
          </a:p>
        </p:txBody>
      </p:sp>
      <p:sp>
        <p:nvSpPr>
          <p:cNvPr id="24" name="Text 22"/>
          <p:cNvSpPr/>
          <p:nvPr/>
        </p:nvSpPr>
        <p:spPr>
          <a:xfrm>
            <a:off x="2606040" y="4279392"/>
            <a:ext cx="6126480" cy="256032"/>
          </a:xfrm>
          <a:prstGeom prst="rect">
            <a:avLst/>
          </a:prstGeom>
          <a:noFill/>
          <a:ln/>
        </p:spPr>
        <p:txBody>
          <a:bodyPr wrap="square" rtlCol="0" anchor="ctr"/>
          <a:lstStyle/>
          <a:p>
            <a:pPr indent="0" marL="0">
              <a:buNone/>
            </a:pPr>
            <a:r>
              <a:rPr lang="en-US" sz="1000" dirty="0">
                <a:solidFill>
                  <a:srgbClr val="2C5282"/>
                </a:solidFill>
                <a:latin typeface="Courier New" pitchFamily="34" charset="0"/>
                <a:ea typeface="Courier New" pitchFamily="34" charset="-122"/>
                <a:cs typeface="Courier New" pitchFamily="34" charset="-120"/>
              </a:rPr>
              <a:t>github.com/clg1980/LegislativeSequence</a:t>
            </a:r>
            <a:endParaRPr lang="en-US" sz="10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 cy="1047902"/>
          </a:xfrm>
          <a:prstGeom prst="rect">
            <a:avLst/>
          </a:prstGeom>
          <a:solidFill>
            <a:srgbClr val="2C5F2D"/>
          </a:solidFill>
          <a:ln w="12700">
            <a:solidFill>
              <a:srgbClr val="2C5F2D"/>
            </a:solidFill>
            <a:prstDash val="solid"/>
          </a:ln>
        </p:spPr>
      </p:sp>
      <p:sp>
        <p:nvSpPr>
          <p:cNvPr id="3" name="Shape 1"/>
          <p:cNvSpPr/>
          <p:nvPr/>
        </p:nvSpPr>
        <p:spPr>
          <a:xfrm>
            <a:off x="0" y="1029614"/>
            <a:ext cx="91440" cy="1047902"/>
          </a:xfrm>
          <a:prstGeom prst="rect">
            <a:avLst/>
          </a:prstGeom>
          <a:solidFill>
            <a:srgbClr val="97BC62"/>
          </a:solidFill>
          <a:ln w="12700">
            <a:solidFill>
              <a:srgbClr val="97BC62"/>
            </a:solidFill>
            <a:prstDash val="solid"/>
          </a:ln>
        </p:spPr>
      </p:sp>
      <p:sp>
        <p:nvSpPr>
          <p:cNvPr id="4" name="Shape 2"/>
          <p:cNvSpPr/>
          <p:nvPr/>
        </p:nvSpPr>
        <p:spPr>
          <a:xfrm>
            <a:off x="0" y="2059229"/>
            <a:ext cx="91440" cy="1047902"/>
          </a:xfrm>
          <a:prstGeom prst="rect">
            <a:avLst/>
          </a:prstGeom>
          <a:solidFill>
            <a:srgbClr val="E07A5F"/>
          </a:solidFill>
          <a:ln w="12700">
            <a:solidFill>
              <a:srgbClr val="E07A5F"/>
            </a:solidFill>
            <a:prstDash val="solid"/>
          </a:ln>
        </p:spPr>
      </p:sp>
      <p:sp>
        <p:nvSpPr>
          <p:cNvPr id="5" name="Shape 3"/>
          <p:cNvSpPr/>
          <p:nvPr/>
        </p:nvSpPr>
        <p:spPr>
          <a:xfrm>
            <a:off x="0" y="3088843"/>
            <a:ext cx="91440" cy="1047902"/>
          </a:xfrm>
          <a:prstGeom prst="rect">
            <a:avLst/>
          </a:prstGeom>
          <a:solidFill>
            <a:srgbClr val="4A90D9"/>
          </a:solidFill>
          <a:ln w="12700">
            <a:solidFill>
              <a:srgbClr val="4A90D9"/>
            </a:solidFill>
            <a:prstDash val="solid"/>
          </a:ln>
        </p:spPr>
      </p:sp>
      <p:sp>
        <p:nvSpPr>
          <p:cNvPr id="6" name="Shape 4"/>
          <p:cNvSpPr/>
          <p:nvPr/>
        </p:nvSpPr>
        <p:spPr>
          <a:xfrm>
            <a:off x="0" y="4118458"/>
            <a:ext cx="91440" cy="1047902"/>
          </a:xfrm>
          <a:prstGeom prst="rect">
            <a:avLst/>
          </a:prstGeom>
          <a:solidFill>
            <a:srgbClr val="C9A84C"/>
          </a:solidFill>
          <a:ln w="12700">
            <a:solidFill>
              <a:srgbClr val="C9A84C"/>
            </a:solidFill>
            <a:prstDash val="solid"/>
          </a:ln>
        </p:spPr>
      </p:sp>
      <p:sp>
        <p:nvSpPr>
          <p:cNvPr id="7" name="Shape 5"/>
          <p:cNvSpPr/>
          <p:nvPr/>
        </p:nvSpPr>
        <p:spPr>
          <a:xfrm>
            <a:off x="411480" y="256032"/>
            <a:ext cx="8321040" cy="420624"/>
          </a:xfrm>
          <a:prstGeom prst="roundRect">
            <a:avLst>
              <a:gd name="adj" fmla="val 10870"/>
            </a:avLst>
          </a:prstGeom>
          <a:solidFill>
            <a:srgbClr val="1B2A4A"/>
          </a:solidFill>
          <a:ln/>
        </p:spPr>
      </p:sp>
      <p:sp>
        <p:nvSpPr>
          <p:cNvPr id="8" name="Text 6"/>
          <p:cNvSpPr/>
          <p:nvPr/>
        </p:nvSpPr>
        <p:spPr>
          <a:xfrm>
            <a:off x="411480" y="256032"/>
            <a:ext cx="8321040"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Further Reading</a:t>
            </a:r>
            <a:endParaRPr lang="en-US" sz="1500" dirty="0"/>
          </a:p>
        </p:txBody>
      </p:sp>
      <p:sp>
        <p:nvSpPr>
          <p:cNvPr id="9" name="Text 7"/>
          <p:cNvSpPr/>
          <p:nvPr/>
        </p:nvSpPr>
        <p:spPr>
          <a:xfrm>
            <a:off x="411480" y="804672"/>
            <a:ext cx="8321040" cy="438912"/>
          </a:xfrm>
          <a:prstGeom prst="rect">
            <a:avLst/>
          </a:prstGeom>
          <a:noFill/>
          <a:ln/>
        </p:spPr>
        <p:txBody>
          <a:bodyPr wrap="square" rtlCol="0" anchor="t"/>
          <a:lstStyle/>
          <a:p>
            <a:pPr indent="0" marL="0">
              <a:lnSpc>
                <a:spcPct val="90000"/>
              </a:lnSpc>
              <a:buNone/>
            </a:pPr>
            <a:r>
              <a:rPr lang="en-US" sz="1100" b="1" dirty="0">
                <a:solidFill>
                  <a:srgbClr val="1A2332"/>
                </a:solidFill>
                <a:latin typeface="Cambria" pitchFamily="34" charset="0"/>
                <a:ea typeface="Cambria" pitchFamily="34" charset="-122"/>
                <a:cs typeface="Cambria" pitchFamily="34" charset="-120"/>
              </a:rPr>
              <a:t>Governing the Commons</a:t>
            </a:r>
            <a:pPr indent="0" marL="0">
              <a:lnSpc>
                <a:spcPct val="90000"/>
              </a:lnSpc>
              <a:buNone/>
            </a:pPr>
            <a:r>
              <a:rPr lang="en-US" sz="950" dirty="0">
                <a:solidFill>
                  <a:srgbClr val="2C5282"/>
                </a:solidFill>
                <a:latin typeface="Calibri" pitchFamily="34" charset="0"/>
                <a:ea typeface="Calibri" pitchFamily="34" charset="-122"/>
                <a:cs typeface="Calibri" pitchFamily="34" charset="-120"/>
              </a:rPr>
              <a:t>  (1990, Cambridge University Press),  Elinor Ostrom.</a:t>
            </a:r>
            <a:pPr indent="0" marL="0">
              <a:lnSpc>
                <a:spcPct val="90000"/>
              </a:lnSpc>
              <a:buNone/>
            </a:pPr>
            <a:r>
              <a:rPr lang="en-US" sz="950" dirty="0">
                <a:solidFill>
                  <a:srgbClr val="1A2332"/>
                </a:solidFill>
                <a:latin typeface="Calibri" pitchFamily="34" charset="0"/>
                <a:ea typeface="Calibri" pitchFamily="34" charset="-122"/>
                <a:cs typeface="Calibri" pitchFamily="34" charset="-120"/>
              </a:rPr>
              <a:t>  The governance design principles codified throughout this Act as the Ostrom Standards of Stewardship.</a:t>
            </a:r>
            <a:endParaRPr lang="en-US" sz="1100" dirty="0"/>
          </a:p>
        </p:txBody>
      </p:sp>
      <p:sp>
        <p:nvSpPr>
          <p:cNvPr id="10" name="Text 8"/>
          <p:cNvSpPr/>
          <p:nvPr/>
        </p:nvSpPr>
        <p:spPr>
          <a:xfrm>
            <a:off x="411480" y="1261872"/>
            <a:ext cx="8321040" cy="438912"/>
          </a:xfrm>
          <a:prstGeom prst="rect">
            <a:avLst/>
          </a:prstGeom>
          <a:noFill/>
          <a:ln/>
        </p:spPr>
        <p:txBody>
          <a:bodyPr wrap="square" rtlCol="0" anchor="t"/>
          <a:lstStyle/>
          <a:p>
            <a:pPr indent="0" marL="0">
              <a:lnSpc>
                <a:spcPct val="90000"/>
              </a:lnSpc>
              <a:buNone/>
            </a:pPr>
            <a:r>
              <a:rPr lang="en-US" sz="1100" b="1" dirty="0">
                <a:solidFill>
                  <a:srgbClr val="1A2332"/>
                </a:solidFill>
                <a:latin typeface="Cambria" pitchFamily="34" charset="0"/>
                <a:ea typeface="Cambria" pitchFamily="34" charset="-122"/>
                <a:cs typeface="Cambria" pitchFamily="34" charset="-120"/>
              </a:rPr>
              <a:t>The Age of Surveillance Capitalism</a:t>
            </a:r>
            <a:pPr indent="0" marL="0">
              <a:lnSpc>
                <a:spcPct val="90000"/>
              </a:lnSpc>
              <a:buNone/>
            </a:pPr>
            <a:r>
              <a:rPr lang="en-US" sz="950" dirty="0">
                <a:solidFill>
                  <a:srgbClr val="2C5282"/>
                </a:solidFill>
                <a:latin typeface="Calibri" pitchFamily="34" charset="0"/>
                <a:ea typeface="Calibri" pitchFamily="34" charset="-122"/>
                <a:cs typeface="Calibri" pitchFamily="34" charset="-120"/>
              </a:rPr>
              <a:t>  (2019, PublicAffairs),  Shoshana Zuboff.</a:t>
            </a:r>
            <a:pPr indent="0" marL="0">
              <a:lnSpc>
                <a:spcPct val="90000"/>
              </a:lnSpc>
              <a:buNone/>
            </a:pPr>
            <a:r>
              <a:rPr lang="en-US" sz="950" dirty="0">
                <a:solidFill>
                  <a:srgbClr val="1A2332"/>
                </a:solidFill>
                <a:latin typeface="Calibri" pitchFamily="34" charset="0"/>
                <a:ea typeface="Calibri" pitchFamily="34" charset="-122"/>
                <a:cs typeface="Calibri" pitchFamily="34" charset="-120"/>
              </a:rPr>
              <a:t>  The definitive account of how data extraction became the dominant business model. Essential context for Findings 15 and 16.</a:t>
            </a:r>
            <a:endParaRPr lang="en-US" sz="1100" dirty="0"/>
          </a:p>
        </p:txBody>
      </p:sp>
      <p:sp>
        <p:nvSpPr>
          <p:cNvPr id="11" name="Text 9"/>
          <p:cNvSpPr/>
          <p:nvPr/>
        </p:nvSpPr>
        <p:spPr>
          <a:xfrm>
            <a:off x="411480" y="1719072"/>
            <a:ext cx="8321040" cy="438912"/>
          </a:xfrm>
          <a:prstGeom prst="rect">
            <a:avLst/>
          </a:prstGeom>
          <a:noFill/>
          <a:ln/>
        </p:spPr>
        <p:txBody>
          <a:bodyPr wrap="square" rtlCol="0" anchor="t"/>
          <a:lstStyle/>
          <a:p>
            <a:pPr indent="0" marL="0">
              <a:lnSpc>
                <a:spcPct val="90000"/>
              </a:lnSpc>
              <a:buNone/>
            </a:pPr>
            <a:r>
              <a:rPr lang="en-US" sz="1100" b="1" dirty="0">
                <a:solidFill>
                  <a:srgbClr val="1A2332"/>
                </a:solidFill>
                <a:latin typeface="Cambria" pitchFamily="34" charset="0"/>
                <a:ea typeface="Cambria" pitchFamily="34" charset="-122"/>
                <a:cs typeface="Cambria" pitchFamily="34" charset="-120"/>
              </a:rPr>
              <a:t>Algorithms of Oppression</a:t>
            </a:r>
            <a:pPr indent="0" marL="0">
              <a:lnSpc>
                <a:spcPct val="90000"/>
              </a:lnSpc>
              <a:buNone/>
            </a:pPr>
            <a:r>
              <a:rPr lang="en-US" sz="950" dirty="0">
                <a:solidFill>
                  <a:srgbClr val="2C5282"/>
                </a:solidFill>
                <a:latin typeface="Calibri" pitchFamily="34" charset="0"/>
                <a:ea typeface="Calibri" pitchFamily="34" charset="-122"/>
                <a:cs typeface="Calibri" pitchFamily="34" charset="-120"/>
              </a:rPr>
              <a:t>  (2018, NYU Press),  Safiya Umoja Noble.</a:t>
            </a:r>
            <a:pPr indent="0" marL="0">
              <a:lnSpc>
                <a:spcPct val="90000"/>
              </a:lnSpc>
              <a:buNone/>
            </a:pPr>
            <a:r>
              <a:rPr lang="en-US" sz="950" dirty="0">
                <a:solidFill>
                  <a:srgbClr val="1A2332"/>
                </a:solidFill>
                <a:latin typeface="Calibri" pitchFamily="34" charset="0"/>
                <a:ea typeface="Calibri" pitchFamily="34" charset="-122"/>
                <a:cs typeface="Calibri" pitchFamily="34" charset="-120"/>
              </a:rPr>
              <a:t>  The empirical record of search algorithm bias. Direct context for Finding 18 and the Algorithmic Governance Prohibition.</a:t>
            </a:r>
            <a:endParaRPr lang="en-US" sz="1100" dirty="0"/>
          </a:p>
        </p:txBody>
      </p:sp>
      <p:sp>
        <p:nvSpPr>
          <p:cNvPr id="12" name="Text 10"/>
          <p:cNvSpPr/>
          <p:nvPr/>
        </p:nvSpPr>
        <p:spPr>
          <a:xfrm>
            <a:off x="411480" y="2176272"/>
            <a:ext cx="8321040" cy="438912"/>
          </a:xfrm>
          <a:prstGeom prst="rect">
            <a:avLst/>
          </a:prstGeom>
          <a:noFill/>
          <a:ln/>
        </p:spPr>
        <p:txBody>
          <a:bodyPr wrap="square" rtlCol="0" anchor="t"/>
          <a:lstStyle/>
          <a:p>
            <a:pPr indent="0" marL="0">
              <a:lnSpc>
                <a:spcPct val="90000"/>
              </a:lnSpc>
              <a:buNone/>
            </a:pPr>
            <a:r>
              <a:rPr lang="en-US" sz="1100" b="1" dirty="0">
                <a:solidFill>
                  <a:srgbClr val="1A2332"/>
                </a:solidFill>
                <a:latin typeface="Cambria" pitchFamily="34" charset="0"/>
                <a:ea typeface="Cambria" pitchFamily="34" charset="-122"/>
                <a:cs typeface="Cambria" pitchFamily="34" charset="-120"/>
              </a:rPr>
              <a:t>Automating Inequality</a:t>
            </a:r>
            <a:pPr indent="0" marL="0">
              <a:lnSpc>
                <a:spcPct val="90000"/>
              </a:lnSpc>
              <a:buNone/>
            </a:pPr>
            <a:r>
              <a:rPr lang="en-US" sz="950" dirty="0">
                <a:solidFill>
                  <a:srgbClr val="2C5282"/>
                </a:solidFill>
                <a:latin typeface="Calibri" pitchFamily="34" charset="0"/>
                <a:ea typeface="Calibri" pitchFamily="34" charset="-122"/>
                <a:cs typeface="Calibri" pitchFamily="34" charset="-120"/>
              </a:rPr>
              <a:t>  (2018, St. Martin's Press),  Virginia Eubanks.</a:t>
            </a:r>
            <a:pPr indent="0" marL="0">
              <a:lnSpc>
                <a:spcPct val="90000"/>
              </a:lnSpc>
              <a:buNone/>
            </a:pPr>
            <a:r>
              <a:rPr lang="en-US" sz="950" dirty="0">
                <a:solidFill>
                  <a:srgbClr val="1A2332"/>
                </a:solidFill>
                <a:latin typeface="Calibri" pitchFamily="34" charset="0"/>
                <a:ea typeface="Calibri" pitchFamily="34" charset="-122"/>
                <a:cs typeface="Calibri" pitchFamily="34" charset="-120"/>
              </a:rPr>
              <a:t>  The empirical record of automated decision-making bias in public services. Direct context for Finding 18.</a:t>
            </a:r>
            <a:endParaRPr lang="en-US" sz="1100" dirty="0"/>
          </a:p>
        </p:txBody>
      </p:sp>
      <p:sp>
        <p:nvSpPr>
          <p:cNvPr id="13" name="Text 11"/>
          <p:cNvSpPr/>
          <p:nvPr/>
        </p:nvSpPr>
        <p:spPr>
          <a:xfrm>
            <a:off x="411480" y="2633472"/>
            <a:ext cx="8321040" cy="438912"/>
          </a:xfrm>
          <a:prstGeom prst="rect">
            <a:avLst/>
          </a:prstGeom>
          <a:noFill/>
          <a:ln/>
        </p:spPr>
        <p:txBody>
          <a:bodyPr wrap="square" rtlCol="0" anchor="t"/>
          <a:lstStyle/>
          <a:p>
            <a:pPr indent="0" marL="0">
              <a:lnSpc>
                <a:spcPct val="90000"/>
              </a:lnSpc>
              <a:buNone/>
            </a:pPr>
            <a:r>
              <a:rPr lang="en-US" sz="1100" b="1" dirty="0">
                <a:solidFill>
                  <a:srgbClr val="1A2332"/>
                </a:solidFill>
                <a:latin typeface="Cambria" pitchFamily="34" charset="0"/>
                <a:ea typeface="Cambria" pitchFamily="34" charset="-122"/>
                <a:cs typeface="Cambria" pitchFamily="34" charset="-120"/>
              </a:rPr>
              <a:t>Weapons of Math Destruction</a:t>
            </a:r>
            <a:pPr indent="0" marL="0">
              <a:lnSpc>
                <a:spcPct val="90000"/>
              </a:lnSpc>
              <a:buNone/>
            </a:pPr>
            <a:r>
              <a:rPr lang="en-US" sz="950" dirty="0">
                <a:solidFill>
                  <a:srgbClr val="2C5282"/>
                </a:solidFill>
                <a:latin typeface="Calibri" pitchFamily="34" charset="0"/>
                <a:ea typeface="Calibri" pitchFamily="34" charset="-122"/>
                <a:cs typeface="Calibri" pitchFamily="34" charset="-120"/>
              </a:rPr>
              <a:t>  (2016, Crown),  Cathy O'Neil.</a:t>
            </a:r>
            <a:pPr indent="0" marL="0">
              <a:lnSpc>
                <a:spcPct val="90000"/>
              </a:lnSpc>
              <a:buNone/>
            </a:pPr>
            <a:r>
              <a:rPr lang="en-US" sz="950" dirty="0">
                <a:solidFill>
                  <a:srgbClr val="1A2332"/>
                </a:solidFill>
                <a:latin typeface="Calibri" pitchFamily="34" charset="0"/>
                <a:ea typeface="Calibri" pitchFamily="34" charset="-122"/>
                <a:cs typeface="Calibri" pitchFamily="34" charset="-120"/>
              </a:rPr>
              <a:t>  How algorithmic systems amplify existing injustice at scale. Context for Title IV Section 404.</a:t>
            </a:r>
            <a:endParaRPr lang="en-US" sz="1100" dirty="0"/>
          </a:p>
        </p:txBody>
      </p:sp>
      <p:sp>
        <p:nvSpPr>
          <p:cNvPr id="14" name="Text 12"/>
          <p:cNvSpPr/>
          <p:nvPr/>
        </p:nvSpPr>
        <p:spPr>
          <a:xfrm>
            <a:off x="411480" y="3090672"/>
            <a:ext cx="8321040" cy="438912"/>
          </a:xfrm>
          <a:prstGeom prst="rect">
            <a:avLst/>
          </a:prstGeom>
          <a:noFill/>
          <a:ln/>
        </p:spPr>
        <p:txBody>
          <a:bodyPr wrap="square" rtlCol="0" anchor="t"/>
          <a:lstStyle/>
          <a:p>
            <a:pPr indent="0" marL="0">
              <a:lnSpc>
                <a:spcPct val="90000"/>
              </a:lnSpc>
              <a:buNone/>
            </a:pPr>
            <a:r>
              <a:rPr lang="en-US" sz="1100" b="1" dirty="0">
                <a:solidFill>
                  <a:srgbClr val="1A2332"/>
                </a:solidFill>
                <a:latin typeface="Cambria" pitchFamily="34" charset="0"/>
                <a:ea typeface="Cambria" pitchFamily="34" charset="-122"/>
                <a:cs typeface="Cambria" pitchFamily="34" charset="-120"/>
              </a:rPr>
              <a:t>Atlas of AI</a:t>
            </a:r>
            <a:pPr indent="0" marL="0">
              <a:lnSpc>
                <a:spcPct val="90000"/>
              </a:lnSpc>
              <a:buNone/>
            </a:pPr>
            <a:r>
              <a:rPr lang="en-US" sz="950" dirty="0">
                <a:solidFill>
                  <a:srgbClr val="2C5282"/>
                </a:solidFill>
                <a:latin typeface="Calibri" pitchFamily="34" charset="0"/>
                <a:ea typeface="Calibri" pitchFamily="34" charset="-122"/>
                <a:cs typeface="Calibri" pitchFamily="34" charset="-120"/>
              </a:rPr>
              <a:t>  (2021, Yale University Press),  Kate Crawford.</a:t>
            </a:r>
            <a:pPr indent="0" marL="0">
              <a:lnSpc>
                <a:spcPct val="90000"/>
              </a:lnSpc>
              <a:buNone/>
            </a:pPr>
            <a:r>
              <a:rPr lang="en-US" sz="950" dirty="0">
                <a:solidFill>
                  <a:srgbClr val="1A2332"/>
                </a:solidFill>
                <a:latin typeface="Calibri" pitchFamily="34" charset="0"/>
                <a:ea typeface="Calibri" pitchFamily="34" charset="-122"/>
                <a:cs typeface="Calibri" pitchFamily="34" charset="-120"/>
              </a:rPr>
              <a:t>  The full political economy of AI infrastructure. Context for the automation governance and commons recapture provisions.</a:t>
            </a:r>
            <a:endParaRPr lang="en-US" sz="1100" dirty="0"/>
          </a:p>
        </p:txBody>
      </p:sp>
      <p:sp>
        <p:nvSpPr>
          <p:cNvPr id="15" name="Text 13"/>
          <p:cNvSpPr/>
          <p:nvPr/>
        </p:nvSpPr>
        <p:spPr>
          <a:xfrm>
            <a:off x="411480" y="3547872"/>
            <a:ext cx="8321040" cy="438912"/>
          </a:xfrm>
          <a:prstGeom prst="rect">
            <a:avLst/>
          </a:prstGeom>
          <a:noFill/>
          <a:ln/>
        </p:spPr>
        <p:txBody>
          <a:bodyPr wrap="square" rtlCol="0" anchor="t"/>
          <a:lstStyle/>
          <a:p>
            <a:pPr indent="0" marL="0">
              <a:lnSpc>
                <a:spcPct val="90000"/>
              </a:lnSpc>
              <a:buNone/>
            </a:pPr>
            <a:r>
              <a:rPr lang="en-US" sz="1100" b="1" dirty="0">
                <a:solidFill>
                  <a:srgbClr val="1A2332"/>
                </a:solidFill>
                <a:latin typeface="Cambria" pitchFamily="34" charset="0"/>
                <a:ea typeface="Cambria" pitchFamily="34" charset="-122"/>
                <a:cs typeface="Cambria" pitchFamily="34" charset="-120"/>
              </a:rPr>
              <a:t>A Brief History of Neoliberalism</a:t>
            </a:r>
            <a:pPr indent="0" marL="0">
              <a:lnSpc>
                <a:spcPct val="90000"/>
              </a:lnSpc>
              <a:buNone/>
            </a:pPr>
            <a:r>
              <a:rPr lang="en-US" sz="950" dirty="0">
                <a:solidFill>
                  <a:srgbClr val="2C5282"/>
                </a:solidFill>
                <a:latin typeface="Calibri" pitchFamily="34" charset="0"/>
                <a:ea typeface="Calibri" pitchFamily="34" charset="-122"/>
                <a:cs typeface="Calibri" pitchFamily="34" charset="-120"/>
              </a:rPr>
              <a:t>  (2005, Oxford University Press),  David Harvey.</a:t>
            </a:r>
            <a:pPr indent="0" marL="0">
              <a:lnSpc>
                <a:spcPct val="90000"/>
              </a:lnSpc>
              <a:buNone/>
            </a:pPr>
            <a:r>
              <a:rPr lang="en-US" sz="950" dirty="0">
                <a:solidFill>
                  <a:srgbClr val="1A2332"/>
                </a:solidFill>
                <a:latin typeface="Calibri" pitchFamily="34" charset="0"/>
                <a:ea typeface="Calibri" pitchFamily="34" charset="-122"/>
                <a:cs typeface="Calibri" pitchFamily="34" charset="-120"/>
              </a:rPr>
              <a:t>  The political economy of the arrangement the FCSAG defense posture provisions are designed to exit.</a:t>
            </a:r>
            <a:endParaRPr lang="en-US" sz="1100" dirty="0"/>
          </a:p>
        </p:txBody>
      </p:sp>
      <p:sp>
        <p:nvSpPr>
          <p:cNvPr id="16" name="Text 14"/>
          <p:cNvSpPr/>
          <p:nvPr/>
        </p:nvSpPr>
        <p:spPr>
          <a:xfrm>
            <a:off x="411480" y="4005072"/>
            <a:ext cx="8321040" cy="438912"/>
          </a:xfrm>
          <a:prstGeom prst="rect">
            <a:avLst/>
          </a:prstGeom>
          <a:noFill/>
          <a:ln/>
        </p:spPr>
        <p:txBody>
          <a:bodyPr wrap="square" rtlCol="0" anchor="t"/>
          <a:lstStyle/>
          <a:p>
            <a:pPr indent="0" marL="0">
              <a:lnSpc>
                <a:spcPct val="90000"/>
              </a:lnSpc>
              <a:buNone/>
            </a:pPr>
            <a:r>
              <a:rPr lang="en-US" sz="1100" b="1" dirty="0">
                <a:solidFill>
                  <a:srgbClr val="1A2332"/>
                </a:solidFill>
                <a:latin typeface="Cambria" pitchFamily="34" charset="0"/>
                <a:ea typeface="Cambria" pitchFamily="34" charset="-122"/>
                <a:cs typeface="Cambria" pitchFamily="34" charset="-120"/>
              </a:rPr>
              <a:t>The Spoils of War</a:t>
            </a:r>
            <a:pPr indent="0" marL="0">
              <a:lnSpc>
                <a:spcPct val="90000"/>
              </a:lnSpc>
              <a:buNone/>
            </a:pPr>
            <a:r>
              <a:rPr lang="en-US" sz="950" dirty="0">
                <a:solidFill>
                  <a:srgbClr val="2C5282"/>
                </a:solidFill>
                <a:latin typeface="Calibri" pitchFamily="34" charset="0"/>
                <a:ea typeface="Calibri" pitchFamily="34" charset="-122"/>
                <a:cs typeface="Calibri" pitchFamily="34" charset="-120"/>
              </a:rPr>
              <a:t>  (2021, Verso),  Andrew Cockburn.</a:t>
            </a:r>
            <a:pPr indent="0" marL="0">
              <a:lnSpc>
                <a:spcPct val="90000"/>
              </a:lnSpc>
              <a:buNone/>
            </a:pPr>
            <a:r>
              <a:rPr lang="en-US" sz="950" dirty="0">
                <a:solidFill>
                  <a:srgbClr val="1A2332"/>
                </a:solidFill>
                <a:latin typeface="Calibri" pitchFamily="34" charset="0"/>
                <a:ea typeface="Calibri" pitchFamily="34" charset="-122"/>
                <a:cs typeface="Calibri" pitchFamily="34" charset="-120"/>
              </a:rPr>
              <a:t>  The political economy of the military-industrial complex. Essential context for Findings 5, 8, and the force structure transition.</a:t>
            </a:r>
            <a:endParaRPr lang="en-US" sz="1100" dirty="0"/>
          </a:p>
        </p:txBody>
      </p:sp>
      <p:sp>
        <p:nvSpPr>
          <p:cNvPr id="17" name="Text 15"/>
          <p:cNvSpPr/>
          <p:nvPr/>
        </p:nvSpPr>
        <p:spPr>
          <a:xfrm>
            <a:off x="411480" y="4462272"/>
            <a:ext cx="8321040" cy="438912"/>
          </a:xfrm>
          <a:prstGeom prst="rect">
            <a:avLst/>
          </a:prstGeom>
          <a:noFill/>
          <a:ln/>
        </p:spPr>
        <p:txBody>
          <a:bodyPr wrap="square" rtlCol="0" anchor="t"/>
          <a:lstStyle/>
          <a:p>
            <a:pPr indent="0" marL="0">
              <a:lnSpc>
                <a:spcPct val="90000"/>
              </a:lnSpc>
              <a:buNone/>
            </a:pPr>
            <a:r>
              <a:rPr lang="en-US" sz="1100" b="1" dirty="0">
                <a:solidFill>
                  <a:srgbClr val="1A2332"/>
                </a:solidFill>
                <a:latin typeface="Cambria" pitchFamily="34" charset="0"/>
                <a:ea typeface="Cambria" pitchFamily="34" charset="-122"/>
                <a:cs typeface="Cambria" pitchFamily="34" charset="-120"/>
              </a:rPr>
              <a:t>The Wealth of Networks</a:t>
            </a:r>
            <a:pPr indent="0" marL="0">
              <a:lnSpc>
                <a:spcPct val="90000"/>
              </a:lnSpc>
              <a:buNone/>
            </a:pPr>
            <a:r>
              <a:rPr lang="en-US" sz="950" dirty="0">
                <a:solidFill>
                  <a:srgbClr val="2C5282"/>
                </a:solidFill>
                <a:latin typeface="Calibri" pitchFamily="34" charset="0"/>
                <a:ea typeface="Calibri" pitchFamily="34" charset="-122"/>
                <a:cs typeface="Calibri" pitchFamily="34" charset="-120"/>
              </a:rPr>
              <a:t>  (2006, Yale University Press),  Yochai Benkler.</a:t>
            </a:r>
            <a:pPr indent="0" marL="0">
              <a:lnSpc>
                <a:spcPct val="90000"/>
              </a:lnSpc>
              <a:buNone/>
            </a:pPr>
            <a:r>
              <a:rPr lang="en-US" sz="950" dirty="0">
                <a:solidFill>
                  <a:srgbClr val="1A2332"/>
                </a:solidFill>
                <a:latin typeface="Calibri" pitchFamily="34" charset="0"/>
                <a:ea typeface="Calibri" pitchFamily="34" charset="-122"/>
                <a:cs typeface="Calibri" pitchFamily="34" charset="-120"/>
              </a:rPr>
              <a:t>  The foundational theoretical account of commons-based peer production. Context for the open-source automation mandate.</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FCSAG — Federal Commons Security and Automation Governance Act</dc:title>
  <dc:subject>PptxGenJS Presentation</dc:subject>
  <dc:creator>Curtis L. Gates</dc:creator>
  <cp:lastModifiedBy>Curtis L. Gates</cp:lastModifiedBy>
  <cp:revision>1</cp:revision>
  <dcterms:created xsi:type="dcterms:W3CDTF">2026-07-02T17:46:33Z</dcterms:created>
  <dcterms:modified xsi:type="dcterms:W3CDTF">2026-07-02T17:46:33Z</dcterms:modified>
</cp:coreProperties>
</file>